
<file path=[Content_Types].xml><?xml version="1.0" encoding="utf-8"?>
<Types xmlns="http://schemas.openxmlformats.org/package/2006/content-types">
  <Default Extension="xlsx" ContentType="application/vnd.openxmlformats-officedocument.spreadsheetml.sheet"/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74" r:id="rId9"/>
    <p:sldId id="263" r:id="rId10"/>
    <p:sldId id="261" r:id="rId11"/>
    <p:sldId id="262" r:id="rId12"/>
    <p:sldId id="273" r:id="rId13"/>
    <p:sldId id="264" r:id="rId14"/>
    <p:sldId id="265" r:id="rId15"/>
    <p:sldId id="272" r:id="rId16"/>
    <p:sldId id="268" r:id="rId17"/>
    <p:sldId id="269" r:id="rId18"/>
    <p:sldId id="271" r:id="rId19"/>
  </p:sldIdLst>
  <p:sldSz cx="18288000" cy="10287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5" d="100"/>
          <a:sy n="45" d="100"/>
        </p:scale>
        <p:origin x="36" y="51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2" Type="http://schemas.openxmlformats.org/officeDocument/2006/relationships/tableStyles" Target="tableStyles.xml"/><Relationship Id="rId21" Type="http://schemas.openxmlformats.org/officeDocument/2006/relationships/viewProps" Target="viewProps.xml"/><Relationship Id="rId20" Type="http://schemas.openxmlformats.org/officeDocument/2006/relationships/presProps" Target="presProps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1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46978851963746"/>
          <c:y val="0.0712698412698413"/>
          <c:w val="0.85"/>
          <c:h val="0.7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'Chart Data'!$B$1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19384A"/>
            </a:solidFill>
          </c:spPr>
          <c:invertIfNegative val="0"/>
          <c:dLbls>
            <c:numFmt formatCode="0.00%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'Chart Data'!$A$2:$A$4</c:f>
              <c:strCache>
                <c:ptCount val="3"/>
                <c:pt idx="0">
                  <c:v>TCN</c:v>
                </c:pt>
                <c:pt idx="1">
                  <c:v>+ geometry</c:v>
                </c:pt>
                <c:pt idx="2">
                  <c:v>+ specialists</c:v>
                </c:pt>
              </c:strCache>
            </c:strRef>
          </c:cat>
          <c:val>
            <c:numRef>
              <c:f>'Chart Data'!$B$2:$B$4</c:f>
              <c:numCache>
                <c:formatCode>0.00%</c:formatCode>
                <c:ptCount val="3"/>
                <c:pt idx="0">
                  <c:v>0.708</c:v>
                </c:pt>
                <c:pt idx="1">
                  <c:v>0.7591</c:v>
                </c:pt>
                <c:pt idx="2">
                  <c:v>0.7737</c:v>
                </c:pt>
              </c:numCache>
            </c:numRef>
          </c:val>
        </c:ser>
        <c:ser>
          <c:idx val="1"/>
          <c:order val="1"/>
          <c:tx>
            <c:strRef>
              <c:f>'Chart Data'!$D$1</c:f>
              <c:strCache>
                <c:ptCount val="1"/>
                <c:pt idx="0">
                  <c:v>Macro-F1</c:v>
                </c:pt>
              </c:strCache>
            </c:strRef>
          </c:tx>
          <c:spPr>
            <a:solidFill>
              <a:srgbClr val="D9503C"/>
            </a:solidFill>
          </c:spPr>
          <c:invertIfNegative val="0"/>
          <c:dLbls>
            <c:numFmt formatCode="0.00%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'Chart Data'!$C$2:$C$4</c:f>
              <c:strCache>
                <c:ptCount val="3"/>
                <c:pt idx="0">
                  <c:v>TCN</c:v>
                </c:pt>
                <c:pt idx="1">
                  <c:v>+ geometry</c:v>
                </c:pt>
                <c:pt idx="2">
                  <c:v>+ specialists</c:v>
                </c:pt>
              </c:strCache>
            </c:strRef>
          </c:cat>
          <c:val>
            <c:numRef>
              <c:f>'Chart Data'!$D$2:$D$4</c:f>
              <c:numCache>
                <c:formatCode>0.00%</c:formatCode>
                <c:ptCount val="3"/>
                <c:pt idx="0">
                  <c:v>0.6888</c:v>
                </c:pt>
                <c:pt idx="1">
                  <c:v>0.7412</c:v>
                </c:pt>
                <c:pt idx="2">
                  <c:v>0.7647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9525">
            <a:solidFill>
              <a:srgbClr val="D9DDCF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350" b="0" i="0" u="none" strike="noStrike" kern="1200" baseline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</a:p>
        </c:txPr>
        <c:crossAx val="48672768"/>
        <c:crosses val="autoZero"/>
        <c:auto val="1"/>
        <c:lblAlgn val="ctr"/>
        <c:lblOffset val="100"/>
        <c:noMultiLvlLbl val="0"/>
      </c:catAx>
      <c:valAx>
        <c:axId val="48672768"/>
        <c:scaling>
          <c:orientation val="minMax"/>
          <c:max val="0.82"/>
          <c:min val="0.6"/>
        </c:scaling>
        <c:delete val="0"/>
        <c:axPos val="l"/>
        <c:majorGridlines>
          <c:spPr>
            <a:ln w="9525">
              <a:solidFill>
                <a:srgbClr val="D9DDCF"/>
              </a:solidFill>
              <a:prstDash val="solid"/>
              <a:round/>
            </a:ln>
          </c:spPr>
        </c:majorGridlines>
        <c:numFmt formatCode="0%" sourceLinked="0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275" b="0" i="0" u="none" strike="noStrike" kern="1200" baseline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</a:p>
        </c:txPr>
        <c:crossAx val="48650112"/>
        <c:crossesAt val="0.6"/>
        <c:crossBetween val="between"/>
        <c:majorUnit val="0.05"/>
      </c:valAx>
      <c:spPr>
        <a:solidFill>
          <a:srgbClr val="FFF8E9"/>
        </a:solidFill>
        <a:ln w="0">
          <a:noFill/>
        </a:ln>
      </c:spPr>
    </c:plotArea>
    <c:legend>
      <c:legendPos val="t"/>
      <c:layout/>
      <c:overlay val="1"/>
      <c:txPr>
        <a:bodyPr rot="0" spcFirstLastPara="0" vertOverflow="ellipsis" vert="horz" wrap="square" anchor="ctr" anchorCtr="1"/>
        <a:lstStyle/>
        <a:p>
          <a:pPr>
            <a:defRPr lang="zh-CN" sz="1350" b="0" i="0" u="none" strike="noStrike" kern="1200" baseline="0">
              <a:solidFill>
                <a:srgbClr val="19384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ecb70617-1a78-494e-b90e-f1ab0dff2a62}"/>
      </c:ext>
    </c:extLst>
  </c:chart>
  <c:spPr>
    <a:solidFill>
      <a:srgbClr val="FFF8E9"/>
    </a:solidFill>
    <a:ln w="0"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 val="0.13"/>
          <c:y val="0.03"/>
          <c:w val="0.85"/>
          <c:h val="0.7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'Chart Data'!$B$1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19384A"/>
            </a:solidFill>
          </c:spPr>
          <c:invertIfNegative val="0"/>
          <c:dLbls>
            <c:numFmt formatCode="0.00%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'Chart Data'!$A$2:$A$4</c:f>
              <c:strCache>
                <c:ptCount val="3"/>
                <c:pt idx="0">
                  <c:v>ExtraTrees</c:v>
                </c:pt>
                <c:pt idx="1">
                  <c:v>+ SVM</c:v>
                </c:pt>
                <c:pt idx="2">
                  <c:v>+ CLIP</c:v>
                </c:pt>
              </c:strCache>
            </c:strRef>
          </c:cat>
          <c:val>
            <c:numRef>
              <c:f>'Chart Data'!$B$2:$B$4</c:f>
              <c:numCache>
                <c:formatCode>0.00%</c:formatCode>
                <c:ptCount val="3"/>
                <c:pt idx="0">
                  <c:v>0.7423</c:v>
                </c:pt>
                <c:pt idx="1">
                  <c:v>0.7732</c:v>
                </c:pt>
                <c:pt idx="2">
                  <c:v>0.7732</c:v>
                </c:pt>
              </c:numCache>
            </c:numRef>
          </c:val>
        </c:ser>
        <c:ser>
          <c:idx val="1"/>
          <c:order val="1"/>
          <c:tx>
            <c:strRef>
              <c:f>'Chart Data'!$D$1</c:f>
              <c:strCache>
                <c:ptCount val="1"/>
                <c:pt idx="0">
                  <c:v>Macro-F1</c:v>
                </c:pt>
              </c:strCache>
            </c:strRef>
          </c:tx>
          <c:spPr>
            <a:solidFill>
              <a:srgbClr val="D9503C"/>
            </a:solidFill>
          </c:spPr>
          <c:invertIfNegative val="0"/>
          <c:dLbls>
            <c:numFmt formatCode="0.00%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'Chart Data'!$C$2:$C$4</c:f>
              <c:strCache>
                <c:ptCount val="3"/>
                <c:pt idx="0">
                  <c:v>ExtraTrees</c:v>
                </c:pt>
                <c:pt idx="1">
                  <c:v>+ SVM</c:v>
                </c:pt>
                <c:pt idx="2">
                  <c:v>+ CLIP</c:v>
                </c:pt>
              </c:strCache>
            </c:strRef>
          </c:cat>
          <c:val>
            <c:numRef>
              <c:f>'Chart Data'!$D$2:$D$4</c:f>
              <c:numCache>
                <c:formatCode>0.00%</c:formatCode>
                <c:ptCount val="3"/>
                <c:pt idx="0">
                  <c:v>0.7298</c:v>
                </c:pt>
                <c:pt idx="1">
                  <c:v>0.7589</c:v>
                </c:pt>
                <c:pt idx="2">
                  <c:v>0.7613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9525">
            <a:solidFill>
              <a:srgbClr val="D9DDCF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350" b="0" i="0" u="none" strike="noStrike" kern="1200" baseline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</a:p>
        </c:txPr>
        <c:crossAx val="48672768"/>
        <c:crosses val="autoZero"/>
        <c:auto val="1"/>
        <c:lblAlgn val="ctr"/>
        <c:lblOffset val="100"/>
        <c:noMultiLvlLbl val="0"/>
      </c:catAx>
      <c:valAx>
        <c:axId val="48672768"/>
        <c:scaling>
          <c:orientation val="minMax"/>
          <c:max val="0.82"/>
          <c:min val="0.6"/>
        </c:scaling>
        <c:delete val="0"/>
        <c:axPos val="l"/>
        <c:majorGridlines>
          <c:spPr>
            <a:ln w="9525">
              <a:solidFill>
                <a:srgbClr val="D9DDCF"/>
              </a:solidFill>
              <a:prstDash val="solid"/>
              <a:round/>
            </a:ln>
          </c:spPr>
        </c:majorGridlines>
        <c:numFmt formatCode="0%" sourceLinked="0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275" b="0" i="0" u="none" strike="noStrike" kern="1200" baseline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</a:p>
        </c:txPr>
        <c:crossAx val="48650112"/>
        <c:crossesAt val="0.6"/>
        <c:crossBetween val="between"/>
        <c:majorUnit val="0.05"/>
      </c:valAx>
      <c:spPr>
        <a:solidFill>
          <a:srgbClr val="FFF8E9"/>
        </a:solidFill>
        <a:ln w="0">
          <a:noFill/>
        </a:ln>
      </c:spPr>
    </c:plotArea>
    <c:legend>
      <c:legendPos val="t"/>
      <c:layout/>
      <c:overlay val="1"/>
      <c:txPr>
        <a:bodyPr rot="0" spcFirstLastPara="0" vertOverflow="ellipsis" vert="horz" wrap="square" anchor="ctr" anchorCtr="1"/>
        <a:lstStyle/>
        <a:p>
          <a:pPr>
            <a:defRPr lang="zh-CN" sz="1350" b="0" i="0" u="none" strike="noStrike" kern="1200" baseline="0">
              <a:solidFill>
                <a:srgbClr val="19384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9191c92a-e430-4588-917c-b4ab44112d1e}"/>
      </c:ext>
    </c:extLst>
  </c:chart>
  <c:spPr>
    <a:solidFill>
      <a:srgbClr val="FFF8E9"/>
    </a:solidFill>
    <a:ln w="0"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1828800" y="3886200"/>
            <a:ext cx="14630400" cy="14859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7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/>
        </p:txBody>
      </p:sp>
      <p:sp>
        <p:nvSpPr>
          <p:cNvPr id="2" name="Subtitle"/>
          <p:cNvSpPr>
            <a:spLocks noGrp="1"/>
          </p:cNvSpPr>
          <p:nvPr>
            <p:ph type="subTitle" idx="1"/>
          </p:nvPr>
        </p:nvSpPr>
        <p:spPr>
          <a:xfrm>
            <a:off x="2743200" y="5657850"/>
            <a:ext cx="12801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31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/>
          <p:cNvSpPr>
            <a:spLocks noGrp="1"/>
          </p:cNvSpPr>
          <p:nvPr>
            <p:ph type="title"/>
          </p:nvPr>
        </p:nvSpPr>
        <p:spPr>
          <a:xfrm>
            <a:off x="1828800" y="4286250"/>
            <a:ext cx="14630400" cy="17145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6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1028700" y="800100"/>
            <a:ext cx="16230600" cy="12573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9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/>
        </p:txBody>
      </p:sp>
      <p:sp>
        <p:nvSpPr>
          <p:cNvPr id="2" name="Body"/>
          <p:cNvSpPr>
            <a:spLocks noGrp="1"/>
          </p:cNvSpPr>
          <p:nvPr>
            <p:ph type="body" idx="1"/>
          </p:nvPr>
        </p:nvSpPr>
        <p:spPr>
          <a:xfrm>
            <a:off x="1028700" y="2857500"/>
            <a:ext cx="16230600" cy="64008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342900" indent="-342900" algn="l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 sz="33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800100" indent="-342900" algn="l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 sz="33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257300" indent="-342900" algn="l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 sz="33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714500" indent="-342900" algn="l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 sz="33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171700" indent="-342900" algn="l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 sz="33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628900" indent="-342900" algn="l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 sz="33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3086100" indent="-342900" algn="l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 sz="33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543300" indent="-342900" algn="l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 sz="33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4000500" indent="-342900" algn="l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 sz="33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/>
          <p:cNvSpPr>
            <a:spLocks noGrp="1"/>
          </p:cNvSpPr>
          <p:nvPr>
            <p:ph type="title"/>
          </p:nvPr>
        </p:nvSpPr>
        <p:spPr>
          <a:xfrm>
            <a:off x="1028700" y="800100"/>
            <a:ext cx="16230600" cy="12573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9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/>
        </p:txBody>
      </p:sp>
      <p:sp>
        <p:nvSpPr>
          <p:cNvPr id="2" name="Left column"/>
          <p:cNvSpPr>
            <a:spLocks noGrp="1"/>
          </p:cNvSpPr>
          <p:nvPr>
            <p:ph type="body" idx="1"/>
          </p:nvPr>
        </p:nvSpPr>
        <p:spPr>
          <a:xfrm>
            <a:off x="1028700" y="2857500"/>
            <a:ext cx="7543800" cy="64008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1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342900" indent="-342900" algn="l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 sz="31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800100" indent="-342900" algn="l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 sz="31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257300" indent="-342900" algn="l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 sz="31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714500" indent="-342900" algn="l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 sz="31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171700" indent="-342900" algn="l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 sz="31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628900" indent="-342900" algn="l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 sz="31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3086100" indent="-342900" algn="l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 sz="31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543300" indent="-342900" algn="l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 sz="31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4000500" indent="-342900" algn="l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 sz="31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/>
        </p:txBody>
      </p:sp>
      <p:sp>
        <p:nvSpPr>
          <p:cNvPr id="3" name="Right column"/>
          <p:cNvSpPr>
            <a:spLocks noGrp="1"/>
          </p:cNvSpPr>
          <p:nvPr>
            <p:ph type="body" idx="2"/>
          </p:nvPr>
        </p:nvSpPr>
        <p:spPr>
          <a:xfrm>
            <a:off x="9715500" y="2857500"/>
            <a:ext cx="7543800" cy="64008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1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342900" indent="-342900" algn="l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 sz="31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800100" indent="-342900" algn="l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 sz="31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257300" indent="-342900" algn="l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 sz="31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714500" indent="-342900" algn="l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 sz="31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171700" indent="-342900" algn="l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 sz="31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628900" indent="-342900" algn="l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 sz="31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3086100" indent="-342900" algn="l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 sz="31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543300" indent="-342900" algn="l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 sz="31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4000500" indent="-342900" algn="l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 sz="31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1028700" y="800100"/>
            <a:ext cx="16230600" cy="12573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9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/>
        </p:txBody>
      </p:sp>
      <p:sp>
        <p:nvSpPr>
          <p:cNvPr id="2" name="Left column"/>
          <p:cNvSpPr>
            <a:spLocks noGrp="1"/>
          </p:cNvSpPr>
          <p:nvPr>
            <p:ph type="body" idx="1"/>
          </p:nvPr>
        </p:nvSpPr>
        <p:spPr>
          <a:xfrm>
            <a:off x="1028700" y="2857500"/>
            <a:ext cx="7543800" cy="64008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342900" indent="-342900" algn="l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 sz="33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800100" indent="-342900" algn="l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 sz="33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257300" indent="-342900" algn="l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 sz="33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714500" indent="-342900" algn="l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 sz="33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171700" indent="-342900" algn="l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 sz="33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628900" indent="-342900" algn="l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 sz="33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3086100" indent="-342900" algn="l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 sz="33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543300" indent="-342900" algn="l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 sz="33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4000500" indent="-342900" algn="l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 sz="33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7" Type="http://schemas.openxmlformats.org/officeDocument/2006/relationships/theme" Target="../theme/theme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5.xml"/><Relationship Id="rId3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image" Target="../media/image13.png"/><Relationship Id="rId8" Type="http://schemas.openxmlformats.org/officeDocument/2006/relationships/image" Target="../media/image12.png"/><Relationship Id="rId7" Type="http://schemas.openxmlformats.org/officeDocument/2006/relationships/image" Target="../media/image11.png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2.png"/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1" Type="http://schemas.openxmlformats.org/officeDocument/2006/relationships/notesSlide" Target="../notesSlides/notesSlide9.xml"/><Relationship Id="rId10" Type="http://schemas.openxmlformats.org/officeDocument/2006/relationships/slideLayout" Target="../slideLayouts/slideLayout6.xml"/><Relationship Id="rId1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6.xml"/><Relationship Id="rId8" Type="http://schemas.openxmlformats.org/officeDocument/2006/relationships/tags" Target="../tags/tag6.xml"/><Relationship Id="rId7" Type="http://schemas.openxmlformats.org/officeDocument/2006/relationships/tags" Target="../tags/tag5.xml"/><Relationship Id="rId6" Type="http://schemas.openxmlformats.org/officeDocument/2006/relationships/tags" Target="../tags/tag4.xml"/><Relationship Id="rId5" Type="http://schemas.openxmlformats.org/officeDocument/2006/relationships/tags" Target="../tags/tag3.xml"/><Relationship Id="rId4" Type="http://schemas.openxmlformats.org/officeDocument/2006/relationships/tags" Target="../tags/tag2.xml"/><Relationship Id="rId3" Type="http://schemas.openxmlformats.org/officeDocument/2006/relationships/tags" Target="../tags/tag1.xml"/><Relationship Id="rId2" Type="http://schemas.openxmlformats.org/officeDocument/2006/relationships/image" Target="../media/image16.png"/><Relationship Id="rId10" Type="http://schemas.openxmlformats.org/officeDocument/2006/relationships/notesSlide" Target="../notesSlides/notesSlide12.xml"/><Relationship Id="rId1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6.xml"/><Relationship Id="rId1" Type="http://schemas.openxmlformats.org/officeDocument/2006/relationships/chart" Target="../charts/char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6.xml"/><Relationship Id="rId1" Type="http://schemas.openxmlformats.org/officeDocument/2006/relationships/chart" Target="../charts/char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18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olished background 1-1"/>
          <p:cNvSpPr>
            <a:spLocks noGrp="1"/>
          </p:cNvSpPr>
          <p:nvPr/>
        </p:nvSpPr>
        <p:spPr>
          <a:xfrm>
            <a:off x="10477500" y="0"/>
            <a:ext cx="7810500" cy="10287000"/>
          </a:xfrm>
          <a:prstGeom prst="rect">
            <a:avLst/>
          </a:prstGeom>
          <a:solidFill>
            <a:srgbClr val="F6EADC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s1-text-0"/>
          <p:cNvSpPr>
            <a:spLocks noGrp="1"/>
          </p:cNvSpPr>
          <p:nvPr/>
        </p:nvSpPr>
        <p:spPr>
          <a:xfrm>
            <a:off x="1028700" y="1047750"/>
            <a:ext cx="91440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 algn="l"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 algn="l"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 algn="l"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 algn="l"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 algn="l"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 algn="l"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 algn="l"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 algn="l"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 algn="l"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 algn="l"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PRS PRACTICE MODULE</a:t>
            </a:r>
            <a:endParaRPr sz="1875" b="1">
              <a:solidFill>
                <a:srgbClr val="B8402E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2" name="s1-text-1"/>
          <p:cNvSpPr>
            <a:spLocks noGrp="1"/>
          </p:cNvSpPr>
          <p:nvPr/>
        </p:nvSpPr>
        <p:spPr>
          <a:xfrm>
            <a:off x="1028700" y="2057400"/>
            <a:ext cx="9429750" cy="5238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68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 algn="l">
              <a:defRPr sz="68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 algn="l">
              <a:defRPr sz="68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 algn="l">
              <a:defRPr sz="68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 algn="l">
              <a:defRPr sz="68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 algn="l">
              <a:defRPr sz="68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 algn="l">
              <a:defRPr sz="68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 algn="l">
              <a:defRPr sz="68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 algn="l">
              <a:defRPr sz="68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 algn="l">
              <a:defRPr sz="68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 algn="l">
              <a:defRPr sz="68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68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Skeleton-Based</a:t>
            </a:r>
            <a:endParaRPr sz="6825" b="1">
              <a:solidFill>
                <a:srgbClr val="19384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  <a:p>
            <a:pPr algn="l">
              <a:defRPr sz="68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68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Dog Behaviour</a:t>
            </a:r>
            <a:endParaRPr sz="6825" b="1">
              <a:solidFill>
                <a:srgbClr val="19384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  <a:p>
            <a:pPr algn="l">
              <a:defRPr sz="68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68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and Human-Dog</a:t>
            </a:r>
            <a:endParaRPr sz="6825" b="1">
              <a:solidFill>
                <a:srgbClr val="19384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  <a:p>
            <a:pPr algn="l">
              <a:defRPr sz="68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68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Interaction</a:t>
            </a:r>
            <a:endParaRPr sz="6825" b="1">
              <a:solidFill>
                <a:srgbClr val="19384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  <a:p>
            <a:pPr algn="l">
              <a:defRPr sz="68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68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Recognition</a:t>
            </a:r>
            <a:endParaRPr sz="6825" b="1">
              <a:solidFill>
                <a:srgbClr val="19384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3" name="s1-text-2"/>
          <p:cNvSpPr>
            <a:spLocks noGrp="1"/>
          </p:cNvSpPr>
          <p:nvPr/>
        </p:nvSpPr>
        <p:spPr>
          <a:xfrm>
            <a:off x="1028700" y="7477125"/>
            <a:ext cx="89535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7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 algn="l">
              <a:defRPr sz="247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 algn="l">
              <a:defRPr sz="247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 algn="l">
              <a:defRPr sz="247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 algn="l">
              <a:defRPr sz="247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 algn="l">
              <a:defRPr sz="247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 algn="l">
              <a:defRPr sz="247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 algn="l">
              <a:defRPr sz="247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 algn="l">
              <a:defRPr sz="247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 algn="l">
              <a:defRPr sz="247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 algn="l">
              <a:defRPr sz="247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47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Recognising behaviour and interaction</a:t>
            </a:r>
            <a:endParaRPr sz="2475" b="0">
              <a:solidFill>
                <a:srgbClr val="19384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  <a:p>
            <a:pPr algn="l">
              <a:defRPr sz="247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47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from indoor video.</a:t>
            </a:r>
            <a:endParaRPr sz="2475" b="0">
              <a:solidFill>
                <a:srgbClr val="19384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rcRect l="21827" r="21827"/>
          <a:stretch>
            <a:fillRect/>
          </a:stretch>
        </p:blipFill>
        <p:spPr>
          <a:xfrm>
            <a:off x="10763250" y="1047750"/>
            <a:ext cx="6496050" cy="7696200"/>
          </a:xfrm>
          <a:prstGeom prst="roundRect">
            <a:avLst>
              <a:gd name="adj" fmla="val 4106"/>
            </a:avLst>
          </a:prstGeom>
        </p:spPr>
      </p:pic>
      <p:sp>
        <p:nvSpPr>
          <p:cNvPr id="5" name="s1-rect-4"/>
          <p:cNvSpPr>
            <a:spLocks noGrp="1"/>
          </p:cNvSpPr>
          <p:nvPr/>
        </p:nvSpPr>
        <p:spPr>
          <a:xfrm>
            <a:off x="1028700" y="9210675"/>
            <a:ext cx="685800" cy="47625"/>
          </a:xfrm>
          <a:prstGeom prst="rect">
            <a:avLst/>
          </a:prstGeom>
          <a:solidFill>
            <a:srgbClr val="D9503C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s1-text-5"/>
          <p:cNvSpPr>
            <a:spLocks noGrp="1"/>
          </p:cNvSpPr>
          <p:nvPr/>
        </p:nvSpPr>
        <p:spPr>
          <a:xfrm>
            <a:off x="1952625" y="9020175"/>
            <a:ext cx="1476375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 algn="l">
              <a:defRPr sz="187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 algn="l">
              <a:defRPr sz="187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 algn="l">
              <a:defRPr sz="187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 algn="l">
              <a:defRPr sz="187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 algn="l">
              <a:defRPr sz="187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 algn="l">
              <a:defRPr sz="187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 algn="l">
              <a:defRPr sz="187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 algn="l">
              <a:defRPr sz="187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 algn="l">
              <a:defRPr sz="187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 algn="l">
              <a:defRPr sz="187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187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Group 28</a:t>
            </a:r>
            <a:endParaRPr sz="1875" b="0">
              <a:solidFill>
                <a:srgbClr val="19384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7" name="s1-text-6"/>
          <p:cNvSpPr>
            <a:spLocks noGrp="1"/>
          </p:cNvSpPr>
          <p:nvPr/>
        </p:nvSpPr>
        <p:spPr>
          <a:xfrm>
            <a:off x="3714750" y="9020175"/>
            <a:ext cx="34290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 algn="l">
              <a:defRPr sz="187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 algn="l">
              <a:defRPr sz="187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 algn="l">
              <a:defRPr sz="187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 algn="l">
              <a:defRPr sz="187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 algn="l">
              <a:defRPr sz="187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 algn="l">
              <a:defRPr sz="187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 algn="l">
              <a:defRPr sz="187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 algn="l">
              <a:defRPr sz="187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 algn="l">
              <a:defRPr sz="187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 algn="l">
              <a:defRPr sz="187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187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Final Presentation</a:t>
            </a:r>
            <a:endParaRPr sz="1875" b="0">
              <a:solidFill>
                <a:srgbClr val="19384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21"/>
          <p:cNvSpPr>
            <a:spLocks noGrp="1"/>
          </p:cNvSpPr>
          <p:nvPr/>
        </p:nvSpPr>
        <p:spPr>
          <a:xfrm>
            <a:off x="12001500" y="0"/>
            <a:ext cx="6286500" cy="10287000"/>
          </a:xfrm>
          <a:prstGeom prst="rect">
            <a:avLst/>
          </a:prstGeom>
          <a:solidFill>
            <a:srgbClr val="19384A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12001500" y="0"/>
            <a:ext cx="95250" cy="10287000"/>
          </a:xfrm>
          <a:prstGeom prst="rect">
            <a:avLst/>
          </a:prstGeom>
          <a:solidFill>
            <a:srgbClr val="B8402E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1028700" y="695325"/>
            <a:ext cx="99060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PROJECT OVERVIEW</a:t>
            </a:r>
            <a:endParaRPr sz="1875" b="1">
              <a:solidFill>
                <a:srgbClr val="B8402E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1028700" y="1381125"/>
            <a:ext cx="10334625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5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>
              <a:defRPr sz="5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>
              <a:defRPr sz="5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>
              <a:defRPr sz="5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>
              <a:defRPr sz="5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>
              <a:defRPr sz="5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>
              <a:defRPr sz="5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>
              <a:defRPr sz="5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>
              <a:defRPr sz="5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>
              <a:defRPr sz="5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>
              <a:defRPr sz="5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5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Understanding Dog Activity</a:t>
            </a:r>
            <a:endParaRPr sz="5250" b="1">
              <a:solidFill>
                <a:srgbClr val="19384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1028700" y="2838450"/>
            <a:ext cx="10001250" cy="1571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337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>
              <a:defRPr sz="337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>
              <a:defRPr sz="337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>
              <a:defRPr sz="337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>
              <a:defRPr sz="337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>
              <a:defRPr sz="337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>
              <a:defRPr sz="337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>
              <a:defRPr sz="337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>
              <a:defRPr sz="337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>
              <a:defRPr sz="337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>
              <a:defRPr sz="337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337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Our system analyses video to recognise</a:t>
            </a:r>
            <a:endParaRPr sz="3375" b="1">
              <a:solidFill>
                <a:srgbClr val="19384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  <a:p>
            <a:pPr>
              <a:defRPr sz="337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337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dog behaviour and human–dog interaction.</a:t>
            </a:r>
            <a:endParaRPr sz="3375" b="1">
              <a:solidFill>
                <a:srgbClr val="19384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028700" y="4572000"/>
            <a:ext cx="9858375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625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>
              <a:defRPr sz="2625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>
              <a:defRPr sz="2625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>
              <a:defRPr sz="2625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>
              <a:defRPr sz="2625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>
              <a:defRPr sz="2625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>
              <a:defRPr sz="2625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>
              <a:defRPr sz="2625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>
              <a:defRPr sz="2625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>
              <a:defRPr sz="2625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>
              <a:defRPr sz="2625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625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It helps owners review long recordings</a:t>
            </a:r>
            <a:endParaRPr sz="2625" b="0">
              <a:solidFill>
                <a:srgbClr val="4F6470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  <a:p>
            <a:pPr>
              <a:defRPr sz="2625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625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without watching every minute.</a:t>
            </a:r>
            <a:endParaRPr sz="2625" b="0">
              <a:solidFill>
                <a:srgbClr val="4F6470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1028700" y="6019800"/>
            <a:ext cx="10096500" cy="19050"/>
          </a:xfrm>
          <a:prstGeom prst="rect">
            <a:avLst/>
          </a:prstGeom>
          <a:solidFill>
            <a:srgbClr val="D8D9CA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1028700" y="6457950"/>
            <a:ext cx="4619625" cy="523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8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>
              <a:defRPr sz="28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>
              <a:defRPr sz="28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>
              <a:defRPr sz="28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>
              <a:defRPr sz="28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>
              <a:defRPr sz="28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>
              <a:defRPr sz="28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>
              <a:defRPr sz="28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>
              <a:defRPr sz="28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>
              <a:defRPr sz="28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>
              <a:defRPr sz="28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8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Dog behaviour</a:t>
            </a:r>
            <a:endParaRPr sz="2850" b="1">
              <a:solidFill>
                <a:srgbClr val="19384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1028700" y="7191375"/>
            <a:ext cx="4667250" cy="1047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32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>
              <a:defRPr sz="232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>
              <a:defRPr sz="232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>
              <a:defRPr sz="232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>
              <a:defRPr sz="232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>
              <a:defRPr sz="232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>
              <a:defRPr sz="232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>
              <a:defRPr sz="232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>
              <a:defRPr sz="232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>
              <a:defRPr sz="232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>
              <a:defRPr sz="232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32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Walking, standing, sitting,</a:t>
            </a:r>
            <a:endParaRPr sz="2325" b="0">
              <a:solidFill>
                <a:srgbClr val="19384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  <a:p>
            <a:pPr>
              <a:defRPr sz="232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32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lying and eating / drinking.</a:t>
            </a:r>
            <a:endParaRPr sz="2325" b="0">
              <a:solidFill>
                <a:srgbClr val="19384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6315075" y="6457950"/>
            <a:ext cx="5000625" cy="523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8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>
              <a:defRPr sz="28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>
              <a:defRPr sz="28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>
              <a:defRPr sz="28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>
              <a:defRPr sz="28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>
              <a:defRPr sz="28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>
              <a:defRPr sz="28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>
              <a:defRPr sz="28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>
              <a:defRPr sz="28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>
              <a:defRPr sz="28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>
              <a:defRPr sz="28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8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Human–dog interaction</a:t>
            </a:r>
            <a:endParaRPr sz="2850" b="1">
              <a:solidFill>
                <a:srgbClr val="19384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6315075" y="7191375"/>
            <a:ext cx="5000625" cy="1047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32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>
              <a:defRPr sz="232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>
              <a:defRPr sz="232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>
              <a:defRPr sz="232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>
              <a:defRPr sz="232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>
              <a:defRPr sz="232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>
              <a:defRPr sz="232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>
              <a:defRPr sz="232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>
              <a:defRPr sz="232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>
              <a:defRPr sz="232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>
              <a:defRPr sz="232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32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No interaction, hand feeding,</a:t>
            </a:r>
            <a:endParaRPr sz="2325" b="0">
              <a:solidFill>
                <a:srgbClr val="19384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  <a:p>
            <a:pPr>
              <a:defRPr sz="232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32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petting and playing together.</a:t>
            </a:r>
            <a:endParaRPr sz="2325" b="0">
              <a:solidFill>
                <a:srgbClr val="19384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1028700" y="8705850"/>
            <a:ext cx="10096500" cy="19050"/>
          </a:xfrm>
          <a:prstGeom prst="rect">
            <a:avLst/>
          </a:prstGeom>
          <a:solidFill>
            <a:srgbClr val="D8D9CA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1028700" y="9039225"/>
            <a:ext cx="10287000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025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>
              <a:defRPr sz="2025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>
              <a:defRPr sz="2025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>
              <a:defRPr sz="2025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>
              <a:defRPr sz="2025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>
              <a:defRPr sz="2025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>
              <a:defRPr sz="2025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>
              <a:defRPr sz="2025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>
              <a:defRPr sz="2025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>
              <a:defRPr sz="2025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>
              <a:defRPr sz="2025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025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Indoor video. One main person and one main dog.</a:t>
            </a:r>
            <a:endParaRPr sz="2025" b="0">
              <a:solidFill>
                <a:srgbClr val="4F6470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  <a:p>
            <a:pPr>
              <a:defRPr sz="2025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025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No audio input.</a:t>
            </a:r>
            <a:endParaRPr sz="2025" b="0">
              <a:solidFill>
                <a:srgbClr val="4F6470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12668250" y="781050"/>
            <a:ext cx="47625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1">
                <a:solidFill>
                  <a:srgbClr val="F0B59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>
              <a:defRPr sz="1875" b="1">
                <a:solidFill>
                  <a:srgbClr val="F0B59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>
              <a:defRPr sz="1875" b="1">
                <a:solidFill>
                  <a:srgbClr val="F0B59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>
              <a:defRPr sz="1875" b="1">
                <a:solidFill>
                  <a:srgbClr val="F0B59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>
              <a:defRPr sz="1875" b="1">
                <a:solidFill>
                  <a:srgbClr val="F0B59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>
              <a:defRPr sz="1875" b="1">
                <a:solidFill>
                  <a:srgbClr val="F0B59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>
              <a:defRPr sz="1875" b="1">
                <a:solidFill>
                  <a:srgbClr val="F0B59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>
              <a:defRPr sz="1875" b="1">
                <a:solidFill>
                  <a:srgbClr val="F0B59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>
              <a:defRPr sz="1875" b="1">
                <a:solidFill>
                  <a:srgbClr val="F0B59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>
              <a:defRPr sz="1875" b="1">
                <a:solidFill>
                  <a:srgbClr val="F0B59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>
              <a:defRPr sz="1875" b="1">
                <a:solidFill>
                  <a:srgbClr val="F0B59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1875" b="1">
                <a:solidFill>
                  <a:srgbClr val="F0B59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FOR PET OWNERS</a:t>
            </a:r>
            <a:endParaRPr sz="1875" b="1">
              <a:solidFill>
                <a:srgbClr val="F0B59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12668250" y="1685925"/>
            <a:ext cx="4857750" cy="1809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4500" b="0">
                <a:solidFill>
                  <a:srgbClr val="FFF8E9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defPPr>
            <a:lvl1pPr>
              <a:defRPr sz="4500" b="0">
                <a:solidFill>
                  <a:srgbClr val="FFF8E9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1pPr>
            <a:lvl2pPr>
              <a:defRPr sz="4500" b="0">
                <a:solidFill>
                  <a:srgbClr val="FFF8E9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2pPr>
            <a:lvl3pPr>
              <a:defRPr sz="4500" b="0">
                <a:solidFill>
                  <a:srgbClr val="FFF8E9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3pPr>
            <a:lvl4pPr>
              <a:defRPr sz="4500" b="0">
                <a:solidFill>
                  <a:srgbClr val="FFF8E9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4pPr>
            <a:lvl5pPr>
              <a:defRPr sz="4500" b="0">
                <a:solidFill>
                  <a:srgbClr val="FFF8E9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5pPr>
            <a:lvl6pPr>
              <a:defRPr sz="4500" b="0">
                <a:solidFill>
                  <a:srgbClr val="FFF8E9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6pPr>
            <a:lvl7pPr>
              <a:defRPr sz="4500" b="0">
                <a:solidFill>
                  <a:srgbClr val="FFF8E9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7pPr>
            <a:lvl8pPr>
              <a:defRPr sz="4500" b="0">
                <a:solidFill>
                  <a:srgbClr val="FFF8E9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8pPr>
            <a:lvl9pPr>
              <a:defRPr sz="4500" b="0">
                <a:solidFill>
                  <a:srgbClr val="FFF8E9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9pPr>
          </a:lstStyle>
          <a:p>
            <a:pPr>
              <a:defRPr sz="4500" b="0">
                <a:solidFill>
                  <a:srgbClr val="FFF8E9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pPr>
            <a:r>
              <a:rPr sz="4500" b="0">
                <a:solidFill>
                  <a:srgbClr val="FFF8E9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Timestamped</a:t>
            </a:r>
            <a:endParaRPr sz="4500" b="0">
              <a:solidFill>
                <a:srgbClr val="FFF8E9"/>
              </a:solidFill>
              <a:latin typeface="Cambria" panose="02040503050406030204"/>
              <a:ea typeface="Cambria" panose="02040503050406030204"/>
              <a:cs typeface="Cambria" panose="02040503050406030204"/>
            </a:endParaRPr>
          </a:p>
          <a:p>
            <a:pPr>
              <a:defRPr sz="4500" b="0">
                <a:solidFill>
                  <a:srgbClr val="FFF8E9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pPr>
            <a:r>
              <a:rPr sz="4500" b="0">
                <a:solidFill>
                  <a:srgbClr val="FFF8E9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activity results</a:t>
            </a:r>
            <a:endParaRPr sz="4500" b="0">
              <a:solidFill>
                <a:srgbClr val="FFF8E9"/>
              </a:solidFill>
              <a:latin typeface="Cambria" panose="02040503050406030204"/>
              <a:ea typeface="Cambria" panose="02040503050406030204"/>
              <a:cs typeface="Cambria" panose="02040503050406030204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12668250" y="4219575"/>
            <a:ext cx="47625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775" b="1">
                <a:solidFill>
                  <a:srgbClr val="F0B59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>
              <a:defRPr sz="2775" b="1">
                <a:solidFill>
                  <a:srgbClr val="F0B59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>
              <a:defRPr sz="2775" b="1">
                <a:solidFill>
                  <a:srgbClr val="F0B59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>
              <a:defRPr sz="2775" b="1">
                <a:solidFill>
                  <a:srgbClr val="F0B59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>
              <a:defRPr sz="2775" b="1">
                <a:solidFill>
                  <a:srgbClr val="F0B59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>
              <a:defRPr sz="2775" b="1">
                <a:solidFill>
                  <a:srgbClr val="F0B59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>
              <a:defRPr sz="2775" b="1">
                <a:solidFill>
                  <a:srgbClr val="F0B59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>
              <a:defRPr sz="2775" b="1">
                <a:solidFill>
                  <a:srgbClr val="F0B59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>
              <a:defRPr sz="2775" b="1">
                <a:solidFill>
                  <a:srgbClr val="F0B59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>
              <a:defRPr sz="2775" b="1">
                <a:solidFill>
                  <a:srgbClr val="F0B59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>
              <a:defRPr sz="2775" b="1">
                <a:solidFill>
                  <a:srgbClr val="F0B59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775" b="1">
                <a:solidFill>
                  <a:srgbClr val="F0B59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When</a:t>
            </a:r>
            <a:endParaRPr sz="2775" b="1">
              <a:solidFill>
                <a:srgbClr val="F0B59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12668250" y="4838700"/>
            <a:ext cx="476250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475" b="0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>
              <a:defRPr sz="2475" b="0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>
              <a:defRPr sz="2475" b="0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>
              <a:defRPr sz="2475" b="0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>
              <a:defRPr sz="2475" b="0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>
              <a:defRPr sz="2475" b="0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>
              <a:defRPr sz="2475" b="0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>
              <a:defRPr sz="2475" b="0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>
              <a:defRPr sz="2475" b="0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>
              <a:defRPr sz="2475" b="0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>
              <a:defRPr sz="2475" b="0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475" b="0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Start and end times</a:t>
            </a:r>
            <a:endParaRPr sz="2475" b="0">
              <a:solidFill>
                <a:srgbClr val="FFF8E9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12668250" y="5981700"/>
            <a:ext cx="47625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775" b="1">
                <a:solidFill>
                  <a:srgbClr val="F0B59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>
              <a:defRPr sz="2775" b="1">
                <a:solidFill>
                  <a:srgbClr val="F0B59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>
              <a:defRPr sz="2775" b="1">
                <a:solidFill>
                  <a:srgbClr val="F0B59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>
              <a:defRPr sz="2775" b="1">
                <a:solidFill>
                  <a:srgbClr val="F0B59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>
              <a:defRPr sz="2775" b="1">
                <a:solidFill>
                  <a:srgbClr val="F0B59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>
              <a:defRPr sz="2775" b="1">
                <a:solidFill>
                  <a:srgbClr val="F0B59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>
              <a:defRPr sz="2775" b="1">
                <a:solidFill>
                  <a:srgbClr val="F0B59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>
              <a:defRPr sz="2775" b="1">
                <a:solidFill>
                  <a:srgbClr val="F0B59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>
              <a:defRPr sz="2775" b="1">
                <a:solidFill>
                  <a:srgbClr val="F0B59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>
              <a:defRPr sz="2775" b="1">
                <a:solidFill>
                  <a:srgbClr val="F0B59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>
              <a:defRPr sz="2775" b="1">
                <a:solidFill>
                  <a:srgbClr val="F0B59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775" b="1">
                <a:solidFill>
                  <a:srgbClr val="F0B59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What</a:t>
            </a:r>
            <a:endParaRPr sz="2775" b="1">
              <a:solidFill>
                <a:srgbClr val="F0B59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12668250" y="6600825"/>
            <a:ext cx="4762500" cy="876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475" b="0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>
              <a:defRPr sz="2475" b="0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>
              <a:defRPr sz="2475" b="0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>
              <a:defRPr sz="2475" b="0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>
              <a:defRPr sz="2475" b="0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>
              <a:defRPr sz="2475" b="0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>
              <a:defRPr sz="2475" b="0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>
              <a:defRPr sz="2475" b="0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>
              <a:defRPr sz="2475" b="0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>
              <a:defRPr sz="2475" b="0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>
              <a:defRPr sz="2475" b="0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475" b="0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Behaviour or interaction label</a:t>
            </a:r>
            <a:endParaRPr sz="2475" b="0">
              <a:solidFill>
                <a:srgbClr val="FFF8E9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12668250" y="7962900"/>
            <a:ext cx="47625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775" b="1">
                <a:solidFill>
                  <a:srgbClr val="F0B59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>
              <a:defRPr sz="2775" b="1">
                <a:solidFill>
                  <a:srgbClr val="F0B59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>
              <a:defRPr sz="2775" b="1">
                <a:solidFill>
                  <a:srgbClr val="F0B59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>
              <a:defRPr sz="2775" b="1">
                <a:solidFill>
                  <a:srgbClr val="F0B59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>
              <a:defRPr sz="2775" b="1">
                <a:solidFill>
                  <a:srgbClr val="F0B59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>
              <a:defRPr sz="2775" b="1">
                <a:solidFill>
                  <a:srgbClr val="F0B59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>
              <a:defRPr sz="2775" b="1">
                <a:solidFill>
                  <a:srgbClr val="F0B59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>
              <a:defRPr sz="2775" b="1">
                <a:solidFill>
                  <a:srgbClr val="F0B59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>
              <a:defRPr sz="2775" b="1">
                <a:solidFill>
                  <a:srgbClr val="F0B59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>
              <a:defRPr sz="2775" b="1">
                <a:solidFill>
                  <a:srgbClr val="F0B59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>
              <a:defRPr sz="2775" b="1">
                <a:solidFill>
                  <a:srgbClr val="F0B59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775" b="1">
                <a:solidFill>
                  <a:srgbClr val="F0B59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Replay</a:t>
            </a:r>
            <a:endParaRPr sz="2775" b="1">
              <a:solidFill>
                <a:srgbClr val="F0B59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12668250" y="8582025"/>
            <a:ext cx="4762500" cy="1000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475" b="0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>
              <a:defRPr sz="2475" b="0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>
              <a:defRPr sz="2475" b="0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>
              <a:defRPr sz="2475" b="0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>
              <a:defRPr sz="2475" b="0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>
              <a:defRPr sz="2475" b="0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>
              <a:defRPr sz="2475" b="0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>
              <a:defRPr sz="2475" b="0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>
              <a:defRPr sz="2475" b="0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>
              <a:defRPr sz="2475" b="0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>
              <a:defRPr sz="2475" b="0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475" b="0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Play the corresponding</a:t>
            </a:r>
            <a:endParaRPr sz="2475" b="0">
              <a:solidFill>
                <a:srgbClr val="FFF8E9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  <a:p>
            <a:pPr>
              <a:defRPr sz="2475" b="0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475" b="0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video interval</a:t>
            </a:r>
            <a:endParaRPr sz="2475" b="0">
              <a:solidFill>
                <a:srgbClr val="FFF8E9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s3-rect-0"/>
          <p:cNvSpPr>
            <a:spLocks noGrp="1"/>
          </p:cNvSpPr>
          <p:nvPr/>
        </p:nvSpPr>
        <p:spPr>
          <a:xfrm>
            <a:off x="0" y="0"/>
            <a:ext cx="5619750" cy="10287000"/>
          </a:xfrm>
          <a:prstGeom prst="rect">
            <a:avLst/>
          </a:prstGeom>
          <a:solidFill>
            <a:srgbClr val="19384A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s3-text-1"/>
          <p:cNvSpPr>
            <a:spLocks noGrp="1"/>
          </p:cNvSpPr>
          <p:nvPr/>
        </p:nvSpPr>
        <p:spPr>
          <a:xfrm>
            <a:off x="666750" y="781050"/>
            <a:ext cx="42862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 algn="l">
              <a:defRPr sz="180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 algn="l">
              <a:defRPr sz="180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 algn="l">
              <a:defRPr sz="180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 algn="l">
              <a:defRPr sz="180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 algn="l">
              <a:defRPr sz="180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 algn="l">
              <a:defRPr sz="180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 algn="l">
              <a:defRPr sz="180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 algn="l">
              <a:defRPr sz="180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 algn="l">
              <a:defRPr sz="180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 algn="l">
              <a:defRPr sz="180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180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SYSTEM WORKFLOW</a:t>
            </a:r>
            <a:endParaRPr sz="1800" b="1">
              <a:solidFill>
                <a:srgbClr val="FFF8E9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3" name="s3-text-2"/>
          <p:cNvSpPr>
            <a:spLocks noGrp="1"/>
          </p:cNvSpPr>
          <p:nvPr/>
        </p:nvSpPr>
        <p:spPr>
          <a:xfrm>
            <a:off x="666750" y="1571625"/>
            <a:ext cx="4333875" cy="2333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5025" b="0">
                <a:solidFill>
                  <a:srgbClr val="FFF8E9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defPPr>
            <a:lvl1pPr algn="l">
              <a:defRPr sz="5025" b="0">
                <a:solidFill>
                  <a:srgbClr val="FFF8E9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1pPr>
            <a:lvl2pPr algn="l">
              <a:defRPr sz="5025" b="0">
                <a:solidFill>
                  <a:srgbClr val="FFF8E9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2pPr>
            <a:lvl3pPr algn="l">
              <a:defRPr sz="5025" b="0">
                <a:solidFill>
                  <a:srgbClr val="FFF8E9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3pPr>
            <a:lvl4pPr algn="l">
              <a:defRPr sz="5025" b="0">
                <a:solidFill>
                  <a:srgbClr val="FFF8E9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4pPr>
            <a:lvl5pPr algn="l">
              <a:defRPr sz="5025" b="0">
                <a:solidFill>
                  <a:srgbClr val="FFF8E9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5pPr>
            <a:lvl6pPr algn="l">
              <a:defRPr sz="5025" b="0">
                <a:solidFill>
                  <a:srgbClr val="FFF8E9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6pPr>
            <a:lvl7pPr algn="l">
              <a:defRPr sz="5025" b="0">
                <a:solidFill>
                  <a:srgbClr val="FFF8E9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7pPr>
            <a:lvl8pPr algn="l">
              <a:defRPr sz="5025" b="0">
                <a:solidFill>
                  <a:srgbClr val="FFF8E9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8pPr>
            <a:lvl9pPr algn="l">
              <a:defRPr sz="5025" b="0">
                <a:solidFill>
                  <a:srgbClr val="FFF8E9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9pPr>
          </a:lstStyle>
          <a:p>
            <a:pPr algn="l">
              <a:defRPr sz="5025" b="0">
                <a:solidFill>
                  <a:srgbClr val="FFF8E9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pPr>
            <a:r>
              <a:rPr sz="5025" b="0">
                <a:solidFill>
                  <a:srgbClr val="FFF8E9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Video input</a:t>
            </a:r>
            <a:endParaRPr sz="5025" b="0">
              <a:solidFill>
                <a:srgbClr val="FFF8E9"/>
              </a:solidFill>
              <a:latin typeface="Cambria" panose="02040503050406030204"/>
              <a:ea typeface="Cambria" panose="02040503050406030204"/>
              <a:cs typeface="Cambria" panose="02040503050406030204"/>
            </a:endParaRPr>
          </a:p>
          <a:p>
            <a:pPr algn="l">
              <a:defRPr sz="5025" b="0">
                <a:solidFill>
                  <a:srgbClr val="FFF8E9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pPr>
            <a:r>
              <a:rPr sz="5025" b="0">
                <a:solidFill>
                  <a:srgbClr val="FFF8E9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to behaviour</a:t>
            </a:r>
            <a:endParaRPr sz="5025" b="0">
              <a:solidFill>
                <a:srgbClr val="FFF8E9"/>
              </a:solidFill>
              <a:latin typeface="Cambria" panose="02040503050406030204"/>
              <a:ea typeface="Cambria" panose="02040503050406030204"/>
              <a:cs typeface="Cambria" panose="02040503050406030204"/>
            </a:endParaRPr>
          </a:p>
          <a:p>
            <a:pPr algn="l">
              <a:defRPr sz="5025" b="0">
                <a:solidFill>
                  <a:srgbClr val="FFF8E9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pPr>
            <a:r>
              <a:rPr sz="5025" b="0">
                <a:solidFill>
                  <a:srgbClr val="FFF8E9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timeline</a:t>
            </a:r>
            <a:endParaRPr sz="5025" b="0">
              <a:solidFill>
                <a:srgbClr val="FFF8E9"/>
              </a:solidFill>
              <a:latin typeface="Cambria" panose="02040503050406030204"/>
              <a:ea typeface="Cambria" panose="02040503050406030204"/>
              <a:cs typeface="Cambria" panose="02040503050406030204"/>
            </a:endParaRPr>
          </a:p>
        </p:txBody>
      </p:sp>
      <p:sp>
        <p:nvSpPr>
          <p:cNvPr id="4" name="s3-text-3"/>
          <p:cNvSpPr>
            <a:spLocks noGrp="1"/>
          </p:cNvSpPr>
          <p:nvPr/>
        </p:nvSpPr>
        <p:spPr>
          <a:xfrm>
            <a:off x="666750" y="4048125"/>
            <a:ext cx="4286250" cy="1714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325" b="0">
                <a:solidFill>
                  <a:srgbClr val="C9D6DC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 algn="l">
              <a:defRPr sz="2325" b="0">
                <a:solidFill>
                  <a:srgbClr val="C9D6DC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 algn="l">
              <a:defRPr sz="2325" b="0">
                <a:solidFill>
                  <a:srgbClr val="C9D6DC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 algn="l">
              <a:defRPr sz="2325" b="0">
                <a:solidFill>
                  <a:srgbClr val="C9D6DC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 algn="l">
              <a:defRPr sz="2325" b="0">
                <a:solidFill>
                  <a:srgbClr val="C9D6DC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 algn="l">
              <a:defRPr sz="2325" b="0">
                <a:solidFill>
                  <a:srgbClr val="C9D6DC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 algn="l">
              <a:defRPr sz="2325" b="0">
                <a:solidFill>
                  <a:srgbClr val="C9D6DC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 algn="l">
              <a:defRPr sz="2325" b="0">
                <a:solidFill>
                  <a:srgbClr val="C9D6DC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 algn="l">
              <a:defRPr sz="2325" b="0">
                <a:solidFill>
                  <a:srgbClr val="C9D6DC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 algn="l">
              <a:defRPr sz="2325" b="0">
                <a:solidFill>
                  <a:srgbClr val="C9D6DC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 algn="l">
              <a:defRPr sz="2325" b="0">
                <a:solidFill>
                  <a:srgbClr val="C9D6DC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325" b="0">
                <a:solidFill>
                  <a:srgbClr val="C9D6DC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Detection and pose</a:t>
            </a:r>
            <a:endParaRPr sz="2325" b="0">
              <a:solidFill>
                <a:srgbClr val="C9D6DC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  <a:p>
            <a:pPr algn="l">
              <a:defRPr sz="2325" b="0">
                <a:solidFill>
                  <a:srgbClr val="C9D6DC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325" b="0">
                <a:solidFill>
                  <a:srgbClr val="C9D6DC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Window classification</a:t>
            </a:r>
            <a:endParaRPr sz="2325" b="0">
              <a:solidFill>
                <a:srgbClr val="C9D6DC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  <a:p>
            <a:pPr algn="l">
              <a:defRPr sz="2325" b="0">
                <a:solidFill>
                  <a:srgbClr val="C9D6DC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325" b="0">
                <a:solidFill>
                  <a:srgbClr val="C9D6DC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Results and playback</a:t>
            </a:r>
            <a:endParaRPr sz="2325" b="0">
              <a:solidFill>
                <a:srgbClr val="C9D6DC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5" name="s3-text-4"/>
          <p:cNvSpPr>
            <a:spLocks noGrp="1"/>
          </p:cNvSpPr>
          <p:nvPr/>
        </p:nvSpPr>
        <p:spPr>
          <a:xfrm>
            <a:off x="6524625" y="857250"/>
            <a:ext cx="1057275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41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 algn="l">
              <a:defRPr sz="41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 algn="l">
              <a:defRPr sz="41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 algn="l">
              <a:defRPr sz="41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 algn="l">
              <a:defRPr sz="41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 algn="l">
              <a:defRPr sz="41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 algn="l">
              <a:defRPr sz="41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 algn="l">
              <a:defRPr sz="41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 algn="l">
              <a:defRPr sz="41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 algn="l">
              <a:defRPr sz="41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 algn="l">
              <a:defRPr sz="41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41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One workflow from upload to review</a:t>
            </a:r>
            <a:endParaRPr sz="4125" b="1">
              <a:solidFill>
                <a:srgbClr val="19384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6" name="s3-rect-5"/>
          <p:cNvSpPr>
            <a:spLocks noGrp="1"/>
          </p:cNvSpPr>
          <p:nvPr/>
        </p:nvSpPr>
        <p:spPr>
          <a:xfrm>
            <a:off x="6524625" y="2400300"/>
            <a:ext cx="3028950" cy="1885950"/>
          </a:xfrm>
          <a:prstGeom prst="roundRect">
            <a:avLst>
              <a:gd name="adj" fmla="val 9091"/>
            </a:avLst>
          </a:prstGeom>
          <a:solidFill>
            <a:srgbClr val="FFFDF8"/>
          </a:solidFill>
          <a:ln w="9525">
            <a:solidFill>
              <a:srgbClr val="D9DDC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s3-text-6"/>
          <p:cNvSpPr>
            <a:spLocks noGrp="1"/>
          </p:cNvSpPr>
          <p:nvPr/>
        </p:nvSpPr>
        <p:spPr>
          <a:xfrm>
            <a:off x="6762750" y="2609850"/>
            <a:ext cx="2552700" cy="704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 algn="l">
              <a:defRPr sz="2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 algn="l">
              <a:defRPr sz="2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 algn="l">
              <a:defRPr sz="2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 algn="l">
              <a:defRPr sz="2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 algn="l">
              <a:defRPr sz="2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 algn="l">
              <a:defRPr sz="2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 algn="l">
              <a:defRPr sz="2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 algn="l">
              <a:defRPr sz="2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 algn="l">
              <a:defRPr sz="2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 algn="l">
              <a:defRPr sz="2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Video upload</a:t>
            </a:r>
            <a:endParaRPr sz="2250" b="1">
              <a:solidFill>
                <a:srgbClr val="19384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8" name="s3-text-7"/>
          <p:cNvSpPr>
            <a:spLocks noGrp="1"/>
          </p:cNvSpPr>
          <p:nvPr/>
        </p:nvSpPr>
        <p:spPr>
          <a:xfrm>
            <a:off x="6762750" y="3352800"/>
            <a:ext cx="25527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 algn="l">
              <a:defRPr sz="21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 algn="l">
              <a:defRPr sz="21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 algn="l">
              <a:defRPr sz="21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 algn="l">
              <a:defRPr sz="21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 algn="l">
              <a:defRPr sz="21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 algn="l">
              <a:defRPr sz="21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 algn="l">
              <a:defRPr sz="21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 algn="l">
              <a:defRPr sz="21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 algn="l">
              <a:defRPr sz="21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 algn="l">
              <a:defRPr sz="21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1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15 fps sampling</a:t>
            </a:r>
            <a:endParaRPr sz="2100" b="0">
              <a:solidFill>
                <a:srgbClr val="4F6470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  <a:p>
            <a:pPr algn="l">
              <a:defRPr sz="21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1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CPU inference.</a:t>
            </a:r>
            <a:endParaRPr sz="2100" b="0">
              <a:solidFill>
                <a:srgbClr val="4F6470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9" name="s3-rect-8"/>
          <p:cNvSpPr>
            <a:spLocks noGrp="1"/>
          </p:cNvSpPr>
          <p:nvPr/>
        </p:nvSpPr>
        <p:spPr>
          <a:xfrm>
            <a:off x="10287000" y="2400300"/>
            <a:ext cx="3143250" cy="1885950"/>
          </a:xfrm>
          <a:prstGeom prst="roundRect">
            <a:avLst>
              <a:gd name="adj" fmla="val 9091"/>
            </a:avLst>
          </a:prstGeom>
          <a:solidFill>
            <a:srgbClr val="FFFDF8"/>
          </a:solidFill>
          <a:ln w="9525">
            <a:solidFill>
              <a:srgbClr val="D9DDC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s3-text-9"/>
          <p:cNvSpPr>
            <a:spLocks noGrp="1"/>
          </p:cNvSpPr>
          <p:nvPr/>
        </p:nvSpPr>
        <p:spPr>
          <a:xfrm>
            <a:off x="10525125" y="2609850"/>
            <a:ext cx="2667000" cy="704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 algn="l">
              <a:defRPr sz="2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 algn="l">
              <a:defRPr sz="2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 algn="l">
              <a:defRPr sz="2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 algn="l">
              <a:defRPr sz="2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 algn="l">
              <a:defRPr sz="2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 algn="l">
              <a:defRPr sz="2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 algn="l">
              <a:defRPr sz="2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 algn="l">
              <a:defRPr sz="2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 algn="l">
              <a:defRPr sz="2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 algn="l">
              <a:defRPr sz="2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RTMDet + RTMPose</a:t>
            </a:r>
            <a:endParaRPr sz="2250" b="1">
              <a:solidFill>
                <a:srgbClr val="19384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11" name="s3-text-10"/>
          <p:cNvSpPr>
            <a:spLocks noGrp="1"/>
          </p:cNvSpPr>
          <p:nvPr/>
        </p:nvSpPr>
        <p:spPr>
          <a:xfrm>
            <a:off x="10525125" y="3352800"/>
            <a:ext cx="26670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 algn="l">
              <a:defRPr sz="21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 algn="l">
              <a:defRPr sz="21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 algn="l">
              <a:defRPr sz="21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 algn="l">
              <a:defRPr sz="21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 algn="l">
              <a:defRPr sz="21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 algn="l">
              <a:defRPr sz="21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 algn="l">
              <a:defRPr sz="21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 algn="l">
              <a:defRPr sz="21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 algn="l">
              <a:defRPr sz="21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 algn="l">
              <a:defRPr sz="21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1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Stable subject boxes</a:t>
            </a:r>
            <a:endParaRPr sz="2100" b="0">
              <a:solidFill>
                <a:srgbClr val="4F6470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  <a:p>
            <a:pPr algn="l">
              <a:defRPr sz="21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1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17-joint skeletons.</a:t>
            </a:r>
            <a:endParaRPr sz="2100" b="0">
              <a:solidFill>
                <a:srgbClr val="4F6470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12" name="s3-rect-11"/>
          <p:cNvSpPr>
            <a:spLocks noGrp="1"/>
          </p:cNvSpPr>
          <p:nvPr/>
        </p:nvSpPr>
        <p:spPr>
          <a:xfrm>
            <a:off x="14154150" y="2400300"/>
            <a:ext cx="3143250" cy="1885950"/>
          </a:xfrm>
          <a:prstGeom prst="roundRect">
            <a:avLst>
              <a:gd name="adj" fmla="val 9091"/>
            </a:avLst>
          </a:prstGeom>
          <a:solidFill>
            <a:srgbClr val="FFFDF8"/>
          </a:solidFill>
          <a:ln w="9525">
            <a:solidFill>
              <a:srgbClr val="D9DDC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s3-text-12"/>
          <p:cNvSpPr>
            <a:spLocks noGrp="1"/>
          </p:cNvSpPr>
          <p:nvPr/>
        </p:nvSpPr>
        <p:spPr>
          <a:xfrm>
            <a:off x="14392275" y="2609850"/>
            <a:ext cx="2667000" cy="704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 algn="l">
              <a:defRPr sz="2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 algn="l">
              <a:defRPr sz="2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 algn="l">
              <a:defRPr sz="2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 algn="l">
              <a:defRPr sz="2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 algn="l">
              <a:defRPr sz="2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 algn="l">
              <a:defRPr sz="2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 algn="l">
              <a:defRPr sz="2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 algn="l">
              <a:defRPr sz="2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 algn="l">
              <a:defRPr sz="2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 algn="l">
              <a:defRPr sz="2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32-frame sequences</a:t>
            </a:r>
            <a:endParaRPr sz="2250" b="1">
              <a:solidFill>
                <a:srgbClr val="19384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14" name="s3-text-13"/>
          <p:cNvSpPr>
            <a:spLocks noGrp="1"/>
          </p:cNvSpPr>
          <p:nvPr/>
        </p:nvSpPr>
        <p:spPr>
          <a:xfrm>
            <a:off x="14392275" y="3352800"/>
            <a:ext cx="26670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 algn="l">
              <a:defRPr sz="21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 algn="l">
              <a:defRPr sz="21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 algn="l">
              <a:defRPr sz="21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 algn="l">
              <a:defRPr sz="21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 algn="l">
              <a:defRPr sz="21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 algn="l">
              <a:defRPr sz="21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 algn="l">
              <a:defRPr sz="21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 algn="l">
              <a:defRPr sz="21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 algn="l">
              <a:defRPr sz="21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 algn="l">
              <a:defRPr sz="21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1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Joint motion</a:t>
            </a:r>
            <a:endParaRPr sz="2100" b="0">
              <a:solidFill>
                <a:srgbClr val="4F6470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  <a:p>
            <a:pPr algn="l">
              <a:defRPr sz="21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1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Global displacement</a:t>
            </a:r>
            <a:endParaRPr sz="2100" b="0">
              <a:solidFill>
                <a:srgbClr val="4F6470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15" name="s3-line-14"/>
          <p:cNvSpPr>
            <a:spLocks noGrp="1"/>
          </p:cNvSpPr>
          <p:nvPr/>
        </p:nvSpPr>
        <p:spPr>
          <a:xfrm>
            <a:off x="9553575" y="3333750"/>
            <a:ext cx="733425" cy="0"/>
          </a:xfrm>
          <a:prstGeom prst="line">
            <a:avLst/>
          </a:prstGeom>
          <a:noFill/>
          <a:ln w="28575">
            <a:solidFill>
              <a:srgbClr val="19384A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s3-line-14-arrow"/>
          <p:cNvSpPr>
            <a:spLocks noGrp="1"/>
          </p:cNvSpPr>
          <p:nvPr/>
        </p:nvSpPr>
        <p:spPr>
          <a:xfrm rot="5400000">
            <a:off x="10201275" y="3248025"/>
            <a:ext cx="171450" cy="171450"/>
          </a:xfrm>
          <a:prstGeom prst="triangle">
            <a:avLst/>
          </a:prstGeom>
          <a:solidFill>
            <a:srgbClr val="19384A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s3-line-15"/>
          <p:cNvSpPr>
            <a:spLocks noGrp="1"/>
          </p:cNvSpPr>
          <p:nvPr/>
        </p:nvSpPr>
        <p:spPr>
          <a:xfrm>
            <a:off x="13430250" y="3333750"/>
            <a:ext cx="723900" cy="0"/>
          </a:xfrm>
          <a:prstGeom prst="line">
            <a:avLst/>
          </a:prstGeom>
          <a:noFill/>
          <a:ln w="28575">
            <a:solidFill>
              <a:srgbClr val="19384A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s3-line-15-arrow"/>
          <p:cNvSpPr>
            <a:spLocks noGrp="1"/>
          </p:cNvSpPr>
          <p:nvPr/>
        </p:nvSpPr>
        <p:spPr>
          <a:xfrm rot="5400000">
            <a:off x="14068425" y="3248025"/>
            <a:ext cx="171450" cy="171450"/>
          </a:xfrm>
          <a:prstGeom prst="triangle">
            <a:avLst/>
          </a:prstGeom>
          <a:solidFill>
            <a:srgbClr val="19384A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s3-text-16"/>
          <p:cNvSpPr>
            <a:spLocks noGrp="1"/>
          </p:cNvSpPr>
          <p:nvPr/>
        </p:nvSpPr>
        <p:spPr>
          <a:xfrm>
            <a:off x="6524625" y="4457700"/>
            <a:ext cx="47625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7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 algn="l">
              <a:defRPr sz="27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 algn="l">
              <a:defRPr sz="27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 algn="l">
              <a:defRPr sz="27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 algn="l">
              <a:defRPr sz="27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 algn="l">
              <a:defRPr sz="27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 algn="l">
              <a:defRPr sz="27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 algn="l">
              <a:defRPr sz="27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 algn="l">
              <a:defRPr sz="27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 algn="l">
              <a:defRPr sz="27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 algn="l">
              <a:defRPr sz="27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7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Window routing</a:t>
            </a:r>
            <a:endParaRPr sz="2700" b="1">
              <a:solidFill>
                <a:srgbClr val="19384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20" name="s3-rect-17"/>
          <p:cNvSpPr>
            <a:spLocks noGrp="1"/>
          </p:cNvSpPr>
          <p:nvPr/>
        </p:nvSpPr>
        <p:spPr>
          <a:xfrm>
            <a:off x="6524625" y="5753100"/>
            <a:ext cx="4810125" cy="1466850"/>
          </a:xfrm>
          <a:prstGeom prst="roundRect">
            <a:avLst>
              <a:gd name="adj" fmla="val 11688"/>
            </a:avLst>
          </a:prstGeom>
          <a:solidFill>
            <a:srgbClr val="EDF5F6"/>
          </a:solidFill>
          <a:ln w="9525">
            <a:solidFill>
              <a:srgbClr val="D9DDC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s3-text-18"/>
          <p:cNvSpPr>
            <a:spLocks noGrp="1"/>
          </p:cNvSpPr>
          <p:nvPr/>
        </p:nvSpPr>
        <p:spPr>
          <a:xfrm>
            <a:off x="6762750" y="5962650"/>
            <a:ext cx="4333875" cy="704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 algn="l">
              <a:defRPr sz="2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 algn="l">
              <a:defRPr sz="2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 algn="l">
              <a:defRPr sz="2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 algn="l">
              <a:defRPr sz="2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 algn="l">
              <a:defRPr sz="2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 algn="l">
              <a:defRPr sz="2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 algn="l">
              <a:defRPr sz="2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 algn="l">
              <a:defRPr sz="2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 algn="l">
              <a:defRPr sz="2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 algn="l">
              <a:defRPr sz="2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Dog only</a:t>
            </a:r>
            <a:endParaRPr sz="2250" b="1">
              <a:solidFill>
                <a:srgbClr val="19384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22" name="s3-text-19"/>
          <p:cNvSpPr>
            <a:spLocks noGrp="1"/>
          </p:cNvSpPr>
          <p:nvPr/>
        </p:nvSpPr>
        <p:spPr>
          <a:xfrm>
            <a:off x="6762750" y="6705600"/>
            <a:ext cx="4333875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 algn="l">
              <a:defRPr sz="21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 algn="l">
              <a:defRPr sz="21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 algn="l">
              <a:defRPr sz="21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 algn="l">
              <a:defRPr sz="21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 algn="l">
              <a:defRPr sz="21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 algn="l">
              <a:defRPr sz="21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 algn="l">
              <a:defRPr sz="21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 algn="l">
              <a:defRPr sz="21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 algn="l">
              <a:defRPr sz="21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 algn="l">
              <a:defRPr sz="21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1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Five-class dog model</a:t>
            </a:r>
            <a:endParaRPr sz="2100" b="0">
              <a:solidFill>
                <a:srgbClr val="4F6470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23" name="s3-rect-20"/>
          <p:cNvSpPr>
            <a:spLocks noGrp="1"/>
          </p:cNvSpPr>
          <p:nvPr/>
        </p:nvSpPr>
        <p:spPr>
          <a:xfrm>
            <a:off x="12192000" y="5753100"/>
            <a:ext cx="5105400" cy="1466850"/>
          </a:xfrm>
          <a:prstGeom prst="roundRect">
            <a:avLst>
              <a:gd name="adj" fmla="val 11688"/>
            </a:avLst>
          </a:prstGeom>
          <a:solidFill>
            <a:srgbClr val="EDF5F6"/>
          </a:solidFill>
          <a:ln w="9525">
            <a:solidFill>
              <a:srgbClr val="D9DDC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s3-text-21"/>
          <p:cNvSpPr>
            <a:spLocks noGrp="1"/>
          </p:cNvSpPr>
          <p:nvPr/>
        </p:nvSpPr>
        <p:spPr>
          <a:xfrm>
            <a:off x="12430125" y="5962650"/>
            <a:ext cx="4629150" cy="704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 algn="l">
              <a:defRPr sz="2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 algn="l">
              <a:defRPr sz="2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 algn="l">
              <a:defRPr sz="2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 algn="l">
              <a:defRPr sz="2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 algn="l">
              <a:defRPr sz="2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 algn="l">
              <a:defRPr sz="2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 algn="l">
              <a:defRPr sz="2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 algn="l">
              <a:defRPr sz="2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 algn="l">
              <a:defRPr sz="2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 algn="l">
              <a:defRPr sz="2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Person + dog</a:t>
            </a:r>
            <a:endParaRPr sz="2250" b="1">
              <a:solidFill>
                <a:srgbClr val="19384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25" name="s3-text-22"/>
          <p:cNvSpPr>
            <a:spLocks noGrp="1"/>
          </p:cNvSpPr>
          <p:nvPr/>
        </p:nvSpPr>
        <p:spPr>
          <a:xfrm>
            <a:off x="12430125" y="6705600"/>
            <a:ext cx="46291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 algn="l">
              <a:defRPr sz="21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 algn="l">
              <a:defRPr sz="21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 algn="l">
              <a:defRPr sz="21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 algn="l">
              <a:defRPr sz="21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 algn="l">
              <a:defRPr sz="21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 algn="l">
              <a:defRPr sz="21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 algn="l">
              <a:defRPr sz="21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 algn="l">
              <a:defRPr sz="21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 algn="l">
              <a:defRPr sz="21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 algn="l">
              <a:defRPr sz="21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1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Four-class interaction model</a:t>
            </a:r>
            <a:endParaRPr sz="2100" b="0">
              <a:solidFill>
                <a:srgbClr val="4F6470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26" name="s3-line-23"/>
          <p:cNvSpPr>
            <a:spLocks noGrp="1"/>
          </p:cNvSpPr>
          <p:nvPr/>
        </p:nvSpPr>
        <p:spPr>
          <a:xfrm>
            <a:off x="15697200" y="4295775"/>
            <a:ext cx="0" cy="752475"/>
          </a:xfrm>
          <a:prstGeom prst="line">
            <a:avLst/>
          </a:prstGeom>
          <a:noFill/>
          <a:ln w="28575">
            <a:solidFill>
              <a:srgbClr val="19384A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s3-line-24"/>
          <p:cNvSpPr>
            <a:spLocks noGrp="1"/>
          </p:cNvSpPr>
          <p:nvPr/>
        </p:nvSpPr>
        <p:spPr>
          <a:xfrm>
            <a:off x="8991600" y="5048250"/>
            <a:ext cx="6705600" cy="0"/>
          </a:xfrm>
          <a:prstGeom prst="line">
            <a:avLst/>
          </a:prstGeom>
          <a:noFill/>
          <a:ln w="28575">
            <a:solidFill>
              <a:srgbClr val="19384A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s3-line-25"/>
          <p:cNvSpPr>
            <a:spLocks noGrp="1"/>
          </p:cNvSpPr>
          <p:nvPr/>
        </p:nvSpPr>
        <p:spPr>
          <a:xfrm>
            <a:off x="8991600" y="5048250"/>
            <a:ext cx="0" cy="704850"/>
          </a:xfrm>
          <a:prstGeom prst="line">
            <a:avLst/>
          </a:prstGeom>
          <a:noFill/>
          <a:ln w="28575">
            <a:solidFill>
              <a:srgbClr val="19384A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s3-line-25-arrow"/>
          <p:cNvSpPr>
            <a:spLocks noGrp="1"/>
          </p:cNvSpPr>
          <p:nvPr/>
        </p:nvSpPr>
        <p:spPr>
          <a:xfrm rot="10800000">
            <a:off x="8905875" y="5667375"/>
            <a:ext cx="171450" cy="171450"/>
          </a:xfrm>
          <a:prstGeom prst="triangle">
            <a:avLst/>
          </a:prstGeom>
          <a:solidFill>
            <a:srgbClr val="19384A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s3-line-26"/>
          <p:cNvSpPr>
            <a:spLocks noGrp="1"/>
          </p:cNvSpPr>
          <p:nvPr/>
        </p:nvSpPr>
        <p:spPr>
          <a:xfrm>
            <a:off x="14744700" y="5048250"/>
            <a:ext cx="0" cy="704850"/>
          </a:xfrm>
          <a:prstGeom prst="line">
            <a:avLst/>
          </a:prstGeom>
          <a:noFill/>
          <a:ln w="28575">
            <a:solidFill>
              <a:srgbClr val="19384A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s3-line-26-arrow"/>
          <p:cNvSpPr>
            <a:spLocks noGrp="1"/>
          </p:cNvSpPr>
          <p:nvPr/>
        </p:nvSpPr>
        <p:spPr>
          <a:xfrm rot="10800000">
            <a:off x="14658975" y="5667375"/>
            <a:ext cx="171450" cy="171450"/>
          </a:xfrm>
          <a:prstGeom prst="triangle">
            <a:avLst/>
          </a:prstGeom>
          <a:solidFill>
            <a:srgbClr val="19384A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s3-rect-27"/>
          <p:cNvSpPr>
            <a:spLocks noGrp="1"/>
          </p:cNvSpPr>
          <p:nvPr/>
        </p:nvSpPr>
        <p:spPr>
          <a:xfrm>
            <a:off x="6524625" y="8086725"/>
            <a:ext cx="10763250" cy="1371600"/>
          </a:xfrm>
          <a:prstGeom prst="roundRect">
            <a:avLst>
              <a:gd name="adj" fmla="val 12500"/>
            </a:avLst>
          </a:prstGeom>
          <a:solidFill>
            <a:srgbClr val="FFFDF8"/>
          </a:solidFill>
          <a:ln w="9525">
            <a:solidFill>
              <a:srgbClr val="D9DDC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s3-text-28"/>
          <p:cNvSpPr>
            <a:spLocks noGrp="1"/>
          </p:cNvSpPr>
          <p:nvPr/>
        </p:nvSpPr>
        <p:spPr>
          <a:xfrm>
            <a:off x="6819900" y="8315325"/>
            <a:ext cx="1009650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0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 algn="l">
              <a:defRPr sz="30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 algn="l">
              <a:defRPr sz="30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 algn="l">
              <a:defRPr sz="30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 algn="l">
              <a:defRPr sz="30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 algn="l">
              <a:defRPr sz="30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 algn="l">
              <a:defRPr sz="30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 algn="l">
              <a:defRPr sz="30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 algn="l">
              <a:defRPr sz="30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 algn="l">
              <a:defRPr sz="30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 algn="l">
              <a:defRPr sz="30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30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Merged timeline and video playback</a:t>
            </a:r>
            <a:endParaRPr sz="3000" b="1">
              <a:solidFill>
                <a:srgbClr val="19384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34" name="s3-text-29"/>
          <p:cNvSpPr>
            <a:spLocks noGrp="1"/>
          </p:cNvSpPr>
          <p:nvPr/>
        </p:nvSpPr>
        <p:spPr>
          <a:xfrm>
            <a:off x="6819900" y="8953500"/>
            <a:ext cx="98107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 algn="l">
              <a:defRPr sz="21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 algn="l">
              <a:defRPr sz="21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 algn="l">
              <a:defRPr sz="21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 algn="l">
              <a:defRPr sz="21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 algn="l">
              <a:defRPr sz="21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 algn="l">
              <a:defRPr sz="21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 algn="l">
              <a:defRPr sz="21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 algn="l">
              <a:defRPr sz="21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 algn="l">
              <a:defRPr sz="21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 algn="l">
              <a:defRPr sz="21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1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Start time    End time    Label    Confidence</a:t>
            </a:r>
            <a:endParaRPr sz="2100" b="0">
              <a:solidFill>
                <a:srgbClr val="4F6470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35" name="s3-line-30"/>
          <p:cNvSpPr>
            <a:spLocks noGrp="1"/>
          </p:cNvSpPr>
          <p:nvPr/>
        </p:nvSpPr>
        <p:spPr>
          <a:xfrm>
            <a:off x="8934450" y="7219950"/>
            <a:ext cx="0" cy="866775"/>
          </a:xfrm>
          <a:prstGeom prst="line">
            <a:avLst/>
          </a:prstGeom>
          <a:noFill/>
          <a:ln w="28575">
            <a:solidFill>
              <a:srgbClr val="19384A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" name="s3-line-30-arrow"/>
          <p:cNvSpPr>
            <a:spLocks noGrp="1"/>
          </p:cNvSpPr>
          <p:nvPr/>
        </p:nvSpPr>
        <p:spPr>
          <a:xfrm rot="10800000">
            <a:off x="8848725" y="8001000"/>
            <a:ext cx="171450" cy="171450"/>
          </a:xfrm>
          <a:prstGeom prst="triangle">
            <a:avLst/>
          </a:prstGeom>
          <a:solidFill>
            <a:srgbClr val="19384A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s3-line-31"/>
          <p:cNvSpPr>
            <a:spLocks noGrp="1"/>
          </p:cNvSpPr>
          <p:nvPr/>
        </p:nvSpPr>
        <p:spPr>
          <a:xfrm>
            <a:off x="14744700" y="7219950"/>
            <a:ext cx="0" cy="866775"/>
          </a:xfrm>
          <a:prstGeom prst="line">
            <a:avLst/>
          </a:prstGeom>
          <a:noFill/>
          <a:ln w="28575">
            <a:solidFill>
              <a:srgbClr val="19384A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s3-line-31-arrow"/>
          <p:cNvSpPr>
            <a:spLocks noGrp="1"/>
          </p:cNvSpPr>
          <p:nvPr/>
        </p:nvSpPr>
        <p:spPr>
          <a:xfrm rot="10800000">
            <a:off x="14658975" y="8001000"/>
            <a:ext cx="171450" cy="171450"/>
          </a:xfrm>
          <a:prstGeom prst="triangle">
            <a:avLst/>
          </a:prstGeom>
          <a:solidFill>
            <a:srgbClr val="19384A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olished background 4-1"/>
          <p:cNvSpPr>
            <a:spLocks noGrp="1"/>
          </p:cNvSpPr>
          <p:nvPr/>
        </p:nvSpPr>
        <p:spPr>
          <a:xfrm>
            <a:off x="762000" y="5810250"/>
            <a:ext cx="16764000" cy="3390900"/>
          </a:xfrm>
          <a:prstGeom prst="rect">
            <a:avLst/>
          </a:prstGeom>
          <a:solidFill>
            <a:srgbClr val="EAF0EB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Polished background 4-2"/>
          <p:cNvSpPr>
            <a:spLocks noGrp="1"/>
          </p:cNvSpPr>
          <p:nvPr/>
        </p:nvSpPr>
        <p:spPr>
          <a:xfrm>
            <a:off x="762000" y="5810250"/>
            <a:ext cx="76200" cy="3390900"/>
          </a:xfrm>
          <a:prstGeom prst="rect">
            <a:avLst/>
          </a:prstGeom>
          <a:solidFill>
            <a:srgbClr val="19384A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Polished background 4-3"/>
          <p:cNvSpPr>
            <a:spLocks noGrp="1"/>
          </p:cNvSpPr>
          <p:nvPr/>
        </p:nvSpPr>
        <p:spPr>
          <a:xfrm>
            <a:off x="1028700" y="2257425"/>
            <a:ext cx="16230600" cy="19050"/>
          </a:xfrm>
          <a:prstGeom prst="rect">
            <a:avLst/>
          </a:prstGeom>
          <a:solidFill>
            <a:srgbClr val="D8D9CA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Polished background 4-4"/>
          <p:cNvSpPr>
            <a:spLocks noGrp="1"/>
          </p:cNvSpPr>
          <p:nvPr/>
        </p:nvSpPr>
        <p:spPr>
          <a:xfrm>
            <a:off x="1028700" y="2257425"/>
            <a:ext cx="857250" cy="38100"/>
          </a:xfrm>
          <a:prstGeom prst="rect">
            <a:avLst/>
          </a:prstGeom>
          <a:solidFill>
            <a:srgbClr val="B8402E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s4-text-0"/>
          <p:cNvSpPr>
            <a:spLocks noGrp="1"/>
          </p:cNvSpPr>
          <p:nvPr/>
        </p:nvSpPr>
        <p:spPr>
          <a:xfrm>
            <a:off x="1028700" y="695325"/>
            <a:ext cx="16144875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 algn="l"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 algn="l"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 algn="l"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 algn="l"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 algn="l"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 algn="l"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 algn="l"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 algn="l"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 algn="l"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 algn="l"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DATA AND EVALUATION</a:t>
            </a:r>
            <a:endParaRPr sz="1875" b="1">
              <a:solidFill>
                <a:srgbClr val="B8402E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2" name="s4-text-1"/>
          <p:cNvSpPr>
            <a:spLocks noGrp="1"/>
          </p:cNvSpPr>
          <p:nvPr/>
        </p:nvSpPr>
        <p:spPr>
          <a:xfrm>
            <a:off x="1028700" y="1295400"/>
            <a:ext cx="16230600" cy="1000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54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 algn="l">
              <a:defRPr sz="54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 algn="l">
              <a:defRPr sz="54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 algn="l">
              <a:defRPr sz="54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 algn="l">
              <a:defRPr sz="54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 algn="l">
              <a:defRPr sz="54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 algn="l">
              <a:defRPr sz="54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 algn="l">
              <a:defRPr sz="54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 algn="l">
              <a:defRPr sz="54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 algn="l">
              <a:defRPr sz="54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 algn="l">
              <a:defRPr sz="54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54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Datasets and Grouped Evaluation</a:t>
            </a:r>
            <a:endParaRPr sz="5400" b="1">
              <a:solidFill>
                <a:srgbClr val="19384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graphicFrame>
        <p:nvGraphicFramePr>
          <p:cNvPr id="3" name="表格 2"/>
          <p:cNvGraphicFramePr/>
          <p:nvPr/>
        </p:nvGraphicFramePr>
        <p:xfrm>
          <a:off x="1028700" y="2781300"/>
          <a:ext cx="16230600" cy="2476500"/>
        </p:xfrm>
        <a:graphic>
          <a:graphicData uri="http://schemas.openxmlformats.org/drawingml/2006/table">
            <a:tbl>
              <a:tblPr/>
              <a:tblGrid>
                <a:gridCol w="5810250"/>
                <a:gridCol w="3190875"/>
                <a:gridCol w="3714750"/>
                <a:gridCol w="3514725"/>
              </a:tblGrid>
              <a:tr h="825500">
                <a:tc>
                  <a:txBody>
                    <a:bodyPr/>
                    <a:lstStyle/>
                    <a:p>
                      <a:pPr algn="l"/>
                      <a:r>
                        <a:rPr sz="2400" b="1">
                          <a:solidFill>
                            <a:srgbClr val="FFF8E9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Recognition task</a:t>
                      </a:r>
                      <a:endParaRPr sz="2400" b="1">
                        <a:solidFill>
                          <a:srgbClr val="FFF8E9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76200" marR="76200" marT="76200" marB="76200" anchor="ctr">
                    <a:lnL w="28575">
                      <a:solidFill>
                        <a:srgbClr val="FFF8E9"/>
                      </a:solidFill>
                    </a:lnL>
                    <a:lnR w="28575">
                      <a:solidFill>
                        <a:srgbClr val="FFF8E9"/>
                      </a:solidFill>
                    </a:lnR>
                    <a:lnT w="28575">
                      <a:solidFill>
                        <a:srgbClr val="FFF8E9"/>
                      </a:solidFill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rgbClr val="1938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400" b="1">
                          <a:solidFill>
                            <a:srgbClr val="FFF8E9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Project clips</a:t>
                      </a:r>
                      <a:endParaRPr sz="2400" b="1">
                        <a:solidFill>
                          <a:srgbClr val="FFF8E9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>
                      <a:solidFill>
                        <a:srgbClr val="FFF8E9"/>
                      </a:solidFill>
                    </a:lnR>
                    <a:lnT w="28575">
                      <a:solidFill>
                        <a:srgbClr val="FFF8E9"/>
                      </a:solidFill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rgbClr val="1938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400" b="1">
                          <a:solidFill>
                            <a:srgbClr val="FFF8E9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Development</a:t>
                      </a:r>
                      <a:endParaRPr sz="2400" b="1">
                        <a:solidFill>
                          <a:srgbClr val="FFF8E9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>
                      <a:solidFill>
                        <a:srgbClr val="FFF8E9"/>
                      </a:solidFill>
                    </a:lnR>
                    <a:lnT w="28575">
                      <a:solidFill>
                        <a:srgbClr val="FFF8E9"/>
                      </a:solidFill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rgbClr val="1938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400" b="1">
                          <a:solidFill>
                            <a:srgbClr val="FFF8E9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Small test</a:t>
                      </a:r>
                      <a:endParaRPr sz="2400" b="1">
                        <a:solidFill>
                          <a:srgbClr val="FFF8E9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>
                      <a:solidFill>
                        <a:srgbClr val="FFF8E9"/>
                      </a:solidFill>
                    </a:lnR>
                    <a:lnT w="28575">
                      <a:solidFill>
                        <a:srgbClr val="FFF8E9"/>
                      </a:solidFill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rgbClr val="19384A"/>
                    </a:solidFill>
                  </a:tcPr>
                </a:tc>
              </a:tr>
              <a:tr h="825500">
                <a:tc>
                  <a:txBody>
                    <a:bodyPr/>
                    <a:lstStyle/>
                    <a:p>
                      <a:pPr algn="l"/>
                      <a:r>
                        <a:rPr sz="2400" b="1">
                          <a:solidFill>
                            <a:srgbClr val="19384A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Dog behaviour</a:t>
                      </a:r>
                      <a:endParaRPr sz="2400" b="1">
                        <a:solidFill>
                          <a:srgbClr val="19384A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76200" marR="76200" marT="76200" marB="76200" anchor="ctr">
                    <a:lnL w="28575">
                      <a:solidFill>
                        <a:srgbClr val="FFF8E9"/>
                      </a:solidFill>
                    </a:lnL>
                    <a:lnR w="28575">
                      <a:solidFill>
                        <a:srgbClr val="FFF8E9"/>
                      </a:solidFill>
                    </a:lnR>
                    <a:lnT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400" b="0">
                          <a:solidFill>
                            <a:srgbClr val="19384A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170</a:t>
                      </a:r>
                      <a:endParaRPr sz="2400" b="0">
                        <a:solidFill>
                          <a:srgbClr val="19384A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>
                      <a:solidFill>
                        <a:srgbClr val="FFF8E9"/>
                      </a:solidFill>
                    </a:lnR>
                    <a:lnT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400" b="0">
                          <a:solidFill>
                            <a:srgbClr val="19384A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137</a:t>
                      </a:r>
                      <a:endParaRPr sz="2400" b="0">
                        <a:solidFill>
                          <a:srgbClr val="19384A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>
                      <a:solidFill>
                        <a:srgbClr val="FFF8E9"/>
                      </a:solidFill>
                    </a:lnR>
                    <a:lnT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400" b="0">
                          <a:solidFill>
                            <a:srgbClr val="19384A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33</a:t>
                      </a:r>
                      <a:endParaRPr sz="2400" b="0">
                        <a:solidFill>
                          <a:srgbClr val="19384A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>
                      <a:solidFill>
                        <a:srgbClr val="FFF8E9"/>
                      </a:solidFill>
                    </a:lnR>
                    <a:lnT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rgbClr val="FFFDF8"/>
                    </a:solidFill>
                  </a:tcPr>
                </a:tc>
              </a:tr>
              <a:tr h="825500">
                <a:tc>
                  <a:txBody>
                    <a:bodyPr/>
                    <a:lstStyle/>
                    <a:p>
                      <a:pPr algn="l"/>
                      <a:r>
                        <a:rPr sz="2400" b="1">
                          <a:solidFill>
                            <a:srgbClr val="19384A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Human-dog interaction</a:t>
                      </a:r>
                      <a:endParaRPr sz="2400" b="1">
                        <a:solidFill>
                          <a:srgbClr val="19384A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76200" marR="76200" marT="76200" marB="76200" anchor="ctr">
                    <a:lnL w="28575">
                      <a:solidFill>
                        <a:srgbClr val="FFF8E9"/>
                      </a:solidFill>
                    </a:lnL>
                    <a:lnR w="28575">
                      <a:solidFill>
                        <a:srgbClr val="FFF8E9"/>
                      </a:solidFill>
                    </a:lnR>
                    <a:lnT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400" b="0">
                          <a:solidFill>
                            <a:srgbClr val="19384A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121</a:t>
                      </a:r>
                      <a:endParaRPr sz="2400" b="0">
                        <a:solidFill>
                          <a:srgbClr val="19384A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>
                      <a:solidFill>
                        <a:srgbClr val="FFF8E9"/>
                      </a:solidFill>
                    </a:lnR>
                    <a:lnT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400" b="0">
                          <a:solidFill>
                            <a:srgbClr val="19384A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97</a:t>
                      </a:r>
                      <a:endParaRPr sz="2400" b="0">
                        <a:solidFill>
                          <a:srgbClr val="19384A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>
                      <a:solidFill>
                        <a:srgbClr val="FFF8E9"/>
                      </a:solidFill>
                    </a:lnR>
                    <a:lnT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400" b="0">
                          <a:solidFill>
                            <a:srgbClr val="19384A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24</a:t>
                      </a:r>
                      <a:endParaRPr sz="2400" b="0">
                        <a:solidFill>
                          <a:srgbClr val="19384A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>
                      <a:solidFill>
                        <a:srgbClr val="FFF8E9"/>
                      </a:solidFill>
                    </a:lnR>
                    <a:lnT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  <p:sp>
        <p:nvSpPr>
          <p:cNvPr id="4" name="s4-text-3"/>
          <p:cNvSpPr>
            <a:spLocks noGrp="1"/>
          </p:cNvSpPr>
          <p:nvPr/>
        </p:nvSpPr>
        <p:spPr>
          <a:xfrm>
            <a:off x="1028700" y="5810250"/>
            <a:ext cx="154305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37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 algn="l">
              <a:defRPr sz="337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 algn="l">
              <a:defRPr sz="337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 algn="l">
              <a:defRPr sz="337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 algn="l">
              <a:defRPr sz="337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 algn="l">
              <a:defRPr sz="337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 algn="l">
              <a:defRPr sz="337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 algn="l">
              <a:defRPr sz="337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 algn="l">
              <a:defRPr sz="337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 algn="l">
              <a:defRPr sz="337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 algn="l">
              <a:defRPr sz="337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337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Group by dog, person and source video</a:t>
            </a:r>
            <a:endParaRPr sz="3375" b="1">
              <a:solidFill>
                <a:srgbClr val="19384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5" name="s4-text-4"/>
          <p:cNvSpPr>
            <a:spLocks noGrp="1"/>
          </p:cNvSpPr>
          <p:nvPr/>
        </p:nvSpPr>
        <p:spPr>
          <a:xfrm>
            <a:off x="1028700" y="6667500"/>
            <a:ext cx="1590675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 algn="l">
              <a:defRPr sz="2400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 algn="l">
              <a:defRPr sz="2400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 algn="l">
              <a:defRPr sz="2400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 algn="l">
              <a:defRPr sz="2400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 algn="l">
              <a:defRPr sz="2400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 algn="l">
              <a:defRPr sz="2400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 algn="l">
              <a:defRPr sz="2400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 algn="l">
              <a:defRPr sz="2400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 algn="l">
              <a:defRPr sz="2400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 algn="l">
              <a:defRPr sz="2400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400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Shared identities and source videos stay together in every split and CV fold.</a:t>
            </a:r>
            <a:endParaRPr sz="2400" b="0">
              <a:solidFill>
                <a:srgbClr val="19384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6" name="s4-rect-5"/>
          <p:cNvSpPr>
            <a:spLocks noGrp="1"/>
          </p:cNvSpPr>
          <p:nvPr/>
        </p:nvSpPr>
        <p:spPr>
          <a:xfrm>
            <a:off x="1028700" y="7581900"/>
            <a:ext cx="2952750" cy="723900"/>
          </a:xfrm>
          <a:prstGeom prst="roundRect">
            <a:avLst>
              <a:gd name="adj" fmla="val 15789"/>
            </a:avLst>
          </a:prstGeom>
          <a:solidFill>
            <a:srgbClr val="19384A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s4-text-6"/>
          <p:cNvSpPr>
            <a:spLocks noGrp="1"/>
          </p:cNvSpPr>
          <p:nvPr/>
        </p:nvSpPr>
        <p:spPr>
          <a:xfrm>
            <a:off x="1028700" y="7772400"/>
            <a:ext cx="29527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225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 algn="ctr">
              <a:defRPr sz="225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 algn="ctr">
              <a:defRPr sz="225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 algn="ctr">
              <a:defRPr sz="225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 algn="ctr">
              <a:defRPr sz="225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 algn="ctr">
              <a:defRPr sz="225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 algn="ctr">
              <a:defRPr sz="225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 algn="ctr">
              <a:defRPr sz="225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 algn="ctr">
              <a:defRPr sz="225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 algn="ctr">
              <a:defRPr sz="225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 algn="ctr">
              <a:defRPr sz="225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25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Training</a:t>
            </a:r>
            <a:endParaRPr sz="2250" b="1">
              <a:solidFill>
                <a:srgbClr val="FFF8E9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8" name="s4-rect-7"/>
          <p:cNvSpPr>
            <a:spLocks noGrp="1"/>
          </p:cNvSpPr>
          <p:nvPr/>
        </p:nvSpPr>
        <p:spPr>
          <a:xfrm>
            <a:off x="4219575" y="7581900"/>
            <a:ext cx="2952750" cy="723900"/>
          </a:xfrm>
          <a:prstGeom prst="roundRect">
            <a:avLst>
              <a:gd name="adj" fmla="val 15789"/>
            </a:avLst>
          </a:prstGeom>
          <a:solidFill>
            <a:srgbClr val="19384A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s4-text-8"/>
          <p:cNvSpPr>
            <a:spLocks noGrp="1"/>
          </p:cNvSpPr>
          <p:nvPr/>
        </p:nvSpPr>
        <p:spPr>
          <a:xfrm>
            <a:off x="4219575" y="7772400"/>
            <a:ext cx="29527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225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 algn="ctr">
              <a:defRPr sz="225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 algn="ctr">
              <a:defRPr sz="225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 algn="ctr">
              <a:defRPr sz="225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 algn="ctr">
              <a:defRPr sz="225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 algn="ctr">
              <a:defRPr sz="225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 algn="ctr">
              <a:defRPr sz="225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 algn="ctr">
              <a:defRPr sz="225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 algn="ctr">
              <a:defRPr sz="225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 algn="ctr">
              <a:defRPr sz="225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 algn="ctr">
              <a:defRPr sz="225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25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Training</a:t>
            </a:r>
            <a:endParaRPr sz="2250" b="1">
              <a:solidFill>
                <a:srgbClr val="FFF8E9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10" name="s4-rect-9"/>
          <p:cNvSpPr>
            <a:spLocks noGrp="1"/>
          </p:cNvSpPr>
          <p:nvPr/>
        </p:nvSpPr>
        <p:spPr>
          <a:xfrm>
            <a:off x="7410450" y="7581900"/>
            <a:ext cx="2952750" cy="723900"/>
          </a:xfrm>
          <a:prstGeom prst="roundRect">
            <a:avLst>
              <a:gd name="adj" fmla="val 15789"/>
            </a:avLst>
          </a:prstGeom>
          <a:solidFill>
            <a:srgbClr val="19384A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s4-text-10"/>
          <p:cNvSpPr>
            <a:spLocks noGrp="1"/>
          </p:cNvSpPr>
          <p:nvPr/>
        </p:nvSpPr>
        <p:spPr>
          <a:xfrm>
            <a:off x="7410450" y="7772400"/>
            <a:ext cx="29527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225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 algn="ctr">
              <a:defRPr sz="225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 algn="ctr">
              <a:defRPr sz="225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 algn="ctr">
              <a:defRPr sz="225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 algn="ctr">
              <a:defRPr sz="225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 algn="ctr">
              <a:defRPr sz="225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 algn="ctr">
              <a:defRPr sz="225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 algn="ctr">
              <a:defRPr sz="225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 algn="ctr">
              <a:defRPr sz="225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 algn="ctr">
              <a:defRPr sz="225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 algn="ctr">
              <a:defRPr sz="225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25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Training</a:t>
            </a:r>
            <a:endParaRPr sz="2250" b="1">
              <a:solidFill>
                <a:srgbClr val="FFF8E9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12" name="s4-rect-11"/>
          <p:cNvSpPr>
            <a:spLocks noGrp="1"/>
          </p:cNvSpPr>
          <p:nvPr/>
        </p:nvSpPr>
        <p:spPr>
          <a:xfrm>
            <a:off x="10601325" y="7581900"/>
            <a:ext cx="2952750" cy="723900"/>
          </a:xfrm>
          <a:prstGeom prst="roundRect">
            <a:avLst>
              <a:gd name="adj" fmla="val 15789"/>
            </a:avLst>
          </a:prstGeom>
          <a:solidFill>
            <a:srgbClr val="19384A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s4-text-12"/>
          <p:cNvSpPr>
            <a:spLocks noGrp="1"/>
          </p:cNvSpPr>
          <p:nvPr/>
        </p:nvSpPr>
        <p:spPr>
          <a:xfrm>
            <a:off x="10601325" y="7772400"/>
            <a:ext cx="29527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225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 algn="ctr">
              <a:defRPr sz="225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 algn="ctr">
              <a:defRPr sz="225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 algn="ctr">
              <a:defRPr sz="225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 algn="ctr">
              <a:defRPr sz="225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 algn="ctr">
              <a:defRPr sz="225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 algn="ctr">
              <a:defRPr sz="225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 algn="ctr">
              <a:defRPr sz="225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 algn="ctr">
              <a:defRPr sz="225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 algn="ctr">
              <a:defRPr sz="225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 algn="ctr">
              <a:defRPr sz="225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25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Training</a:t>
            </a:r>
            <a:endParaRPr sz="2250" b="1">
              <a:solidFill>
                <a:srgbClr val="FFF8E9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14" name="s4-rect-13"/>
          <p:cNvSpPr>
            <a:spLocks noGrp="1"/>
          </p:cNvSpPr>
          <p:nvPr/>
        </p:nvSpPr>
        <p:spPr>
          <a:xfrm>
            <a:off x="13792200" y="7581900"/>
            <a:ext cx="2952750" cy="723900"/>
          </a:xfrm>
          <a:prstGeom prst="roundRect">
            <a:avLst>
              <a:gd name="adj" fmla="val 15789"/>
            </a:avLst>
          </a:prstGeom>
          <a:solidFill>
            <a:srgbClr val="B8402E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s4-text-14"/>
          <p:cNvSpPr>
            <a:spLocks noGrp="1"/>
          </p:cNvSpPr>
          <p:nvPr/>
        </p:nvSpPr>
        <p:spPr>
          <a:xfrm>
            <a:off x="13792200" y="7772400"/>
            <a:ext cx="29527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225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 algn="ctr">
              <a:defRPr sz="225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 algn="ctr">
              <a:defRPr sz="225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 algn="ctr">
              <a:defRPr sz="225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 algn="ctr">
              <a:defRPr sz="225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 algn="ctr">
              <a:defRPr sz="225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 algn="ctr">
              <a:defRPr sz="225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 algn="ctr">
              <a:defRPr sz="225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 algn="ctr">
              <a:defRPr sz="225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 algn="ctr">
              <a:defRPr sz="225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 algn="ctr">
              <a:defRPr sz="225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25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Validation</a:t>
            </a:r>
            <a:endParaRPr sz="2250" b="1">
              <a:solidFill>
                <a:srgbClr val="FFF8E9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16" name="s4-text-15"/>
          <p:cNvSpPr>
            <a:spLocks noGrp="1"/>
          </p:cNvSpPr>
          <p:nvPr/>
        </p:nvSpPr>
        <p:spPr>
          <a:xfrm>
            <a:off x="1028700" y="8591550"/>
            <a:ext cx="1609725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 algn="l">
              <a:defRPr sz="2400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 algn="l">
              <a:defRPr sz="2400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 algn="l">
              <a:defRPr sz="2400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 algn="l">
              <a:defRPr sz="2400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 algn="l">
              <a:defRPr sz="2400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 algn="l">
              <a:defRPr sz="2400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 algn="l">
              <a:defRPr sz="2400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 algn="l">
              <a:defRPr sz="2400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 algn="l">
              <a:defRPr sz="2400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 algn="l">
              <a:defRPr sz="2400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400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Repeat five times. Combine validation predictions into OOF results.</a:t>
            </a:r>
            <a:endParaRPr sz="2400" b="0">
              <a:solidFill>
                <a:srgbClr val="19384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17" name="s4-text-16"/>
          <p:cNvSpPr>
            <a:spLocks noGrp="1"/>
          </p:cNvSpPr>
          <p:nvPr/>
        </p:nvSpPr>
        <p:spPr>
          <a:xfrm>
            <a:off x="1028700" y="9601200"/>
            <a:ext cx="16192500" cy="523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 algn="l">
              <a:defRPr sz="1800" b="0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 algn="l">
              <a:defRPr sz="1800" b="0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 algn="l">
              <a:defRPr sz="1800" b="0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 algn="l">
              <a:defRPr sz="1800" b="0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 algn="l">
              <a:defRPr sz="1800" b="0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 algn="l">
              <a:defRPr sz="1800" b="0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 algn="l">
              <a:defRPr sz="1800" b="0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 algn="l">
              <a:defRPr sz="1800" b="0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 algn="l">
              <a:defRPr sz="1800" b="0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 algn="l">
              <a:defRPr sz="1800" b="0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1800" b="0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Pose data: APT-36K 1,691 train / 374 val dog instances. Indoor evaluation: 36 frames / 28 dogs.</a:t>
            </a:r>
            <a:endParaRPr sz="1800" b="0">
              <a:solidFill>
                <a:srgbClr val="B8402E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olished background 5-1"/>
          <p:cNvSpPr>
            <a:spLocks noGrp="1"/>
          </p:cNvSpPr>
          <p:nvPr/>
        </p:nvSpPr>
        <p:spPr>
          <a:xfrm>
            <a:off x="762000" y="2743200"/>
            <a:ext cx="7734300" cy="6334125"/>
          </a:xfrm>
          <a:prstGeom prst="rect">
            <a:avLst/>
          </a:prstGeom>
          <a:solidFill>
            <a:srgbClr val="F6EADC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Polished background 5-2"/>
          <p:cNvSpPr>
            <a:spLocks noGrp="1"/>
          </p:cNvSpPr>
          <p:nvPr/>
        </p:nvSpPr>
        <p:spPr>
          <a:xfrm>
            <a:off x="9286875" y="2743200"/>
            <a:ext cx="8239125" cy="6334125"/>
          </a:xfrm>
          <a:prstGeom prst="rect">
            <a:avLst/>
          </a:prstGeom>
          <a:solidFill>
            <a:srgbClr val="EAF0EB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Polished background 5-3"/>
          <p:cNvSpPr>
            <a:spLocks noGrp="1"/>
          </p:cNvSpPr>
          <p:nvPr/>
        </p:nvSpPr>
        <p:spPr>
          <a:xfrm>
            <a:off x="1028700" y="2257425"/>
            <a:ext cx="16230600" cy="19050"/>
          </a:xfrm>
          <a:prstGeom prst="rect">
            <a:avLst/>
          </a:prstGeom>
          <a:solidFill>
            <a:srgbClr val="D8D9CA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Polished background 5-4"/>
          <p:cNvSpPr>
            <a:spLocks noGrp="1"/>
          </p:cNvSpPr>
          <p:nvPr/>
        </p:nvSpPr>
        <p:spPr>
          <a:xfrm>
            <a:off x="1028700" y="2257425"/>
            <a:ext cx="857250" cy="38100"/>
          </a:xfrm>
          <a:prstGeom prst="rect">
            <a:avLst/>
          </a:prstGeom>
          <a:solidFill>
            <a:srgbClr val="B8402E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s5-text-0"/>
          <p:cNvSpPr>
            <a:spLocks noGrp="1"/>
          </p:cNvSpPr>
          <p:nvPr/>
        </p:nvSpPr>
        <p:spPr>
          <a:xfrm>
            <a:off x="1028700" y="695325"/>
            <a:ext cx="16144875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 algn="l"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 algn="l"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 algn="l"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 algn="l"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 algn="l"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 algn="l"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 algn="l"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 algn="l"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 algn="l"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 algn="l"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POSE EXTRACTION</a:t>
            </a:r>
            <a:endParaRPr sz="1875" b="1">
              <a:solidFill>
                <a:srgbClr val="B8402E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2" name="s5-text-1"/>
          <p:cNvSpPr>
            <a:spLocks noGrp="1"/>
          </p:cNvSpPr>
          <p:nvPr/>
        </p:nvSpPr>
        <p:spPr>
          <a:xfrm>
            <a:off x="1028700" y="1295400"/>
            <a:ext cx="16230600" cy="1000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54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 algn="l">
              <a:defRPr sz="54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 algn="l">
              <a:defRPr sz="54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 algn="l">
              <a:defRPr sz="54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 algn="l">
              <a:defRPr sz="54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 algn="l">
              <a:defRPr sz="54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 algn="l">
              <a:defRPr sz="54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 algn="l">
              <a:defRPr sz="54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 algn="l">
              <a:defRPr sz="54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 algn="l">
              <a:defRPr sz="54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 algn="l">
              <a:defRPr sz="54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54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Detection and Skeleton Extraction</a:t>
            </a:r>
            <a:endParaRPr sz="5400" b="1">
              <a:solidFill>
                <a:srgbClr val="19384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3" name="s5-text-2"/>
          <p:cNvSpPr>
            <a:spLocks noGrp="1"/>
          </p:cNvSpPr>
          <p:nvPr/>
        </p:nvSpPr>
        <p:spPr>
          <a:xfrm>
            <a:off x="1028700" y="2743200"/>
            <a:ext cx="666750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2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 algn="l">
              <a:defRPr sz="32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 algn="l">
              <a:defRPr sz="32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 algn="l">
              <a:defRPr sz="32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 algn="l">
              <a:defRPr sz="32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 algn="l">
              <a:defRPr sz="32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 algn="l">
              <a:defRPr sz="32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 algn="l">
              <a:defRPr sz="32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 algn="l">
              <a:defRPr sz="32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 algn="l">
              <a:defRPr sz="32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 algn="l">
              <a:defRPr sz="32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32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Dog: AP-10K-17 pose</a:t>
            </a:r>
            <a:endParaRPr sz="3225" b="1">
              <a:solidFill>
                <a:srgbClr val="19384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4" name="s5-text-3"/>
          <p:cNvSpPr>
            <a:spLocks noGrp="1"/>
          </p:cNvSpPr>
          <p:nvPr/>
        </p:nvSpPr>
        <p:spPr>
          <a:xfrm>
            <a:off x="9696450" y="2743200"/>
            <a:ext cx="752475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2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 algn="l">
              <a:defRPr sz="32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 algn="l">
              <a:defRPr sz="32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 algn="l">
              <a:defRPr sz="32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 algn="l">
              <a:defRPr sz="32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 algn="l">
              <a:defRPr sz="32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 algn="l">
              <a:defRPr sz="32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 algn="l">
              <a:defRPr sz="32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 algn="l">
              <a:defRPr sz="32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 algn="l">
              <a:defRPr sz="32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 algn="l">
              <a:defRPr sz="32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32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Person + dog: boxes and skeletons</a:t>
            </a:r>
            <a:endParaRPr sz="3225" b="1">
              <a:solidFill>
                <a:srgbClr val="19384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7768" y="3629025"/>
            <a:ext cx="6350318" cy="476250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rcRect l="30000" t="17000" r="27000" b="7000"/>
          <a:stretch>
            <a:fillRect/>
          </a:stretch>
        </p:blipFill>
        <p:spPr>
          <a:xfrm>
            <a:off x="10711815" y="3590925"/>
            <a:ext cx="5265420" cy="4905375"/>
          </a:xfrm>
          <a:prstGeom prst="rect">
            <a:avLst/>
          </a:prstGeom>
        </p:spPr>
      </p:pic>
      <p:sp>
        <p:nvSpPr>
          <p:cNvPr id="7" name="s5-text-6"/>
          <p:cNvSpPr>
            <a:spLocks noGrp="1"/>
          </p:cNvSpPr>
          <p:nvPr/>
        </p:nvSpPr>
        <p:spPr>
          <a:xfrm>
            <a:off x="1028700" y="8639175"/>
            <a:ext cx="7620000" cy="523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 algn="l">
              <a:defRPr sz="21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 algn="l">
              <a:defRPr sz="21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 algn="l">
              <a:defRPr sz="21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 algn="l">
              <a:defRPr sz="21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 algn="l">
              <a:defRPr sz="21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 algn="l">
              <a:defRPr sz="21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 algn="l">
              <a:defRPr sz="21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 algn="l">
              <a:defRPr sz="21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 algn="l">
              <a:defRPr sz="21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 algn="l">
              <a:defRPr sz="21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1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Joint data: x, y, confidence</a:t>
            </a:r>
            <a:endParaRPr sz="2100" b="1">
              <a:solidFill>
                <a:srgbClr val="19384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8" name="s5-text-7"/>
          <p:cNvSpPr>
            <a:spLocks noGrp="1"/>
          </p:cNvSpPr>
          <p:nvPr/>
        </p:nvSpPr>
        <p:spPr>
          <a:xfrm>
            <a:off x="9696450" y="8639175"/>
            <a:ext cx="7524750" cy="523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 algn="l">
              <a:defRPr sz="21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 algn="l">
              <a:defRPr sz="21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 algn="l">
              <a:defRPr sz="21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 algn="l">
              <a:defRPr sz="21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 algn="l">
              <a:defRPr sz="21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 algn="l">
              <a:defRPr sz="21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 algn="l">
              <a:defRPr sz="21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 algn="l">
              <a:defRPr sz="21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 algn="l">
              <a:defRPr sz="21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 algn="l">
              <a:defRPr sz="21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1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Recognition input: 32 frames</a:t>
            </a:r>
            <a:endParaRPr sz="2100" b="1">
              <a:solidFill>
                <a:srgbClr val="19384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9" name="s5-text-8"/>
          <p:cNvSpPr>
            <a:spLocks noGrp="1"/>
          </p:cNvSpPr>
          <p:nvPr/>
        </p:nvSpPr>
        <p:spPr>
          <a:xfrm>
            <a:off x="1028700" y="9582150"/>
            <a:ext cx="16192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 algn="l">
              <a:defRPr sz="1800" b="0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 algn="l">
              <a:defRPr sz="1800" b="0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 algn="l">
              <a:defRPr sz="1800" b="0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 algn="l">
              <a:defRPr sz="1800" b="0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 algn="l">
              <a:defRPr sz="1800" b="0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 algn="l">
              <a:defRPr sz="1800" b="0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 algn="l">
              <a:defRPr sz="1800" b="0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 algn="l">
              <a:defRPr sz="1800" b="0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 algn="l">
              <a:defRPr sz="1800" b="0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 algn="l">
              <a:defRPr sz="1800" b="0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1800" b="0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Original-image coordinates and detection boxes preserve global and cross-subject geometry.</a:t>
            </a:r>
            <a:endParaRPr sz="1800" b="0">
              <a:solidFill>
                <a:srgbClr val="B8402E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1028700" y="2381250"/>
            <a:ext cx="162306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100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>
              <a:defRPr sz="2100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>
              <a:defRPr sz="2100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>
              <a:defRPr sz="2100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>
              <a:defRPr sz="2100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>
              <a:defRPr sz="2100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>
              <a:defRPr sz="2100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>
              <a:defRPr sz="2100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>
              <a:defRPr sz="2100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>
              <a:defRPr sz="2100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>
              <a:defRPr sz="2100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100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RTMDet-m locates person and dog boxes. RTMPose-m estimates 17 joints inside each box.</a:t>
            </a:r>
            <a:endParaRPr sz="2100" b="1">
              <a:solidFill>
                <a:srgbClr val="B8402E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/>
          <p:cNvSpPr>
            <a:spLocks noGrp="1"/>
          </p:cNvSpPr>
          <p:nvPr/>
        </p:nvSpPr>
        <p:spPr>
          <a:xfrm>
            <a:off x="0" y="0"/>
            <a:ext cx="18288000" cy="95250"/>
          </a:xfrm>
          <a:prstGeom prst="rect">
            <a:avLst/>
          </a:prstGeom>
          <a:solidFill>
            <a:srgbClr val="19384A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1028700" y="695325"/>
            <a:ext cx="162306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POSE QUALITY EVALUATION</a:t>
            </a:r>
            <a:endParaRPr sz="1875" b="1">
              <a:solidFill>
                <a:srgbClr val="B8402E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1028700" y="1295400"/>
            <a:ext cx="16230600" cy="1000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5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>
              <a:defRPr sz="5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>
              <a:defRPr sz="5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>
              <a:defRPr sz="5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>
              <a:defRPr sz="5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>
              <a:defRPr sz="5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>
              <a:defRPr sz="5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>
              <a:defRPr sz="5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>
              <a:defRPr sz="5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>
              <a:defRPr sz="5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>
              <a:defRPr sz="5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5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Dog Pose Quality and Model Selection</a:t>
            </a:r>
            <a:endParaRPr sz="5250" b="1">
              <a:solidFill>
                <a:srgbClr val="19384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1028700" y="2257425"/>
            <a:ext cx="16230600" cy="19050"/>
          </a:xfrm>
          <a:prstGeom prst="rect">
            <a:avLst/>
          </a:prstGeom>
          <a:solidFill>
            <a:srgbClr val="D8D9CA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1028700" y="2257425"/>
            <a:ext cx="857250" cy="38100"/>
          </a:xfrm>
          <a:prstGeom prst="rect">
            <a:avLst/>
          </a:prstGeom>
          <a:solidFill>
            <a:srgbClr val="B8402E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028700" y="2533650"/>
            <a:ext cx="16230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5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>
              <a:defRPr sz="25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>
              <a:defRPr sz="25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>
              <a:defRPr sz="25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>
              <a:defRPr sz="25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>
              <a:defRPr sz="25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>
              <a:defRPr sz="25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>
              <a:defRPr sz="25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>
              <a:defRPr sz="25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>
              <a:defRPr sz="25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>
              <a:defRPr sz="25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5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36 indoor frames / 28 dogs / 547 manually labelled visible joints</a:t>
            </a:r>
            <a:endParaRPr sz="2550" b="1">
              <a:solidFill>
                <a:srgbClr val="19384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1028700" y="3105150"/>
            <a:ext cx="162306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175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>
              <a:defRPr sz="2175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>
              <a:defRPr sz="2175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>
              <a:defRPr sz="2175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>
              <a:defRPr sz="2175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>
              <a:defRPr sz="2175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>
              <a:defRPr sz="2175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>
              <a:defRPr sz="2175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>
              <a:defRPr sz="2175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>
              <a:defRPr sz="2175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>
              <a:defRPr sz="2175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175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Real pipeline: RTMDet boxes + RTMPose predictions. The same frames are used for P0 and P1.</a:t>
            </a:r>
            <a:endParaRPr sz="2175" b="0">
              <a:solidFill>
                <a:srgbClr val="4F6470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graphicFrame>
        <p:nvGraphicFramePr>
          <p:cNvPr id="8" name="表格 7"/>
          <p:cNvGraphicFramePr/>
          <p:nvPr/>
        </p:nvGraphicFramePr>
        <p:xfrm>
          <a:off x="1028700" y="3810000"/>
          <a:ext cx="16230600" cy="2057400"/>
        </p:xfrm>
        <a:graphic>
          <a:graphicData uri="http://schemas.openxmlformats.org/drawingml/2006/table">
            <a:tbl>
              <a:tblPr/>
              <a:tblGrid>
                <a:gridCol w="4800600"/>
                <a:gridCol w="2286000"/>
                <a:gridCol w="2286000"/>
                <a:gridCol w="2286000"/>
                <a:gridCol w="2286000"/>
                <a:gridCol w="2286000"/>
              </a:tblGrid>
              <a:tr h="685800"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8E9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Dog pose model</a:t>
                      </a:r>
                      <a:endParaRPr sz="2400" b="1">
                        <a:solidFill>
                          <a:srgbClr val="FFF8E9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114300" marR="114300" marT="76200" marB="76200" anchor="ctr">
                    <a:lnL w="28575">
                      <a:solidFill>
                        <a:srgbClr val="FFF8E9"/>
                      </a:solidFill>
                    </a:lnL>
                    <a:lnR w="28575">
                      <a:solidFill>
                        <a:srgbClr val="FFF8E9"/>
                      </a:solidFill>
                    </a:lnR>
                    <a:lnT w="28575">
                      <a:solidFill>
                        <a:srgbClr val="FFF8E9"/>
                      </a:solidFill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rgbClr val="1938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8E9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OKS AP</a:t>
                      </a:r>
                      <a:endParaRPr sz="2400" b="1">
                        <a:solidFill>
                          <a:srgbClr val="FFF8E9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114300" marR="114300" marT="76200" marB="76200" anchor="ctr">
                    <a:lnL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>
                      <a:solidFill>
                        <a:srgbClr val="FFF8E9"/>
                      </a:solidFill>
                    </a:lnR>
                    <a:lnT w="28575">
                      <a:solidFill>
                        <a:srgbClr val="FFF8E9"/>
                      </a:solidFill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rgbClr val="1938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8E9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AP50</a:t>
                      </a:r>
                      <a:endParaRPr sz="2400" b="1">
                        <a:solidFill>
                          <a:srgbClr val="FFF8E9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114300" marR="114300" marT="76200" marB="76200" anchor="ctr">
                    <a:lnL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>
                      <a:solidFill>
                        <a:srgbClr val="FFF8E9"/>
                      </a:solidFill>
                    </a:lnR>
                    <a:lnT w="28575">
                      <a:solidFill>
                        <a:srgbClr val="FFF8E9"/>
                      </a:solidFill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rgbClr val="1938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8E9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AP75</a:t>
                      </a:r>
                      <a:endParaRPr sz="2400" b="1">
                        <a:solidFill>
                          <a:srgbClr val="FFF8E9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114300" marR="114300" marT="76200" marB="76200" anchor="ctr">
                    <a:lnL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>
                      <a:solidFill>
                        <a:srgbClr val="FFF8E9"/>
                      </a:solidFill>
                    </a:lnR>
                    <a:lnT w="28575">
                      <a:solidFill>
                        <a:srgbClr val="FFF8E9"/>
                      </a:solidFill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rgbClr val="1938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8E9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Mean OKS</a:t>
                      </a:r>
                      <a:endParaRPr sz="2400" b="1">
                        <a:solidFill>
                          <a:srgbClr val="FFF8E9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114300" marR="114300" marT="76200" marB="76200" anchor="ctr">
                    <a:lnL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>
                      <a:solidFill>
                        <a:srgbClr val="FFF8E9"/>
                      </a:solidFill>
                    </a:lnR>
                    <a:lnT w="28575">
                      <a:solidFill>
                        <a:srgbClr val="FFF8E9"/>
                      </a:solidFill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rgbClr val="1938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8E9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PCK@0.1</a:t>
                      </a:r>
                      <a:endParaRPr sz="2400" b="1">
                        <a:solidFill>
                          <a:srgbClr val="FFF8E9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114300" marR="114300" marT="76200" marB="76200" anchor="ctr">
                    <a:lnL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>
                      <a:solidFill>
                        <a:srgbClr val="FFF8E9"/>
                      </a:solidFill>
                    </a:lnR>
                    <a:lnT w="28575">
                      <a:solidFill>
                        <a:srgbClr val="FFF8E9"/>
                      </a:solidFill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rgbClr val="19384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19384A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P0: AP-10K</a:t>
                      </a:r>
                      <a:endParaRPr sz="2400" b="1">
                        <a:solidFill>
                          <a:srgbClr val="19384A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114300" marR="114300" marT="76200" marB="76200" anchor="ctr">
                    <a:lnL w="28575">
                      <a:solidFill>
                        <a:srgbClr val="FFF8E9"/>
                      </a:solidFill>
                    </a:lnL>
                    <a:lnR w="28575">
                      <a:solidFill>
                        <a:srgbClr val="FFF8E9"/>
                      </a:solidFill>
                    </a:lnR>
                    <a:lnT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rgbClr val="EAF0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19384A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67.8%</a:t>
                      </a:r>
                      <a:endParaRPr sz="2400" b="0">
                        <a:solidFill>
                          <a:srgbClr val="19384A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114300" marR="114300" marT="76200" marB="76200" anchor="ctr">
                    <a:lnL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>
                      <a:solidFill>
                        <a:srgbClr val="FFF8E9"/>
                      </a:solidFill>
                    </a:lnR>
                    <a:lnT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rgbClr val="EAF0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19384A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97.0%</a:t>
                      </a:r>
                      <a:endParaRPr sz="2400" b="0">
                        <a:solidFill>
                          <a:srgbClr val="19384A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114300" marR="114300" marT="76200" marB="76200" anchor="ctr">
                    <a:lnL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>
                      <a:solidFill>
                        <a:srgbClr val="FFF8E9"/>
                      </a:solidFill>
                    </a:lnR>
                    <a:lnT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rgbClr val="EAF0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19384A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76.2%</a:t>
                      </a:r>
                      <a:endParaRPr sz="2400" b="0">
                        <a:solidFill>
                          <a:srgbClr val="19384A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114300" marR="114300" marT="76200" marB="76200" anchor="ctr">
                    <a:lnL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>
                      <a:solidFill>
                        <a:srgbClr val="FFF8E9"/>
                      </a:solidFill>
                    </a:lnR>
                    <a:lnT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rgbClr val="EAF0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19384A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0.827</a:t>
                      </a:r>
                      <a:endParaRPr sz="2400" b="0">
                        <a:solidFill>
                          <a:srgbClr val="19384A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114300" marR="114300" marT="76200" marB="76200" anchor="ctr">
                    <a:lnL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>
                      <a:solidFill>
                        <a:srgbClr val="FFF8E9"/>
                      </a:solidFill>
                    </a:lnR>
                    <a:lnT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rgbClr val="EAF0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19384A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85.7%</a:t>
                      </a:r>
                      <a:endParaRPr sz="2400" b="0">
                        <a:solidFill>
                          <a:srgbClr val="19384A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114300" marR="114300" marT="76200" marB="76200" anchor="ctr">
                    <a:lnL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>
                      <a:solidFill>
                        <a:srgbClr val="FFF8E9"/>
                      </a:solidFill>
                    </a:lnR>
                    <a:lnT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rgbClr val="EAF0E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19384A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P1: + APT-36K</a:t>
                      </a:r>
                      <a:endParaRPr sz="2400" b="1">
                        <a:solidFill>
                          <a:srgbClr val="19384A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114300" marR="114300" marT="76200" marB="76200" anchor="ctr">
                    <a:lnL w="28575">
                      <a:solidFill>
                        <a:srgbClr val="FFF8E9"/>
                      </a:solidFill>
                    </a:lnL>
                    <a:lnR w="28575">
                      <a:solidFill>
                        <a:srgbClr val="FFF8E9"/>
                      </a:solidFill>
                    </a:lnR>
                    <a:lnT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rgbClr val="FFFD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19384A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69.3%</a:t>
                      </a:r>
                      <a:endParaRPr sz="2400" b="0">
                        <a:solidFill>
                          <a:srgbClr val="19384A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114300" marR="114300" marT="76200" marB="76200" anchor="ctr">
                    <a:lnL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>
                      <a:solidFill>
                        <a:srgbClr val="FFF8E9"/>
                      </a:solidFill>
                    </a:lnR>
                    <a:lnT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rgbClr val="FFFD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19384A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100.0%</a:t>
                      </a:r>
                      <a:endParaRPr sz="2400" b="0">
                        <a:solidFill>
                          <a:srgbClr val="19384A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114300" marR="114300" marT="76200" marB="76200" anchor="ctr">
                    <a:lnL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>
                      <a:solidFill>
                        <a:srgbClr val="FFF8E9"/>
                      </a:solidFill>
                    </a:lnR>
                    <a:lnT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rgbClr val="FFFD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19384A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75.4%</a:t>
                      </a:r>
                      <a:endParaRPr sz="2400" b="0">
                        <a:solidFill>
                          <a:srgbClr val="19384A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114300" marR="114300" marT="76200" marB="76200" anchor="ctr">
                    <a:lnL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>
                      <a:solidFill>
                        <a:srgbClr val="FFF8E9"/>
                      </a:solidFill>
                    </a:lnR>
                    <a:lnT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rgbClr val="FFFD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19384A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0.831</a:t>
                      </a:r>
                      <a:endParaRPr sz="2400" b="0">
                        <a:solidFill>
                          <a:srgbClr val="19384A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114300" marR="114300" marT="76200" marB="76200" anchor="ctr">
                    <a:lnL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>
                      <a:solidFill>
                        <a:srgbClr val="FFF8E9"/>
                      </a:solidFill>
                    </a:lnR>
                    <a:lnT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rgbClr val="FFFD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19384A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86.1%</a:t>
                      </a:r>
                      <a:endParaRPr sz="2400" b="0">
                        <a:solidFill>
                          <a:srgbClr val="19384A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114300" marR="114300" marT="76200" marB="76200" anchor="ctr">
                    <a:lnL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>
                      <a:solidFill>
                        <a:srgbClr val="FFF8E9"/>
                      </a:solidFill>
                    </a:lnR>
                    <a:lnT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rgbClr val="FFFDFA"/>
                    </a:solidFill>
                  </a:tcPr>
                </a:tc>
              </a:tr>
            </a:tbl>
          </a:graphicData>
        </a:graphic>
      </p:graphicFrame>
      <p:sp>
        <p:nvSpPr>
          <p:cNvPr id="9" name="矩形 8"/>
          <p:cNvSpPr>
            <a:spLocks noGrp="1"/>
          </p:cNvSpPr>
          <p:nvPr/>
        </p:nvSpPr>
        <p:spPr>
          <a:xfrm>
            <a:off x="1028700" y="6286500"/>
            <a:ext cx="723900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8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>
              <a:defRPr sz="28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>
              <a:defRPr sz="28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>
              <a:defRPr sz="28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>
              <a:defRPr sz="28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>
              <a:defRPr sz="28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>
              <a:defRPr sz="28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>
              <a:defRPr sz="28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>
              <a:defRPr sz="28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>
              <a:defRPr sz="28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>
              <a:defRPr sz="28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8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Detection quality</a:t>
            </a:r>
            <a:endParaRPr sz="2850" b="1">
              <a:solidFill>
                <a:srgbClr val="19384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1028700" y="7000875"/>
            <a:ext cx="752475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400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>
              <a:defRPr sz="2400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>
              <a:defRPr sz="2400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>
              <a:defRPr sz="2400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>
              <a:defRPr sz="2400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>
              <a:defRPr sz="2400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>
              <a:defRPr sz="2400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>
              <a:defRPr sz="2400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>
              <a:defRPr sz="2400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>
              <a:defRPr sz="2400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>
              <a:defRPr sz="2400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400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Dogs located in 36 / 36 evaluation frames</a:t>
            </a:r>
            <a:endParaRPr sz="2400" b="0">
              <a:solidFill>
                <a:srgbClr val="19384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  <a:p>
            <a:pPr>
              <a:defRPr sz="2400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400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Median box IoU: 0.83 (minimum: 0.63)</a:t>
            </a:r>
            <a:endParaRPr sz="2400" b="0">
              <a:solidFill>
                <a:srgbClr val="19384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9696450" y="6286500"/>
            <a:ext cx="752475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8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>
              <a:defRPr sz="28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>
              <a:defRPr sz="28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>
              <a:defRPr sz="28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>
              <a:defRPr sz="28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>
              <a:defRPr sz="28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>
              <a:defRPr sz="28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>
              <a:defRPr sz="28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>
              <a:defRPr sz="28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>
              <a:defRPr sz="28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>
              <a:defRPr sz="28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8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Model decision</a:t>
            </a:r>
            <a:endParaRPr sz="2850" b="1">
              <a:solidFill>
                <a:srgbClr val="19384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9696450" y="7000875"/>
            <a:ext cx="7524750" cy="1362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400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>
              <a:defRPr sz="2400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>
              <a:defRPr sz="2400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>
              <a:defRPr sz="2400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>
              <a:defRPr sz="2400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>
              <a:defRPr sz="2400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>
              <a:defRPr sz="2400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>
              <a:defRPr sz="2400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>
              <a:defRPr sz="2400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>
              <a:defRPr sz="2400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>
              <a:defRPr sz="2400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400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APT validation AP: 77.5% to 81.7%</a:t>
            </a:r>
            <a:endParaRPr sz="2400" b="0">
              <a:solidFill>
                <a:srgbClr val="19384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  <a:p>
            <a:pPr>
              <a:defRPr sz="2400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400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Indoor P1–P0 mean OKS: +0.004</a:t>
            </a:r>
            <a:endParaRPr sz="2400" b="0">
              <a:solidFill>
                <a:srgbClr val="19384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  <a:p>
            <a:pPr>
              <a:defRPr sz="2400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400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95% interval: −0.024 to +0.032</a:t>
            </a:r>
            <a:endParaRPr sz="2400" b="0">
              <a:solidFill>
                <a:srgbClr val="19384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1028700" y="8667750"/>
            <a:ext cx="1623060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62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>
              <a:defRPr sz="262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>
              <a:defRPr sz="262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>
              <a:defRPr sz="262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>
              <a:defRPr sz="262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>
              <a:defRPr sz="262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>
              <a:defRPr sz="262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>
              <a:defRPr sz="262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>
              <a:defRPr sz="262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>
              <a:defRPr sz="262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>
              <a:defRPr sz="262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62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No clear indoor advantage from P1. Retain P0 for downstream recognition.</a:t>
            </a:r>
            <a:endParaRPr sz="2625" b="1">
              <a:solidFill>
                <a:srgbClr val="B8402E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1028700" y="9620250"/>
            <a:ext cx="162306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>
              <a:defRPr sz="18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>
              <a:defRPr sz="18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>
              <a:defRPr sz="18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>
              <a:defRPr sz="18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>
              <a:defRPr sz="18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>
              <a:defRPr sz="18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>
              <a:defRPr sz="18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>
              <a:defRPr sz="18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>
              <a:defRPr sz="18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>
              <a:defRPr sz="18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18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Visible labelled joints only. Lying/sleeping remains the weakest posture. P2 was not performed.</a:t>
            </a:r>
            <a:endParaRPr sz="1800" b="0">
              <a:solidFill>
                <a:srgbClr val="4F6470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olished background 6-1"/>
          <p:cNvSpPr>
            <a:spLocks noGrp="1"/>
          </p:cNvSpPr>
          <p:nvPr/>
        </p:nvSpPr>
        <p:spPr>
          <a:xfrm>
            <a:off x="1028700" y="2257425"/>
            <a:ext cx="16230600" cy="19050"/>
          </a:xfrm>
          <a:prstGeom prst="rect">
            <a:avLst/>
          </a:prstGeom>
          <a:solidFill>
            <a:srgbClr val="D8D9CA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Polished background 6-2"/>
          <p:cNvSpPr>
            <a:spLocks noGrp="1"/>
          </p:cNvSpPr>
          <p:nvPr/>
        </p:nvSpPr>
        <p:spPr>
          <a:xfrm>
            <a:off x="1028700" y="2257425"/>
            <a:ext cx="857250" cy="38100"/>
          </a:xfrm>
          <a:prstGeom prst="rect">
            <a:avLst/>
          </a:prstGeom>
          <a:solidFill>
            <a:srgbClr val="B8402E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Polished background 6-3"/>
          <p:cNvSpPr>
            <a:spLocks noGrp="1"/>
          </p:cNvSpPr>
          <p:nvPr/>
        </p:nvSpPr>
        <p:spPr>
          <a:xfrm>
            <a:off x="0" y="0"/>
            <a:ext cx="18288000" cy="95250"/>
          </a:xfrm>
          <a:prstGeom prst="rect">
            <a:avLst/>
          </a:prstGeom>
          <a:solidFill>
            <a:srgbClr val="19384A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圆角矩形 8"/>
          <p:cNvSpPr/>
          <p:nvPr/>
        </p:nvSpPr>
        <p:spPr>
          <a:xfrm>
            <a:off x="1727200" y="2790190"/>
            <a:ext cx="14833600" cy="6739890"/>
          </a:xfrm>
          <a:prstGeom prst="round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s8-text-0"/>
          <p:cNvSpPr>
            <a:spLocks noGrp="1"/>
          </p:cNvSpPr>
          <p:nvPr/>
        </p:nvSpPr>
        <p:spPr>
          <a:xfrm>
            <a:off x="1028700" y="695325"/>
            <a:ext cx="16144875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 algn="l"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 algn="l"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 algn="l"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 algn="l"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 algn="l"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 algn="l"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 algn="l"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 algn="l"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 algn="l"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 algn="l"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DOG BEHAVIOUR ENSEMBLE</a:t>
            </a:r>
            <a:endParaRPr sz="1875" b="1">
              <a:solidFill>
                <a:srgbClr val="B8402E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2" name="s8-text-1"/>
          <p:cNvSpPr>
            <a:spLocks noGrp="1"/>
          </p:cNvSpPr>
          <p:nvPr/>
        </p:nvSpPr>
        <p:spPr>
          <a:xfrm>
            <a:off x="1028700" y="1295400"/>
            <a:ext cx="16230600" cy="1000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54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 algn="l">
              <a:defRPr sz="54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 algn="l">
              <a:defRPr sz="54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 algn="l">
              <a:defRPr sz="54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 algn="l">
              <a:defRPr sz="54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 algn="l">
              <a:defRPr sz="54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 algn="l">
              <a:defRPr sz="54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 algn="l">
              <a:defRPr sz="54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 algn="l">
              <a:defRPr sz="54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 algn="l">
              <a:defRPr sz="54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 algn="l">
              <a:defRPr sz="54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54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Dog Behaviour Recognition Framework</a:t>
            </a:r>
            <a:endParaRPr sz="5400" b="1">
              <a:solidFill>
                <a:srgbClr val="19384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4" name="s8-text-3"/>
          <p:cNvSpPr>
            <a:spLocks noGrp="1"/>
          </p:cNvSpPr>
          <p:nvPr/>
        </p:nvSpPr>
        <p:spPr>
          <a:xfrm>
            <a:off x="1028700" y="9715500"/>
            <a:ext cx="161925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 algn="l">
              <a:defRPr sz="165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 algn="l">
              <a:defRPr sz="165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 algn="l">
              <a:defRPr sz="165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 algn="l">
              <a:defRPr sz="165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 algn="l">
              <a:defRPr sz="165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 algn="l">
              <a:defRPr sz="165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 algn="l">
              <a:defRPr sz="165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 algn="l">
              <a:defRPr sz="165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 algn="l">
              <a:defRPr sz="165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 algn="l">
              <a:defRPr sz="165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165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Pairwise correction refines confusing classes. Five fold-trained models provide the final prediction.</a:t>
            </a:r>
            <a:endParaRPr sz="1650" b="0">
              <a:solidFill>
                <a:srgbClr val="4F6470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23770" y="2905125"/>
            <a:ext cx="13802995" cy="6442075"/>
          </a:xfrm>
          <a:prstGeom prst="rect">
            <a:avLst/>
          </a:prstGeom>
        </p:spPr>
      </p:pic>
      <p:sp>
        <p:nvSpPr>
          <p:cNvPr id="13" name="矩形 12"/>
          <p:cNvSpPr>
            <a:spLocks noGrp="1"/>
          </p:cNvSpPr>
          <p:nvPr/>
        </p:nvSpPr>
        <p:spPr>
          <a:xfrm>
            <a:off x="1028700" y="2390775"/>
            <a:ext cx="162306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250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>
              <a:defRPr sz="2250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>
              <a:defRPr sz="2250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>
              <a:defRPr sz="2250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>
              <a:defRPr sz="2250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>
              <a:defRPr sz="2250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>
              <a:defRPr sz="2250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>
              <a:defRPr sz="2250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>
              <a:defRPr sz="2250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>
              <a:defRPr sz="2250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>
              <a:defRPr sz="2250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250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Combining learned motion patterns with explicit geometry and motion cues.</a:t>
            </a:r>
            <a:endParaRPr sz="2250" b="1">
              <a:solidFill>
                <a:srgbClr val="B8402E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olished background 7-1"/>
          <p:cNvSpPr>
            <a:spLocks noGrp="1"/>
          </p:cNvSpPr>
          <p:nvPr/>
        </p:nvSpPr>
        <p:spPr>
          <a:xfrm>
            <a:off x="11239500" y="2524125"/>
            <a:ext cx="6572250" cy="7110095"/>
          </a:xfrm>
          <a:prstGeom prst="rect">
            <a:avLst/>
          </a:prstGeom>
          <a:solidFill>
            <a:srgbClr val="19384A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Polished background 7-2"/>
          <p:cNvSpPr>
            <a:spLocks noGrp="1"/>
          </p:cNvSpPr>
          <p:nvPr/>
        </p:nvSpPr>
        <p:spPr>
          <a:xfrm>
            <a:off x="11239500" y="2524125"/>
            <a:ext cx="6572250" cy="66675"/>
          </a:xfrm>
          <a:prstGeom prst="rect">
            <a:avLst/>
          </a:prstGeom>
          <a:solidFill>
            <a:srgbClr val="B8402E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Polished background 7-3"/>
          <p:cNvSpPr>
            <a:spLocks noGrp="1"/>
          </p:cNvSpPr>
          <p:nvPr/>
        </p:nvSpPr>
        <p:spPr>
          <a:xfrm>
            <a:off x="1028700" y="2257425"/>
            <a:ext cx="16230600" cy="19050"/>
          </a:xfrm>
          <a:prstGeom prst="rect">
            <a:avLst/>
          </a:prstGeom>
          <a:solidFill>
            <a:srgbClr val="D8D9CA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Polished background 7-4"/>
          <p:cNvSpPr>
            <a:spLocks noGrp="1"/>
          </p:cNvSpPr>
          <p:nvPr/>
        </p:nvSpPr>
        <p:spPr>
          <a:xfrm>
            <a:off x="1028700" y="2257425"/>
            <a:ext cx="857250" cy="38100"/>
          </a:xfrm>
          <a:prstGeom prst="rect">
            <a:avLst/>
          </a:prstGeom>
          <a:solidFill>
            <a:srgbClr val="B8402E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s6-text-0"/>
          <p:cNvSpPr>
            <a:spLocks noGrp="1"/>
          </p:cNvSpPr>
          <p:nvPr/>
        </p:nvSpPr>
        <p:spPr>
          <a:xfrm>
            <a:off x="1028700" y="695325"/>
            <a:ext cx="16144875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 algn="l"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 algn="l"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 algn="l"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 algn="l"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 algn="l"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 algn="l"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 algn="l"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 algn="l"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 algn="l"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 algn="l"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DOG BEHAVIOUR MODEL</a:t>
            </a:r>
            <a:endParaRPr sz="1875" b="1">
              <a:solidFill>
                <a:srgbClr val="B8402E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2" name="s6-text-1"/>
          <p:cNvSpPr>
            <a:spLocks noGrp="1"/>
          </p:cNvSpPr>
          <p:nvPr/>
        </p:nvSpPr>
        <p:spPr>
          <a:xfrm>
            <a:off x="1028700" y="1295400"/>
            <a:ext cx="16230600" cy="1000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54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 algn="l">
              <a:defRPr sz="54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 algn="l">
              <a:defRPr sz="54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 algn="l">
              <a:defRPr sz="54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 algn="l">
              <a:defRPr sz="54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 algn="l">
              <a:defRPr sz="54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 algn="l">
              <a:defRPr sz="54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 algn="l">
              <a:defRPr sz="54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 algn="l">
              <a:defRPr sz="54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 algn="l">
              <a:defRPr sz="54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 algn="l">
              <a:defRPr sz="54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54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Motion-Aware TCN for Dog Behaviour</a:t>
            </a:r>
            <a:endParaRPr sz="5400" b="1">
              <a:solidFill>
                <a:srgbClr val="19384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11292" y="2609850"/>
            <a:ext cx="8845567" cy="6858000"/>
          </a:xfrm>
          <a:prstGeom prst="rect">
            <a:avLst/>
          </a:prstGeom>
        </p:spPr>
      </p:pic>
      <p:sp>
        <p:nvSpPr>
          <p:cNvPr id="10" name="矩形 9"/>
          <p:cNvSpPr>
            <a:spLocks noGrp="1"/>
          </p:cNvSpPr>
          <p:nvPr/>
        </p:nvSpPr>
        <p:spPr>
          <a:xfrm>
            <a:off x="11620500" y="2762250"/>
            <a:ext cx="561975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70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>
              <a:defRPr sz="270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>
              <a:defRPr sz="270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>
              <a:defRPr sz="270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>
              <a:defRPr sz="270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>
              <a:defRPr sz="270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>
              <a:defRPr sz="270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>
              <a:defRPr sz="270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>
              <a:defRPr sz="270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>
              <a:defRPr sz="270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>
              <a:defRPr sz="270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70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Local motion and global movement</a:t>
            </a:r>
            <a:endParaRPr sz="2700" b="1">
              <a:solidFill>
                <a:srgbClr val="FFF8E9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11620500" y="3619500"/>
            <a:ext cx="5619750" cy="1381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75" b="0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>
              <a:defRPr sz="2175" b="0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>
              <a:defRPr sz="2175" b="0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>
              <a:defRPr sz="2175" b="0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>
              <a:defRPr sz="2175" b="0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>
              <a:defRPr sz="2175" b="0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>
              <a:defRPr sz="2175" b="0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>
              <a:defRPr sz="2175" b="0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>
              <a:defRPr sz="2175" b="0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>
              <a:defRPr sz="2175" b="0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>
              <a:defRPr sz="2175" b="0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175" b="0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Joint changes capture limb movement.</a:t>
            </a:r>
            <a:endParaRPr sz="2175" b="0">
              <a:solidFill>
                <a:srgbClr val="FFF8E9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  <a:p>
            <a:pPr>
              <a:defRPr sz="2175" b="0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175" b="0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Box motion preserves global displacement.</a:t>
            </a:r>
            <a:endParaRPr sz="2175" b="0">
              <a:solidFill>
                <a:srgbClr val="FFF8E9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  <a:p>
            <a:pPr>
              <a:defRPr sz="2175" b="0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175" b="0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Both help separate standing from walking.</a:t>
            </a:r>
            <a:endParaRPr sz="2175" b="0">
              <a:solidFill>
                <a:srgbClr val="FFF8E9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11620500" y="5286375"/>
            <a:ext cx="561975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70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>
              <a:defRPr sz="270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>
              <a:defRPr sz="270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>
              <a:defRPr sz="270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>
              <a:defRPr sz="270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>
              <a:defRPr sz="270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>
              <a:defRPr sz="270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>
              <a:defRPr sz="270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>
              <a:defRPr sz="270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>
              <a:defRPr sz="270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>
              <a:defRPr sz="270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70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Patterns at different time scales</a:t>
            </a:r>
            <a:endParaRPr sz="2700" b="1">
              <a:solidFill>
                <a:srgbClr val="FFF8E9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11620500" y="6191250"/>
            <a:ext cx="5619750" cy="1200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75" b="0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>
              <a:defRPr sz="2175" b="0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>
              <a:defRPr sz="2175" b="0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>
              <a:defRPr sz="2175" b="0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>
              <a:defRPr sz="2175" b="0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>
              <a:defRPr sz="2175" b="0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>
              <a:defRPr sz="2175" b="0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>
              <a:defRPr sz="2175" b="0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>
              <a:defRPr sz="2175" b="0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>
              <a:defRPr sz="2175" b="0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>
              <a:defRPr sz="2175" b="0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175" b="0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Dilated convolutions capture short and</a:t>
            </a:r>
            <a:endParaRPr sz="2175" b="0">
              <a:solidFill>
                <a:srgbClr val="FFF8E9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  <a:p>
            <a:pPr>
              <a:defRPr sz="2175" b="0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175" b="0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longer action patterns.</a:t>
            </a:r>
            <a:endParaRPr sz="2175" b="0">
              <a:solidFill>
                <a:srgbClr val="FFF8E9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  <a:p>
            <a:pPr>
              <a:defRPr sz="2175" b="0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175" b="0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Residual links help train the network.</a:t>
            </a:r>
            <a:endParaRPr sz="2175" b="0">
              <a:solidFill>
                <a:srgbClr val="FFF8E9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11620500" y="7667625"/>
            <a:ext cx="5619750" cy="819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70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>
              <a:defRPr sz="270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>
              <a:defRPr sz="270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>
              <a:defRPr sz="270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>
              <a:defRPr sz="270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>
              <a:defRPr sz="270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>
              <a:defRPr sz="270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>
              <a:defRPr sz="270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>
              <a:defRPr sz="270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>
              <a:defRPr sz="270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>
              <a:defRPr sz="270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70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Reliable sequence representation</a:t>
            </a:r>
            <a:endParaRPr sz="2700" b="1">
              <a:solidFill>
                <a:srgbClr val="FFF8E9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11620500" y="8572500"/>
            <a:ext cx="5619750" cy="1190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75" b="0">
                <a:solidFill>
                  <a:srgbClr val="F0B59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>
              <a:defRPr sz="2175" b="0">
                <a:solidFill>
                  <a:srgbClr val="F0B59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>
              <a:defRPr sz="2175" b="0">
                <a:solidFill>
                  <a:srgbClr val="F0B59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>
              <a:defRPr sz="2175" b="0">
                <a:solidFill>
                  <a:srgbClr val="F0B59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>
              <a:defRPr sz="2175" b="0">
                <a:solidFill>
                  <a:srgbClr val="F0B59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>
              <a:defRPr sz="2175" b="0">
                <a:solidFill>
                  <a:srgbClr val="F0B59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>
              <a:defRPr sz="2175" b="0">
                <a:solidFill>
                  <a:srgbClr val="F0B59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>
              <a:defRPr sz="2175" b="0">
                <a:solidFill>
                  <a:srgbClr val="F0B59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>
              <a:defRPr sz="2175" b="0">
                <a:solidFill>
                  <a:srgbClr val="F0B59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>
              <a:defRPr sz="2175" b="0">
                <a:solidFill>
                  <a:srgbClr val="F0B59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>
              <a:defRPr sz="2175" b="0">
                <a:solidFill>
                  <a:srgbClr val="F0B59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175" b="0">
                <a:solidFill>
                  <a:srgbClr val="F0B59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Pooling gives reliable frames more weight.</a:t>
            </a:r>
            <a:endParaRPr sz="2175" b="0">
              <a:solidFill>
                <a:srgbClr val="F0B59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  <a:p>
            <a:pPr>
              <a:defRPr sz="2175" b="0">
                <a:solidFill>
                  <a:srgbClr val="F0B59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175" b="0">
                <a:solidFill>
                  <a:srgbClr val="F0B59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The summary predicts five behaviour classes.</a:t>
            </a:r>
            <a:endParaRPr sz="2175" b="0">
              <a:solidFill>
                <a:srgbClr val="F0B59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olished background 8-1"/>
          <p:cNvSpPr>
            <a:spLocks noGrp="1"/>
          </p:cNvSpPr>
          <p:nvPr/>
        </p:nvSpPr>
        <p:spPr>
          <a:xfrm>
            <a:off x="0" y="0"/>
            <a:ext cx="18288000" cy="95250"/>
          </a:xfrm>
          <a:prstGeom prst="rect">
            <a:avLst/>
          </a:prstGeom>
          <a:solidFill>
            <a:srgbClr val="19384A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1028700" y="619125"/>
            <a:ext cx="161925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DOG BEHAVIOUR FEATURES</a:t>
            </a:r>
            <a:endParaRPr sz="1875" b="1">
              <a:solidFill>
                <a:srgbClr val="B8402E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1028700" y="1133475"/>
            <a:ext cx="161925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47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>
              <a:defRPr sz="47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>
              <a:defRPr sz="47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>
              <a:defRPr sz="47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>
              <a:defRPr sz="47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>
              <a:defRPr sz="47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>
              <a:defRPr sz="47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>
              <a:defRPr sz="47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>
              <a:defRPr sz="47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>
              <a:defRPr sz="47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>
              <a:defRPr sz="47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47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Engineered Skeleton Features</a:t>
            </a:r>
            <a:endParaRPr sz="4725" b="1">
              <a:solidFill>
                <a:srgbClr val="19384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2457450" y="2076450"/>
            <a:ext cx="46863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5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>
              <a:defRPr sz="25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>
              <a:defRPr sz="25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>
              <a:defRPr sz="25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>
              <a:defRPr sz="25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>
              <a:defRPr sz="25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>
              <a:defRPr sz="25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>
              <a:defRPr sz="25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>
              <a:defRPr sz="25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>
              <a:defRPr sz="25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>
              <a:defRPr sz="25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5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Standing</a:t>
            </a:r>
            <a:endParaRPr sz="2550" b="1">
              <a:solidFill>
                <a:srgbClr val="19384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rcRect l="21563" t="2333" r="21562" b="2333"/>
          <a:stretch>
            <a:fillRect/>
          </a:stretch>
        </p:blipFill>
        <p:spPr>
          <a:xfrm>
            <a:off x="2213610" y="2590800"/>
            <a:ext cx="1859915" cy="233870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rcRect l="23500" t="5167" r="27375" b="8917"/>
          <a:stretch>
            <a:fillRect/>
          </a:stretch>
        </p:blipFill>
        <p:spPr>
          <a:xfrm>
            <a:off x="4247515" y="2596515"/>
            <a:ext cx="1784350" cy="234124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3"/>
          <a:srcRect l="14938" t="4833" r="2938" b="6417"/>
          <a:stretch>
            <a:fillRect/>
          </a:stretch>
        </p:blipFill>
        <p:spPr>
          <a:xfrm>
            <a:off x="2015490" y="5221605"/>
            <a:ext cx="5281295" cy="4281170"/>
          </a:xfrm>
          <a:prstGeom prst="rect">
            <a:avLst/>
          </a:prstGeom>
        </p:spPr>
      </p:pic>
      <p:sp>
        <p:nvSpPr>
          <p:cNvPr id="7" name="矩形 6"/>
          <p:cNvSpPr>
            <a:spLocks noGrp="1"/>
          </p:cNvSpPr>
          <p:nvPr/>
        </p:nvSpPr>
        <p:spPr>
          <a:xfrm>
            <a:off x="8135620" y="2076450"/>
            <a:ext cx="46863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5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>
              <a:defRPr sz="25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>
              <a:defRPr sz="25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>
              <a:defRPr sz="25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>
              <a:defRPr sz="25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>
              <a:defRPr sz="25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>
              <a:defRPr sz="25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>
              <a:defRPr sz="25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>
              <a:defRPr sz="25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>
              <a:defRPr sz="25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>
              <a:defRPr sz="25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5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Eating / drinking</a:t>
            </a:r>
            <a:endParaRPr sz="2550" b="1">
              <a:solidFill>
                <a:srgbClr val="19384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4"/>
          <a:srcRect l="26125" t="2333" r="26125" b="2333"/>
          <a:stretch>
            <a:fillRect/>
          </a:stretch>
        </p:blipFill>
        <p:spPr>
          <a:xfrm>
            <a:off x="7847965" y="2595245"/>
            <a:ext cx="1548765" cy="2318385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5"/>
          <a:srcRect l="36688" t="22500" r="29750" b="9000"/>
          <a:stretch>
            <a:fillRect/>
          </a:stretch>
        </p:blipFill>
        <p:spPr>
          <a:xfrm>
            <a:off x="9577070" y="2596515"/>
            <a:ext cx="1505585" cy="2304415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/>
        </p:nvPicPr>
        <p:blipFill>
          <a:blip r:embed="rId6"/>
          <a:srcRect l="32250" t="6583" r="3250" b="7250"/>
          <a:stretch>
            <a:fillRect/>
          </a:stretch>
        </p:blipFill>
        <p:spPr>
          <a:xfrm>
            <a:off x="7593965" y="5221605"/>
            <a:ext cx="4284980" cy="4293870"/>
          </a:xfrm>
          <a:prstGeom prst="rect">
            <a:avLst/>
          </a:prstGeom>
        </p:spPr>
      </p:pic>
      <p:sp>
        <p:nvSpPr>
          <p:cNvPr id="11" name="矩形 10"/>
          <p:cNvSpPr>
            <a:spLocks noGrp="1"/>
          </p:cNvSpPr>
          <p:nvPr/>
        </p:nvSpPr>
        <p:spPr>
          <a:xfrm>
            <a:off x="12172950" y="2076450"/>
            <a:ext cx="46863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5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>
              <a:defRPr sz="25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>
              <a:defRPr sz="25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>
              <a:defRPr sz="25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>
              <a:defRPr sz="25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>
              <a:defRPr sz="25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>
              <a:defRPr sz="25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>
              <a:defRPr sz="25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>
              <a:defRPr sz="25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>
              <a:defRPr sz="25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>
              <a:defRPr sz="25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5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Walking / running</a:t>
            </a:r>
            <a:endParaRPr sz="2550" b="1">
              <a:solidFill>
                <a:srgbClr val="19384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7"/>
          <a:srcRect l="7375" t="9750" r="26125" b="9750"/>
          <a:stretch>
            <a:fillRect/>
          </a:stretch>
        </p:blipFill>
        <p:spPr>
          <a:xfrm>
            <a:off x="12237085" y="2580640"/>
            <a:ext cx="2594610" cy="2355850"/>
          </a:xfrm>
          <a:prstGeom prst="rect">
            <a:avLst/>
          </a:prstGeom>
        </p:spPr>
      </p:pic>
      <p:pic>
        <p:nvPicPr>
          <p:cNvPr id="13" name="图片 12"/>
          <p:cNvPicPr>
            <a:picLocks noChangeAspect="1"/>
          </p:cNvPicPr>
          <p:nvPr/>
        </p:nvPicPr>
        <p:blipFill>
          <a:blip r:embed="rId8"/>
          <a:srcRect l="28250" t="21750" r="29500" b="13000"/>
          <a:stretch>
            <a:fillRect/>
          </a:stretch>
        </p:blipFill>
        <p:spPr>
          <a:xfrm>
            <a:off x="14832330" y="2599690"/>
            <a:ext cx="2027555" cy="2347595"/>
          </a:xfrm>
          <a:prstGeom prst="rect">
            <a:avLst/>
          </a:prstGeom>
        </p:spPr>
      </p:pic>
      <p:pic>
        <p:nvPicPr>
          <p:cNvPr id="14" name="图片 13"/>
          <p:cNvPicPr>
            <a:picLocks noChangeAspect="1"/>
          </p:cNvPicPr>
          <p:nvPr/>
        </p:nvPicPr>
        <p:blipFill>
          <a:blip r:embed="rId9"/>
          <a:srcRect l="26063" t="5250" r="5063" b="6833"/>
          <a:stretch>
            <a:fillRect/>
          </a:stretch>
        </p:blipFill>
        <p:spPr>
          <a:xfrm>
            <a:off x="12237085" y="5221605"/>
            <a:ext cx="4554855" cy="4360545"/>
          </a:xfrm>
          <a:prstGeom prst="rect">
            <a:avLst/>
          </a:prstGeom>
        </p:spPr>
      </p:pic>
      <p:sp>
        <p:nvSpPr>
          <p:cNvPr id="15" name="矩形 14"/>
          <p:cNvSpPr>
            <a:spLocks noGrp="1"/>
          </p:cNvSpPr>
          <p:nvPr/>
        </p:nvSpPr>
        <p:spPr>
          <a:xfrm>
            <a:off x="502920" y="3238500"/>
            <a:ext cx="1362075" cy="809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9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>
              <a:defRPr sz="19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>
              <a:defRPr sz="19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>
              <a:defRPr sz="19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>
              <a:defRPr sz="19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>
              <a:defRPr sz="19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>
              <a:defRPr sz="19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>
              <a:defRPr sz="19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>
              <a:defRPr sz="19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>
              <a:defRPr sz="19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>
              <a:defRPr sz="19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19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Image +</a:t>
            </a:r>
            <a:endParaRPr sz="1950" b="1">
              <a:solidFill>
                <a:srgbClr val="19384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  <a:p>
            <a:pPr>
              <a:defRPr sz="19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19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skeleton</a:t>
            </a:r>
            <a:endParaRPr sz="1950" b="1">
              <a:solidFill>
                <a:srgbClr val="19384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1028700" y="5314950"/>
            <a:ext cx="1362075" cy="809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9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>
              <a:defRPr sz="19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>
              <a:defRPr sz="19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>
              <a:defRPr sz="19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>
              <a:defRPr sz="19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>
              <a:defRPr sz="19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>
              <a:defRPr sz="19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>
              <a:defRPr sz="19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>
              <a:defRPr sz="19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>
              <a:defRPr sz="19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>
              <a:defRPr sz="19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endParaRPr sz="1950" b="1">
              <a:solidFill>
                <a:srgbClr val="19384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791845" y="6696075"/>
            <a:ext cx="1362075" cy="809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9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>
              <a:defRPr sz="19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>
              <a:defRPr sz="19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>
              <a:defRPr sz="19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>
              <a:defRPr sz="19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>
              <a:defRPr sz="19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>
              <a:defRPr sz="19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>
              <a:defRPr sz="19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>
              <a:defRPr sz="19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>
              <a:defRPr sz="19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>
              <a:defRPr sz="19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19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Feature</a:t>
            </a:r>
            <a:endParaRPr sz="1950" b="1">
              <a:solidFill>
                <a:srgbClr val="19384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  <a:p>
            <a:pPr>
              <a:defRPr sz="19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19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cues</a:t>
            </a:r>
            <a:endParaRPr sz="1950" b="1">
              <a:solidFill>
                <a:srgbClr val="19384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1028700" y="9601200"/>
            <a:ext cx="161925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65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>
              <a:defRPr sz="165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>
              <a:defRPr sz="165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>
              <a:defRPr sz="165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>
              <a:defRPr sz="165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>
              <a:defRPr sz="165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>
              <a:defRPr sz="165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>
              <a:defRPr sz="165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>
              <a:defRPr sz="165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>
              <a:defRPr sz="165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>
              <a:defRPr sz="165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165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Geometry and motion signals are summarised using statistics and duration cues to form an 834-D vector.</a:t>
            </a:r>
            <a:endParaRPr sz="1650" b="0">
              <a:solidFill>
                <a:srgbClr val="4F6470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  <a:p>
            <a:pPr>
              <a:defRPr sz="165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165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This vector feeds the geometry classifier and complements the TCN branch.</a:t>
            </a:r>
            <a:endParaRPr sz="1650" b="0">
              <a:solidFill>
                <a:srgbClr val="4F6470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olished background 9-1"/>
          <p:cNvSpPr>
            <a:spLocks noGrp="1"/>
          </p:cNvSpPr>
          <p:nvPr/>
        </p:nvSpPr>
        <p:spPr>
          <a:xfrm>
            <a:off x="0" y="0"/>
            <a:ext cx="18288000" cy="95250"/>
          </a:xfrm>
          <a:prstGeom prst="rect">
            <a:avLst/>
          </a:prstGeom>
          <a:solidFill>
            <a:srgbClr val="19384A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s12-text-0"/>
          <p:cNvSpPr>
            <a:spLocks noGrp="1"/>
          </p:cNvSpPr>
          <p:nvPr/>
        </p:nvSpPr>
        <p:spPr>
          <a:xfrm>
            <a:off x="1028700" y="695325"/>
            <a:ext cx="16144875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 algn="l"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 algn="l"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 algn="l"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 algn="l"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 algn="l"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 algn="l"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 algn="l"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 algn="l"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 algn="l"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 algn="l"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INTERACTION MODEL</a:t>
            </a:r>
            <a:endParaRPr sz="1875" b="1">
              <a:solidFill>
                <a:srgbClr val="B8402E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2" name="s12-text-1"/>
          <p:cNvSpPr>
            <a:spLocks noGrp="1"/>
          </p:cNvSpPr>
          <p:nvPr/>
        </p:nvSpPr>
        <p:spPr>
          <a:xfrm>
            <a:off x="1028700" y="1295400"/>
            <a:ext cx="16230600" cy="1000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54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 algn="l">
              <a:defRPr sz="54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 algn="l">
              <a:defRPr sz="54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 algn="l">
              <a:defRPr sz="54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 algn="l">
              <a:defRPr sz="54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 algn="l">
              <a:defRPr sz="54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 algn="l">
              <a:defRPr sz="54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 algn="l">
              <a:defRPr sz="54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 algn="l">
              <a:defRPr sz="54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 algn="l">
              <a:defRPr sz="54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 algn="l">
              <a:defRPr sz="54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54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Human-Dog Interaction Framework</a:t>
            </a:r>
            <a:endParaRPr sz="5400" b="1">
              <a:solidFill>
                <a:srgbClr val="19384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3" name="s12-text-2"/>
          <p:cNvSpPr>
            <a:spLocks noGrp="1"/>
          </p:cNvSpPr>
          <p:nvPr/>
        </p:nvSpPr>
        <p:spPr>
          <a:xfrm>
            <a:off x="1078865" y="2191385"/>
            <a:ext cx="1623060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 algn="l">
              <a:defRPr sz="2250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 algn="l">
              <a:defRPr sz="2250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 algn="l">
              <a:defRPr sz="2250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 algn="l">
              <a:defRPr sz="2250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 algn="l">
              <a:defRPr sz="2250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 algn="l">
              <a:defRPr sz="2250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 algn="l">
              <a:defRPr sz="2250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 algn="l">
              <a:defRPr sz="2250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 algn="l">
              <a:defRPr sz="2250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 algn="l">
              <a:defRPr sz="2250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250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Skeleton relations provide the main evidence. Visual context adds supporting cues.</a:t>
            </a:r>
            <a:endParaRPr sz="2250" b="1">
              <a:solidFill>
                <a:srgbClr val="B8402E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5" name="s12-text-4"/>
          <p:cNvSpPr>
            <a:spLocks noGrp="1"/>
          </p:cNvSpPr>
          <p:nvPr/>
        </p:nvSpPr>
        <p:spPr>
          <a:xfrm>
            <a:off x="1028700" y="9715500"/>
            <a:ext cx="161925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 algn="l">
              <a:defRPr sz="165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 algn="l">
              <a:defRPr sz="165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 algn="l">
              <a:defRPr sz="165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 algn="l">
              <a:defRPr sz="165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 algn="l">
              <a:defRPr sz="165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 algn="l">
              <a:defRPr sz="165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 algn="l">
              <a:defRPr sz="165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 algn="l">
              <a:defRPr sz="165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 algn="l">
              <a:defRPr sz="165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 algn="l">
              <a:defRPr sz="165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165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Relations describe proximity and motion. Frozen CLIP features add appearance and scene context.</a:t>
            </a:r>
            <a:endParaRPr sz="1650" b="0">
              <a:solidFill>
                <a:srgbClr val="4F6470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55445" y="2712720"/>
            <a:ext cx="14145895" cy="72618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olished background 10-1"/>
          <p:cNvSpPr>
            <a:spLocks noGrp="1"/>
          </p:cNvSpPr>
          <p:nvPr/>
        </p:nvSpPr>
        <p:spPr>
          <a:xfrm>
            <a:off x="723900" y="2590800"/>
            <a:ext cx="6477000" cy="7197725"/>
          </a:xfrm>
          <a:prstGeom prst="rect">
            <a:avLst/>
          </a:prstGeom>
          <a:solidFill>
            <a:srgbClr val="F6EADC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Polished background 10-2"/>
          <p:cNvSpPr>
            <a:spLocks noGrp="1"/>
          </p:cNvSpPr>
          <p:nvPr/>
        </p:nvSpPr>
        <p:spPr>
          <a:xfrm>
            <a:off x="723900" y="2590800"/>
            <a:ext cx="6477000" cy="47625"/>
          </a:xfrm>
          <a:prstGeom prst="rect">
            <a:avLst/>
          </a:prstGeom>
          <a:solidFill>
            <a:srgbClr val="B8402E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Polished background 10-3"/>
          <p:cNvSpPr>
            <a:spLocks noGrp="1"/>
          </p:cNvSpPr>
          <p:nvPr/>
        </p:nvSpPr>
        <p:spPr>
          <a:xfrm>
            <a:off x="1028700" y="2257425"/>
            <a:ext cx="16230600" cy="19050"/>
          </a:xfrm>
          <a:prstGeom prst="rect">
            <a:avLst/>
          </a:prstGeom>
          <a:solidFill>
            <a:srgbClr val="D8D9CA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Polished background 10-4"/>
          <p:cNvSpPr>
            <a:spLocks noGrp="1"/>
          </p:cNvSpPr>
          <p:nvPr/>
        </p:nvSpPr>
        <p:spPr>
          <a:xfrm>
            <a:off x="1028700" y="2257425"/>
            <a:ext cx="857250" cy="38100"/>
          </a:xfrm>
          <a:prstGeom prst="rect">
            <a:avLst/>
          </a:prstGeom>
          <a:solidFill>
            <a:srgbClr val="B8402E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s9-text-0"/>
          <p:cNvSpPr>
            <a:spLocks noGrp="1"/>
          </p:cNvSpPr>
          <p:nvPr/>
        </p:nvSpPr>
        <p:spPr>
          <a:xfrm>
            <a:off x="1028700" y="695325"/>
            <a:ext cx="16144875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 algn="l"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 algn="l"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 algn="l"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 algn="l"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 algn="l"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 algn="l"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 algn="l"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 algn="l"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 algn="l"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 algn="l"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OUR ADDED RELATION FEATURES</a:t>
            </a:r>
            <a:endParaRPr sz="1875" b="1">
              <a:solidFill>
                <a:srgbClr val="B8402E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2" name="s9-text-1"/>
          <p:cNvSpPr>
            <a:spLocks noGrp="1"/>
          </p:cNvSpPr>
          <p:nvPr/>
        </p:nvSpPr>
        <p:spPr>
          <a:xfrm>
            <a:off x="1028700" y="1295400"/>
            <a:ext cx="16230600" cy="1000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54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 algn="l">
              <a:defRPr sz="54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 algn="l">
              <a:defRPr sz="54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 algn="l">
              <a:defRPr sz="54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 algn="l">
              <a:defRPr sz="54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 algn="l">
              <a:defRPr sz="54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 algn="l">
              <a:defRPr sz="54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 algn="l">
              <a:defRPr sz="54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 algn="l">
              <a:defRPr sz="54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 algn="l">
              <a:defRPr sz="54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 algn="l">
              <a:defRPr sz="54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54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Human-Dog Relation Features</a:t>
            </a:r>
            <a:endParaRPr sz="5400" b="1">
              <a:solidFill>
                <a:srgbClr val="19384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rcRect l="30000" t="17000" r="27000" b="7000"/>
          <a:stretch>
            <a:fillRect/>
          </a:stretch>
        </p:blipFill>
        <p:spPr>
          <a:xfrm>
            <a:off x="1078925" y="2696845"/>
            <a:ext cx="5827911" cy="5429250"/>
          </a:xfrm>
          <a:prstGeom prst="rect">
            <a:avLst/>
          </a:prstGeom>
        </p:spPr>
      </p:pic>
      <p:sp>
        <p:nvSpPr>
          <p:cNvPr id="4" name="s9-text-3"/>
          <p:cNvSpPr>
            <a:spLocks noGrp="1"/>
          </p:cNvSpPr>
          <p:nvPr/>
        </p:nvSpPr>
        <p:spPr>
          <a:xfrm>
            <a:off x="1028700" y="8383905"/>
            <a:ext cx="619125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62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 algn="l">
              <a:defRPr sz="262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 algn="l">
              <a:defRPr sz="262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 algn="l">
              <a:defRPr sz="262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 algn="l">
              <a:defRPr sz="262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 algn="l">
              <a:defRPr sz="262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 algn="l">
              <a:defRPr sz="262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 algn="l">
              <a:defRPr sz="262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 algn="l">
              <a:defRPr sz="262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 algn="l">
              <a:defRPr sz="262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 algn="l">
              <a:defRPr sz="262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62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Shared image coordinates</a:t>
            </a:r>
            <a:endParaRPr sz="2625" b="1">
              <a:solidFill>
                <a:srgbClr val="B8402E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5" name="s9-text-4"/>
          <p:cNvSpPr>
            <a:spLocks noGrp="1"/>
          </p:cNvSpPr>
          <p:nvPr/>
        </p:nvSpPr>
        <p:spPr>
          <a:xfrm>
            <a:off x="1007110" y="8815705"/>
            <a:ext cx="6191250" cy="762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 algn="l">
              <a:defRPr sz="2100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 algn="l">
              <a:defRPr sz="2100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 algn="l">
              <a:defRPr sz="2100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 algn="l">
              <a:defRPr sz="2100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 algn="l">
              <a:defRPr sz="2100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 algn="l">
              <a:defRPr sz="2100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 algn="l">
              <a:defRPr sz="2100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 algn="l">
              <a:defRPr sz="2100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 algn="l">
              <a:defRPr sz="2100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 algn="l">
              <a:defRPr sz="2100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100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Keep the distance between subjects</a:t>
            </a:r>
            <a:endParaRPr sz="2100" b="0">
              <a:solidFill>
                <a:srgbClr val="19384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  <a:p>
            <a:pPr algn="l">
              <a:defRPr sz="2100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100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after local pose normalisation.</a:t>
            </a:r>
            <a:endParaRPr sz="2100" b="0">
              <a:solidFill>
                <a:srgbClr val="19384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6" name="s9-text-5"/>
          <p:cNvSpPr>
            <a:spLocks noGrp="1"/>
          </p:cNvSpPr>
          <p:nvPr/>
        </p:nvSpPr>
        <p:spPr>
          <a:xfrm>
            <a:off x="7858125" y="2781300"/>
            <a:ext cx="85725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000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 algn="l">
              <a:defRPr sz="3000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 algn="l">
              <a:defRPr sz="3000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 algn="l">
              <a:defRPr sz="3000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 algn="l">
              <a:defRPr sz="3000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 algn="l">
              <a:defRPr sz="3000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 algn="l">
              <a:defRPr sz="3000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 algn="l">
              <a:defRPr sz="3000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 algn="l">
              <a:defRPr sz="3000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 algn="l">
              <a:defRPr sz="3000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 algn="l">
              <a:defRPr sz="3000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3000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01</a:t>
            </a:r>
            <a:endParaRPr sz="3000" b="1">
              <a:solidFill>
                <a:srgbClr val="B8402E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7" name="s9-text-6"/>
          <p:cNvSpPr>
            <a:spLocks noGrp="1"/>
          </p:cNvSpPr>
          <p:nvPr/>
        </p:nvSpPr>
        <p:spPr>
          <a:xfrm>
            <a:off x="8810625" y="2781300"/>
            <a:ext cx="81438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77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 algn="l">
              <a:defRPr sz="277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 algn="l">
              <a:defRPr sz="277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 algn="l">
              <a:defRPr sz="277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 algn="l">
              <a:defRPr sz="277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 algn="l">
              <a:defRPr sz="277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 algn="l">
              <a:defRPr sz="277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 algn="l">
              <a:defRPr sz="277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 algn="l">
              <a:defRPr sz="277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 algn="l">
              <a:defRPr sz="277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 algn="l">
              <a:defRPr sz="277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77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Overall geometry</a:t>
            </a:r>
            <a:endParaRPr sz="2775" b="1">
              <a:solidFill>
                <a:srgbClr val="19384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8" name="s9-text-7"/>
          <p:cNvSpPr>
            <a:spLocks noGrp="1"/>
          </p:cNvSpPr>
          <p:nvPr/>
        </p:nvSpPr>
        <p:spPr>
          <a:xfrm>
            <a:off x="8810625" y="3390900"/>
            <a:ext cx="8143875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 algn="l">
              <a:defRPr sz="217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 algn="l">
              <a:defRPr sz="217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 algn="l">
              <a:defRPr sz="217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 algn="l">
              <a:defRPr sz="217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 algn="l">
              <a:defRPr sz="217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 algn="l">
              <a:defRPr sz="217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 algn="l">
              <a:defRPr sz="217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 algn="l">
              <a:defRPr sz="217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 algn="l">
              <a:defRPr sz="217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 algn="l">
              <a:defRPr sz="217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17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Box-centre offset, distance and approach speed</a:t>
            </a:r>
            <a:endParaRPr sz="2175" b="0">
              <a:solidFill>
                <a:srgbClr val="19384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9" name="s9-rect-8"/>
          <p:cNvSpPr>
            <a:spLocks noGrp="1"/>
          </p:cNvSpPr>
          <p:nvPr/>
        </p:nvSpPr>
        <p:spPr>
          <a:xfrm>
            <a:off x="8810625" y="3962400"/>
            <a:ext cx="8143875" cy="19050"/>
          </a:xfrm>
          <a:prstGeom prst="rect">
            <a:avLst/>
          </a:prstGeom>
          <a:solidFill>
            <a:srgbClr val="D9DDC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s9-text-9"/>
          <p:cNvSpPr>
            <a:spLocks noGrp="1"/>
          </p:cNvSpPr>
          <p:nvPr/>
        </p:nvSpPr>
        <p:spPr>
          <a:xfrm>
            <a:off x="7858125" y="4086225"/>
            <a:ext cx="85725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000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 algn="l">
              <a:defRPr sz="3000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 algn="l">
              <a:defRPr sz="3000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 algn="l">
              <a:defRPr sz="3000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 algn="l">
              <a:defRPr sz="3000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 algn="l">
              <a:defRPr sz="3000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 algn="l">
              <a:defRPr sz="3000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 algn="l">
              <a:defRPr sz="3000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 algn="l">
              <a:defRPr sz="3000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 algn="l">
              <a:defRPr sz="3000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 algn="l">
              <a:defRPr sz="3000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3000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02</a:t>
            </a:r>
            <a:endParaRPr sz="3000" b="1">
              <a:solidFill>
                <a:srgbClr val="B8402E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11" name="s9-text-10"/>
          <p:cNvSpPr>
            <a:spLocks noGrp="1"/>
          </p:cNvSpPr>
          <p:nvPr/>
        </p:nvSpPr>
        <p:spPr>
          <a:xfrm>
            <a:off x="8810625" y="4086225"/>
            <a:ext cx="81438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77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 algn="l">
              <a:defRPr sz="277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 algn="l">
              <a:defRPr sz="277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 algn="l">
              <a:defRPr sz="277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 algn="l">
              <a:defRPr sz="277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 algn="l">
              <a:defRPr sz="277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 algn="l">
              <a:defRPr sz="277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 algn="l">
              <a:defRPr sz="277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 algn="l">
              <a:defRPr sz="277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 algn="l">
              <a:defRPr sz="277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 algn="l">
              <a:defRPr sz="277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77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Hand–nose proximity</a:t>
            </a:r>
            <a:endParaRPr sz="2775" b="1">
              <a:solidFill>
                <a:srgbClr val="19384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12" name="s9-text-11"/>
          <p:cNvSpPr>
            <a:spLocks noGrp="1"/>
          </p:cNvSpPr>
          <p:nvPr/>
        </p:nvSpPr>
        <p:spPr>
          <a:xfrm>
            <a:off x="8810625" y="4695825"/>
            <a:ext cx="8143875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 algn="l">
              <a:defRPr sz="217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 algn="l">
              <a:defRPr sz="217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 algn="l">
              <a:defRPr sz="217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 algn="l">
              <a:defRPr sz="217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 algn="l">
              <a:defRPr sz="217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 algn="l">
              <a:defRPr sz="217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 algn="l">
              <a:defRPr sz="217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 algn="l">
              <a:defRPr sz="217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 algn="l">
              <a:defRPr sz="217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 algn="l">
              <a:defRPr sz="217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17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Both wrists to the dog’s nose, normalised by dog size</a:t>
            </a:r>
            <a:endParaRPr sz="2175" b="0">
              <a:solidFill>
                <a:srgbClr val="19384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13" name="s9-rect-12"/>
          <p:cNvSpPr>
            <a:spLocks noGrp="1"/>
          </p:cNvSpPr>
          <p:nvPr/>
        </p:nvSpPr>
        <p:spPr>
          <a:xfrm>
            <a:off x="8810625" y="5267325"/>
            <a:ext cx="8143875" cy="19050"/>
          </a:xfrm>
          <a:prstGeom prst="rect">
            <a:avLst/>
          </a:prstGeom>
          <a:solidFill>
            <a:srgbClr val="D9DDC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s9-text-13"/>
          <p:cNvSpPr>
            <a:spLocks noGrp="1"/>
          </p:cNvSpPr>
          <p:nvPr/>
        </p:nvSpPr>
        <p:spPr>
          <a:xfrm>
            <a:off x="7858125" y="5391150"/>
            <a:ext cx="85725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000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 algn="l">
              <a:defRPr sz="3000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 algn="l">
              <a:defRPr sz="3000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 algn="l">
              <a:defRPr sz="3000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 algn="l">
              <a:defRPr sz="3000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 algn="l">
              <a:defRPr sz="3000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 algn="l">
              <a:defRPr sz="3000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 algn="l">
              <a:defRPr sz="3000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 algn="l">
              <a:defRPr sz="3000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 algn="l">
              <a:defRPr sz="3000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 algn="l">
              <a:defRPr sz="3000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3000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03</a:t>
            </a:r>
            <a:endParaRPr sz="3000" b="1">
              <a:solidFill>
                <a:srgbClr val="B8402E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15" name="s9-text-14"/>
          <p:cNvSpPr>
            <a:spLocks noGrp="1"/>
          </p:cNvSpPr>
          <p:nvPr/>
        </p:nvSpPr>
        <p:spPr>
          <a:xfrm>
            <a:off x="8810625" y="5391150"/>
            <a:ext cx="81438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77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 algn="l">
              <a:defRPr sz="277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 algn="l">
              <a:defRPr sz="277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 algn="l">
              <a:defRPr sz="277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 algn="l">
              <a:defRPr sz="277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 algn="l">
              <a:defRPr sz="277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 algn="l">
              <a:defRPr sz="277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 algn="l">
              <a:defRPr sz="277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 algn="l">
              <a:defRPr sz="277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 algn="l">
              <a:defRPr sz="277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 algn="l">
              <a:defRPr sz="277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77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Arm–trunk contact cues</a:t>
            </a:r>
            <a:endParaRPr sz="2775" b="1">
              <a:solidFill>
                <a:srgbClr val="19384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16" name="s9-text-15"/>
          <p:cNvSpPr>
            <a:spLocks noGrp="1"/>
          </p:cNvSpPr>
          <p:nvPr/>
        </p:nvSpPr>
        <p:spPr>
          <a:xfrm>
            <a:off x="8810625" y="6000750"/>
            <a:ext cx="8143875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 algn="l">
              <a:defRPr sz="217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 algn="l">
              <a:defRPr sz="217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 algn="l">
              <a:defRPr sz="217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 algn="l">
              <a:defRPr sz="217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 algn="l">
              <a:defRPr sz="217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 algn="l">
              <a:defRPr sz="217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 algn="l">
              <a:defRPr sz="217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 algn="l">
              <a:defRPr sz="217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 algn="l">
              <a:defRPr sz="217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 algn="l">
              <a:defRPr sz="217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17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Wrist, elbow and arm distance to the dog’s trunk</a:t>
            </a:r>
            <a:endParaRPr sz="2175" b="0">
              <a:solidFill>
                <a:srgbClr val="19384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17" name="s9-rect-16"/>
          <p:cNvSpPr>
            <a:spLocks noGrp="1"/>
          </p:cNvSpPr>
          <p:nvPr/>
        </p:nvSpPr>
        <p:spPr>
          <a:xfrm>
            <a:off x="8810625" y="6572250"/>
            <a:ext cx="8143875" cy="19050"/>
          </a:xfrm>
          <a:prstGeom prst="rect">
            <a:avLst/>
          </a:prstGeom>
          <a:solidFill>
            <a:srgbClr val="D9DDC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s9-text-17"/>
          <p:cNvSpPr>
            <a:spLocks noGrp="1"/>
          </p:cNvSpPr>
          <p:nvPr/>
        </p:nvSpPr>
        <p:spPr>
          <a:xfrm>
            <a:off x="7858125" y="6696075"/>
            <a:ext cx="85725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000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 algn="l">
              <a:defRPr sz="3000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 algn="l">
              <a:defRPr sz="3000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 algn="l">
              <a:defRPr sz="3000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 algn="l">
              <a:defRPr sz="3000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 algn="l">
              <a:defRPr sz="3000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 algn="l">
              <a:defRPr sz="3000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 algn="l">
              <a:defRPr sz="3000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 algn="l">
              <a:defRPr sz="3000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 algn="l">
              <a:defRPr sz="3000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 algn="l">
              <a:defRPr sz="3000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3000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04</a:t>
            </a:r>
            <a:endParaRPr sz="3000" b="1">
              <a:solidFill>
                <a:srgbClr val="B8402E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19" name="s9-text-18"/>
          <p:cNvSpPr>
            <a:spLocks noGrp="1"/>
          </p:cNvSpPr>
          <p:nvPr/>
        </p:nvSpPr>
        <p:spPr>
          <a:xfrm>
            <a:off x="8810625" y="6696075"/>
            <a:ext cx="81438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77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 algn="l">
              <a:defRPr sz="277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 algn="l">
              <a:defRPr sz="277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 algn="l">
              <a:defRPr sz="277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 algn="l">
              <a:defRPr sz="277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 algn="l">
              <a:defRPr sz="277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 algn="l">
              <a:defRPr sz="277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 algn="l">
              <a:defRPr sz="277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 algn="l">
              <a:defRPr sz="277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 algn="l">
              <a:defRPr sz="277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 algn="l">
              <a:defRPr sz="277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77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Pose and contact context</a:t>
            </a:r>
            <a:endParaRPr sz="2775" b="1">
              <a:solidFill>
                <a:srgbClr val="19384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20" name="s9-text-19"/>
          <p:cNvSpPr>
            <a:spLocks noGrp="1"/>
          </p:cNvSpPr>
          <p:nvPr/>
        </p:nvSpPr>
        <p:spPr>
          <a:xfrm>
            <a:off x="8810625" y="7305675"/>
            <a:ext cx="8143875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 algn="l">
              <a:defRPr sz="217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 algn="l">
              <a:defRPr sz="217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 algn="l">
              <a:defRPr sz="217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 algn="l">
              <a:defRPr sz="217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 algn="l">
              <a:defRPr sz="217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 algn="l">
              <a:defRPr sz="217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 algn="l">
              <a:defRPr sz="217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 algn="l">
              <a:defRPr sz="217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 algn="l">
              <a:defRPr sz="217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 algn="l">
              <a:defRPr sz="217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17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Orientation, confidence, overlap and embrace cues</a:t>
            </a:r>
            <a:endParaRPr sz="2175" b="0">
              <a:solidFill>
                <a:srgbClr val="19384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21" name="s9-rect-20"/>
          <p:cNvSpPr>
            <a:spLocks noGrp="1"/>
          </p:cNvSpPr>
          <p:nvPr/>
        </p:nvSpPr>
        <p:spPr>
          <a:xfrm>
            <a:off x="8810625" y="7877175"/>
            <a:ext cx="8143875" cy="19050"/>
          </a:xfrm>
          <a:prstGeom prst="rect">
            <a:avLst/>
          </a:prstGeom>
          <a:solidFill>
            <a:srgbClr val="D9DDC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s9-text-21"/>
          <p:cNvSpPr>
            <a:spLocks noGrp="1"/>
          </p:cNvSpPr>
          <p:nvPr/>
        </p:nvSpPr>
        <p:spPr>
          <a:xfrm>
            <a:off x="7858125" y="8001000"/>
            <a:ext cx="85725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000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 algn="l">
              <a:defRPr sz="3000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 algn="l">
              <a:defRPr sz="3000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 algn="l">
              <a:defRPr sz="3000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 algn="l">
              <a:defRPr sz="3000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 algn="l">
              <a:defRPr sz="3000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 algn="l">
              <a:defRPr sz="3000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 algn="l">
              <a:defRPr sz="3000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 algn="l">
              <a:defRPr sz="3000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 algn="l">
              <a:defRPr sz="3000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 algn="l">
              <a:defRPr sz="3000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3000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05</a:t>
            </a:r>
            <a:endParaRPr sz="3000" b="1">
              <a:solidFill>
                <a:srgbClr val="B8402E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23" name="s9-text-22"/>
          <p:cNvSpPr>
            <a:spLocks noGrp="1"/>
          </p:cNvSpPr>
          <p:nvPr/>
        </p:nvSpPr>
        <p:spPr>
          <a:xfrm>
            <a:off x="8810625" y="8001000"/>
            <a:ext cx="81438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77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 algn="l">
              <a:defRPr sz="277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 algn="l">
              <a:defRPr sz="277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 algn="l">
              <a:defRPr sz="277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 algn="l">
              <a:defRPr sz="277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 algn="l">
              <a:defRPr sz="277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 algn="l">
              <a:defRPr sz="277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 algn="l">
              <a:defRPr sz="277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 algn="l">
              <a:defRPr sz="277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 algn="l">
              <a:defRPr sz="277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 algn="l">
              <a:defRPr sz="277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77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Joint activity</a:t>
            </a:r>
            <a:endParaRPr sz="2775" b="1">
              <a:solidFill>
                <a:srgbClr val="19384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24" name="s9-text-23"/>
          <p:cNvSpPr>
            <a:spLocks noGrp="1"/>
          </p:cNvSpPr>
          <p:nvPr/>
        </p:nvSpPr>
        <p:spPr>
          <a:xfrm>
            <a:off x="8810625" y="8610600"/>
            <a:ext cx="8143875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 algn="l">
              <a:defRPr sz="217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 algn="l">
              <a:defRPr sz="217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 algn="l">
              <a:defRPr sz="217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 algn="l">
              <a:defRPr sz="217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 algn="l">
              <a:defRPr sz="217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 algn="l">
              <a:defRPr sz="217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 algn="l">
              <a:defRPr sz="217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 algn="l">
              <a:defRPr sz="217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 algn="l">
              <a:defRPr sz="217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 algn="l">
              <a:defRPr sz="217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17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Individual motion, relative motion and joint activity</a:t>
            </a:r>
            <a:endParaRPr sz="2175" b="0">
              <a:solidFill>
                <a:srgbClr val="19384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olished background 11-1"/>
          <p:cNvSpPr>
            <a:spLocks noGrp="1"/>
          </p:cNvSpPr>
          <p:nvPr/>
        </p:nvSpPr>
        <p:spPr>
          <a:xfrm>
            <a:off x="12211050" y="2524125"/>
            <a:ext cx="5715000" cy="7315835"/>
          </a:xfrm>
          <a:prstGeom prst="rect">
            <a:avLst/>
          </a:prstGeom>
          <a:solidFill>
            <a:srgbClr val="F6EADC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Polished background 11-2"/>
          <p:cNvSpPr>
            <a:spLocks noGrp="1"/>
          </p:cNvSpPr>
          <p:nvPr/>
        </p:nvSpPr>
        <p:spPr>
          <a:xfrm>
            <a:off x="12211050" y="2524125"/>
            <a:ext cx="76200" cy="7298055"/>
          </a:xfrm>
          <a:prstGeom prst="rect">
            <a:avLst/>
          </a:prstGeom>
          <a:solidFill>
            <a:srgbClr val="B8402E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Polished background 11-3"/>
          <p:cNvSpPr>
            <a:spLocks noGrp="1"/>
          </p:cNvSpPr>
          <p:nvPr/>
        </p:nvSpPr>
        <p:spPr>
          <a:xfrm>
            <a:off x="1028700" y="2257425"/>
            <a:ext cx="16230600" cy="19050"/>
          </a:xfrm>
          <a:prstGeom prst="rect">
            <a:avLst/>
          </a:prstGeom>
          <a:solidFill>
            <a:srgbClr val="D8D9CA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Polished background 11-4"/>
          <p:cNvSpPr>
            <a:spLocks noGrp="1"/>
          </p:cNvSpPr>
          <p:nvPr/>
        </p:nvSpPr>
        <p:spPr>
          <a:xfrm>
            <a:off x="1028700" y="2257425"/>
            <a:ext cx="857250" cy="38100"/>
          </a:xfrm>
          <a:prstGeom prst="rect">
            <a:avLst/>
          </a:prstGeom>
          <a:solidFill>
            <a:srgbClr val="B8402E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1028700" y="619125"/>
            <a:ext cx="16230600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INTERACTION RELATION FEATURES</a:t>
            </a:r>
            <a:endParaRPr sz="1875" b="1">
              <a:solidFill>
                <a:srgbClr val="B8402E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1028700" y="1238250"/>
            <a:ext cx="16230600" cy="876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51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>
              <a:defRPr sz="51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>
              <a:defRPr sz="51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>
              <a:defRPr sz="51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>
              <a:defRPr sz="51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>
              <a:defRPr sz="51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>
              <a:defRPr sz="51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>
              <a:defRPr sz="51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>
              <a:defRPr sz="51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>
              <a:defRPr sz="51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>
              <a:defRPr sz="51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51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Interaction-Specific Relation Cues</a:t>
            </a:r>
            <a:endParaRPr sz="5100" b="1">
              <a:solidFill>
                <a:srgbClr val="19384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1028700" y="2381250"/>
            <a:ext cx="1066800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7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>
              <a:defRPr sz="27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>
              <a:defRPr sz="27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>
              <a:defRPr sz="27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>
              <a:defRPr sz="27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>
              <a:defRPr sz="27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>
              <a:defRPr sz="27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>
              <a:defRPr sz="27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>
              <a:defRPr sz="27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>
              <a:defRPr sz="27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>
              <a:defRPr sz="27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7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Hand feeding over time</a:t>
            </a:r>
            <a:endParaRPr sz="2700" b="1">
              <a:solidFill>
                <a:srgbClr val="19384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56852" y="3000375"/>
            <a:ext cx="9211696" cy="4238625"/>
          </a:xfrm>
          <a:prstGeom prst="rect">
            <a:avLst/>
          </a:prstGeom>
        </p:spPr>
      </p:pic>
      <p:sp>
        <p:nvSpPr>
          <p:cNvPr id="5" name="矩形 4"/>
          <p:cNvSpPr>
            <a:spLocks noGrp="1"/>
          </p:cNvSpPr>
          <p:nvPr/>
        </p:nvSpPr>
        <p:spPr>
          <a:xfrm>
            <a:off x="1028700" y="7419975"/>
            <a:ext cx="10668000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0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>
              <a:defRPr sz="20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>
              <a:defRPr sz="20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>
              <a:defRPr sz="20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>
              <a:defRPr sz="20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>
              <a:defRPr sz="20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>
              <a:defRPr sz="20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>
              <a:defRPr sz="20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>
              <a:defRPr sz="20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>
              <a:defRPr sz="20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>
              <a:defRPr sz="20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0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Wrist-nose distance / dog-box diagonal</a:t>
            </a:r>
            <a:endParaRPr sz="2025" b="1">
              <a:solidFill>
                <a:srgbClr val="19384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7941" y="7962900"/>
            <a:ext cx="9389518" cy="1952625"/>
          </a:xfrm>
          <a:prstGeom prst="rect">
            <a:avLst/>
          </a:prstGeom>
        </p:spPr>
      </p:pic>
      <p:sp>
        <p:nvSpPr>
          <p:cNvPr id="7" name="直接连接符 6"/>
          <p:cNvSpPr>
            <a:spLocks noGrp="1"/>
          </p:cNvSpPr>
          <p:nvPr/>
        </p:nvSpPr>
        <p:spPr>
          <a:xfrm>
            <a:off x="12020550" y="2524125"/>
            <a:ext cx="0" cy="7172325"/>
          </a:xfrm>
          <a:prstGeom prst="line">
            <a:avLst/>
          </a:prstGeom>
          <a:noFill/>
          <a:ln w="19050">
            <a:solidFill>
              <a:srgbClr val="D9DDC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矩形 7"/>
          <p:cNvSpPr>
            <a:spLocks noGrp="1"/>
          </p:cNvSpPr>
          <p:nvPr>
            <p:custDataLst>
              <p:tags r:id="rId3"/>
            </p:custDataLst>
          </p:nvPr>
        </p:nvSpPr>
        <p:spPr>
          <a:xfrm>
            <a:off x="12477750" y="2787650"/>
            <a:ext cx="47625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>
              <a:def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>
              <a:def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>
              <a:def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>
              <a:def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>
              <a:def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>
              <a:def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>
              <a:def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>
              <a:def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>
              <a:def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>
              <a:def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Petting</a:t>
            </a:r>
            <a:endParaRPr sz="2925" b="1">
              <a:solidFill>
                <a:srgbClr val="19384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9" name="矩形 8"/>
          <p:cNvSpPr>
            <a:spLocks noGrp="1"/>
          </p:cNvSpPr>
          <p:nvPr>
            <p:custDataLst>
              <p:tags r:id="rId4"/>
            </p:custDataLst>
          </p:nvPr>
        </p:nvSpPr>
        <p:spPr>
          <a:xfrm>
            <a:off x="12477750" y="3343910"/>
            <a:ext cx="4762500" cy="1476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32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>
              <a:defRPr sz="232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>
              <a:defRPr sz="232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>
              <a:defRPr sz="232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>
              <a:defRPr sz="232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>
              <a:defRPr sz="232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>
              <a:defRPr sz="232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>
              <a:defRPr sz="232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>
              <a:defRPr sz="232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>
              <a:defRPr sz="232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>
              <a:defRPr sz="232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32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Sustained hand-to-body proximity</a:t>
            </a:r>
            <a:endParaRPr sz="2325" b="0">
              <a:solidFill>
                <a:srgbClr val="19384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  <a:p>
            <a:pPr>
              <a:defRPr sz="232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32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with small hand and arm movements.</a:t>
            </a:r>
            <a:endParaRPr sz="2325" b="0">
              <a:solidFill>
                <a:srgbClr val="19384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10" name="矩形 9"/>
          <p:cNvSpPr>
            <a:spLocks noGrp="1"/>
          </p:cNvSpPr>
          <p:nvPr>
            <p:custDataLst>
              <p:tags r:id="rId5"/>
            </p:custDataLst>
          </p:nvPr>
        </p:nvSpPr>
        <p:spPr>
          <a:xfrm>
            <a:off x="12477750" y="4977130"/>
            <a:ext cx="47625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>
              <a:def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>
              <a:def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>
              <a:def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>
              <a:def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>
              <a:def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>
              <a:def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>
              <a:def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>
              <a:def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>
              <a:def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>
              <a:def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Petting: embrace</a:t>
            </a:r>
            <a:endParaRPr sz="2925" b="1">
              <a:solidFill>
                <a:srgbClr val="19384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11" name="矩形 10"/>
          <p:cNvSpPr>
            <a:spLocks noGrp="1"/>
          </p:cNvSpPr>
          <p:nvPr>
            <p:custDataLst>
              <p:tags r:id="rId6"/>
            </p:custDataLst>
          </p:nvPr>
        </p:nvSpPr>
        <p:spPr>
          <a:xfrm>
            <a:off x="12477750" y="5533390"/>
            <a:ext cx="4762500" cy="1476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32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>
              <a:defRPr sz="232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>
              <a:defRPr sz="232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>
              <a:defRPr sz="232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>
              <a:defRPr sz="232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>
              <a:defRPr sz="232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>
              <a:defRPr sz="232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>
              <a:defRPr sz="232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>
              <a:defRPr sz="232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>
              <a:defRPr sz="232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>
              <a:defRPr sz="232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32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Arm-to-trunk proximity and box overlap,</a:t>
            </a:r>
            <a:endParaRPr sz="2325" b="0">
              <a:solidFill>
                <a:srgbClr val="19384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  <a:p>
            <a:pPr>
              <a:defRPr sz="232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32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with little relative movement.</a:t>
            </a:r>
            <a:endParaRPr sz="2325" b="0">
              <a:solidFill>
                <a:srgbClr val="19384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12" name="矩形 11"/>
          <p:cNvSpPr>
            <a:spLocks noGrp="1"/>
          </p:cNvSpPr>
          <p:nvPr>
            <p:custDataLst>
              <p:tags r:id="rId7"/>
            </p:custDataLst>
          </p:nvPr>
        </p:nvSpPr>
        <p:spPr>
          <a:xfrm>
            <a:off x="12477750" y="7319645"/>
            <a:ext cx="47625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>
              <a:def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>
              <a:def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>
              <a:def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>
              <a:def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>
              <a:def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>
              <a:def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>
              <a:def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>
              <a:def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>
              <a:def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>
              <a:def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Playing together</a:t>
            </a:r>
            <a:endParaRPr sz="2925" b="1">
              <a:solidFill>
                <a:srgbClr val="19384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13" name="矩形 12"/>
          <p:cNvSpPr>
            <a:spLocks noGrp="1"/>
          </p:cNvSpPr>
          <p:nvPr>
            <p:custDataLst>
              <p:tags r:id="rId8"/>
            </p:custDataLst>
          </p:nvPr>
        </p:nvSpPr>
        <p:spPr>
          <a:xfrm>
            <a:off x="12477750" y="7875905"/>
            <a:ext cx="4762500" cy="1143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32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>
              <a:defRPr sz="232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>
              <a:defRPr sz="232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>
              <a:defRPr sz="232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>
              <a:defRPr sz="232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>
              <a:defRPr sz="232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>
              <a:defRPr sz="232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>
              <a:defRPr sz="232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>
              <a:defRPr sz="232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>
              <a:defRPr sz="232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>
              <a:defRPr sz="232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32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Strong centre or joint motion by</a:t>
            </a:r>
            <a:endParaRPr sz="2325" b="0">
              <a:solidFill>
                <a:srgbClr val="19384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  <a:p>
            <a:pPr>
              <a:defRPr sz="232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325" b="0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one or both subjects.</a:t>
            </a:r>
            <a:endParaRPr sz="2325" b="0">
              <a:solidFill>
                <a:srgbClr val="19384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12477750" y="8768715"/>
            <a:ext cx="47625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65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>
              <a:defRPr sz="165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>
              <a:defRPr sz="165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>
              <a:defRPr sz="165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>
              <a:defRPr sz="165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>
              <a:defRPr sz="165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>
              <a:defRPr sz="165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>
              <a:defRPr sz="165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>
              <a:defRPr sz="165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>
              <a:defRPr sz="165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>
              <a:defRPr sz="165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165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No interaction: both visible, without</a:t>
            </a:r>
            <a:endParaRPr sz="1650">
              <a:solidFill>
                <a:srgbClr val="4F6470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  <a:p>
            <a:pPr>
              <a:defRPr sz="165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165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feeding, petting or shared play.</a:t>
            </a:r>
            <a:endParaRPr sz="1650">
              <a:solidFill>
                <a:srgbClr val="4F6470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olished background 12-1"/>
          <p:cNvSpPr>
            <a:spLocks noGrp="1"/>
          </p:cNvSpPr>
          <p:nvPr/>
        </p:nvSpPr>
        <p:spPr>
          <a:xfrm>
            <a:off x="0" y="0"/>
            <a:ext cx="18288000" cy="95250"/>
          </a:xfrm>
          <a:prstGeom prst="rect">
            <a:avLst/>
          </a:prstGeom>
          <a:solidFill>
            <a:srgbClr val="19384A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圆角矩形 4"/>
          <p:cNvSpPr/>
          <p:nvPr/>
        </p:nvSpPr>
        <p:spPr>
          <a:xfrm>
            <a:off x="790575" y="2047240"/>
            <a:ext cx="16737330" cy="7769860"/>
          </a:xfrm>
          <a:prstGeom prst="round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1028700" y="619125"/>
            <a:ext cx="162306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INTERACTION RELATION CLASSIFIER</a:t>
            </a:r>
            <a:endParaRPr sz="1875" b="1">
              <a:solidFill>
                <a:srgbClr val="B8402E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1028700" y="1238250"/>
            <a:ext cx="1623060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49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>
              <a:defRPr sz="49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>
              <a:defRPr sz="49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>
              <a:defRPr sz="49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>
              <a:defRPr sz="49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>
              <a:defRPr sz="49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>
              <a:defRPr sz="49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>
              <a:defRPr sz="49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>
              <a:defRPr sz="49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>
              <a:defRPr sz="49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>
              <a:defRPr sz="49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49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Relation Classification and Fusion</a:t>
            </a:r>
            <a:endParaRPr sz="4950" b="1">
              <a:solidFill>
                <a:srgbClr val="19384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165" y="2118995"/>
            <a:ext cx="16222561" cy="7496175"/>
          </a:xfrm>
          <a:prstGeom prst="rect">
            <a:avLst/>
          </a:prstGeom>
        </p:spPr>
      </p:pic>
      <p:sp>
        <p:nvSpPr>
          <p:cNvPr id="6" name="矩形 5"/>
          <p:cNvSpPr>
            <a:spLocks noGrp="1"/>
          </p:cNvSpPr>
          <p:nvPr/>
        </p:nvSpPr>
        <p:spPr>
          <a:xfrm>
            <a:off x="1028700" y="9915525"/>
            <a:ext cx="162306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650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>
              <a:defRPr sz="1650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>
              <a:defRPr sz="1650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>
              <a:defRPr sz="1650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>
              <a:defRPr sz="1650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>
              <a:defRPr sz="1650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>
              <a:defRPr sz="1650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>
              <a:defRPr sz="1650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>
              <a:defRPr sz="1650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>
              <a:defRPr sz="1650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>
              <a:defRPr sz="1650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1650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Five random-seed models form the ensemble. Grouped five-fold CV evaluates the complete model.</a:t>
            </a:r>
            <a:endParaRPr sz="1650">
              <a:solidFill>
                <a:srgbClr val="B8402E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olished background 13-1"/>
          <p:cNvSpPr>
            <a:spLocks noGrp="1"/>
          </p:cNvSpPr>
          <p:nvPr/>
        </p:nvSpPr>
        <p:spPr>
          <a:xfrm>
            <a:off x="10668000" y="2514600"/>
            <a:ext cx="6953250" cy="7538085"/>
          </a:xfrm>
          <a:prstGeom prst="rect">
            <a:avLst/>
          </a:prstGeom>
          <a:solidFill>
            <a:srgbClr val="EAF0EB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Polished background 13-2"/>
          <p:cNvSpPr>
            <a:spLocks noGrp="1"/>
          </p:cNvSpPr>
          <p:nvPr/>
        </p:nvSpPr>
        <p:spPr>
          <a:xfrm>
            <a:off x="10668000" y="2514600"/>
            <a:ext cx="6953250" cy="47625"/>
          </a:xfrm>
          <a:prstGeom prst="rect">
            <a:avLst/>
          </a:prstGeom>
          <a:solidFill>
            <a:srgbClr val="19384A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Polished background 13-3"/>
          <p:cNvSpPr>
            <a:spLocks noGrp="1"/>
          </p:cNvSpPr>
          <p:nvPr/>
        </p:nvSpPr>
        <p:spPr>
          <a:xfrm>
            <a:off x="1028700" y="2257425"/>
            <a:ext cx="16230600" cy="19050"/>
          </a:xfrm>
          <a:prstGeom prst="rect">
            <a:avLst/>
          </a:prstGeom>
          <a:solidFill>
            <a:srgbClr val="D8D9CA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Polished background 13-4"/>
          <p:cNvSpPr>
            <a:spLocks noGrp="1"/>
          </p:cNvSpPr>
          <p:nvPr/>
        </p:nvSpPr>
        <p:spPr>
          <a:xfrm>
            <a:off x="1028700" y="2257425"/>
            <a:ext cx="857250" cy="38100"/>
          </a:xfrm>
          <a:prstGeom prst="rect">
            <a:avLst/>
          </a:prstGeom>
          <a:solidFill>
            <a:srgbClr val="B8402E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s13-text-0"/>
          <p:cNvSpPr>
            <a:spLocks noGrp="1"/>
          </p:cNvSpPr>
          <p:nvPr/>
        </p:nvSpPr>
        <p:spPr>
          <a:xfrm>
            <a:off x="1028700" y="695325"/>
            <a:ext cx="16144875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 algn="l"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 algn="l"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 algn="l"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 algn="l"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 algn="l"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 algn="l"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 algn="l"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 algn="l"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 algn="l"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 algn="l"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FIVE-FOLD OOF AND SUPPORTING SMALL TEST</a:t>
            </a:r>
            <a:endParaRPr sz="1875" b="1">
              <a:solidFill>
                <a:srgbClr val="B8402E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2" name="s13-text-1"/>
          <p:cNvSpPr>
            <a:spLocks noGrp="1"/>
          </p:cNvSpPr>
          <p:nvPr/>
        </p:nvSpPr>
        <p:spPr>
          <a:xfrm>
            <a:off x="1028700" y="1295400"/>
            <a:ext cx="16230600" cy="1000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54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 algn="l">
              <a:defRPr sz="54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 algn="l">
              <a:defRPr sz="54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 algn="l">
              <a:defRPr sz="54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 algn="l">
              <a:defRPr sz="54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 algn="l">
              <a:defRPr sz="54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 algn="l">
              <a:defRPr sz="54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 algn="l">
              <a:defRPr sz="54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 algn="l">
              <a:defRPr sz="54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 algn="l">
              <a:defRPr sz="54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 algn="l">
              <a:defRPr sz="54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54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Dog Behaviour Evaluation</a:t>
            </a:r>
            <a:endParaRPr sz="5400" b="1">
              <a:solidFill>
                <a:srgbClr val="19384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3" name="s13-text-2"/>
          <p:cNvSpPr>
            <a:spLocks noGrp="1"/>
          </p:cNvSpPr>
          <p:nvPr/>
        </p:nvSpPr>
        <p:spPr>
          <a:xfrm>
            <a:off x="1028700" y="2676525"/>
            <a:ext cx="876300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 algn="l">
              <a:def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 algn="l">
              <a:def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 algn="l">
              <a:def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 algn="l">
              <a:def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 algn="l">
              <a:def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 algn="l">
              <a:def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 algn="l">
              <a:def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 algn="l">
              <a:def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 algn="l">
              <a:def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 algn="l">
              <a:def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OOF confusion matrix</a:t>
            </a:r>
            <a:endParaRPr sz="2925" b="1">
              <a:solidFill>
                <a:srgbClr val="19384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graphicFrame>
        <p:nvGraphicFramePr>
          <p:cNvPr id="4" name="表格 3"/>
          <p:cNvGraphicFramePr/>
          <p:nvPr/>
        </p:nvGraphicFramePr>
        <p:xfrm>
          <a:off x="1028700" y="3524250"/>
          <a:ext cx="9239250" cy="5324478"/>
        </p:xfrm>
        <a:graphic>
          <a:graphicData uri="http://schemas.openxmlformats.org/drawingml/2006/table">
            <a:tbl>
              <a:tblPr/>
              <a:tblGrid>
                <a:gridCol w="2402205"/>
                <a:gridCol w="1367409"/>
                <a:gridCol w="1367409"/>
                <a:gridCol w="1367409"/>
                <a:gridCol w="1367409"/>
                <a:gridCol w="1367409"/>
              </a:tblGrid>
              <a:tr h="887413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8E9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Actual /</a:t>
                      </a:r>
                      <a:endParaRPr sz="1800" b="1">
                        <a:solidFill>
                          <a:srgbClr val="FFF8E9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  <a:p>
                      <a:pPr algn="l"/>
                      <a:r>
                        <a:rPr sz="1800" b="1">
                          <a:solidFill>
                            <a:srgbClr val="FFF8E9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predicted</a:t>
                      </a:r>
                      <a:endParaRPr sz="1800" b="1">
                        <a:solidFill>
                          <a:srgbClr val="FFF8E9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76200" marR="76200" marT="76200" marB="76200" anchor="ctr">
                    <a:lnL w="28575">
                      <a:solidFill>
                        <a:srgbClr val="FFF8E9"/>
                      </a:solidFill>
                    </a:lnL>
                    <a:lnR w="28575">
                      <a:solidFill>
                        <a:srgbClr val="FFF8E9"/>
                      </a:solidFill>
                    </a:lnR>
                    <a:lnT w="28575">
                      <a:solidFill>
                        <a:srgbClr val="FFF8E9"/>
                      </a:solidFill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8E9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Walking /</a:t>
                      </a:r>
                      <a:endParaRPr sz="1800" b="1">
                        <a:solidFill>
                          <a:srgbClr val="FFF8E9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  <a:p>
                      <a:pPr algn="ctr"/>
                      <a:r>
                        <a:rPr sz="1800" b="1">
                          <a:solidFill>
                            <a:srgbClr val="FFF8E9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running</a:t>
                      </a:r>
                      <a:endParaRPr sz="1800" b="1">
                        <a:solidFill>
                          <a:srgbClr val="FFF8E9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>
                      <a:solidFill>
                        <a:srgbClr val="FFF8E9"/>
                      </a:solidFill>
                    </a:lnR>
                    <a:lnT w="28575">
                      <a:solidFill>
                        <a:srgbClr val="FFF8E9"/>
                      </a:solidFill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8E9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Standing</a:t>
                      </a:r>
                      <a:endParaRPr sz="1800" b="1">
                        <a:solidFill>
                          <a:srgbClr val="FFF8E9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>
                      <a:solidFill>
                        <a:srgbClr val="FFF8E9"/>
                      </a:solidFill>
                    </a:lnR>
                    <a:lnT w="28575">
                      <a:solidFill>
                        <a:srgbClr val="FFF8E9"/>
                      </a:solidFill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8E9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Sitting</a:t>
                      </a:r>
                      <a:endParaRPr sz="1800" b="1">
                        <a:solidFill>
                          <a:srgbClr val="FFF8E9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>
                      <a:solidFill>
                        <a:srgbClr val="FFF8E9"/>
                      </a:solidFill>
                    </a:lnR>
                    <a:lnT w="28575">
                      <a:solidFill>
                        <a:srgbClr val="FFF8E9"/>
                      </a:solidFill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8E9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Lying /</a:t>
                      </a:r>
                      <a:endParaRPr sz="1800" b="1">
                        <a:solidFill>
                          <a:srgbClr val="FFF8E9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  <a:p>
                      <a:pPr algn="ctr"/>
                      <a:r>
                        <a:rPr sz="1800" b="1">
                          <a:solidFill>
                            <a:srgbClr val="FFF8E9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sleeping</a:t>
                      </a:r>
                      <a:endParaRPr sz="1800" b="1">
                        <a:solidFill>
                          <a:srgbClr val="FFF8E9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>
                      <a:solidFill>
                        <a:srgbClr val="FFF8E9"/>
                      </a:solidFill>
                    </a:lnR>
                    <a:lnT w="28575">
                      <a:solidFill>
                        <a:srgbClr val="FFF8E9"/>
                      </a:solidFill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8E9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Eating /</a:t>
                      </a:r>
                      <a:endParaRPr sz="1800" b="1">
                        <a:solidFill>
                          <a:srgbClr val="FFF8E9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  <a:p>
                      <a:pPr algn="ctr"/>
                      <a:r>
                        <a:rPr sz="1800" b="1">
                          <a:solidFill>
                            <a:srgbClr val="FFF8E9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drinking</a:t>
                      </a:r>
                      <a:endParaRPr sz="1800" b="1">
                        <a:solidFill>
                          <a:srgbClr val="FFF8E9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>
                      <a:solidFill>
                        <a:srgbClr val="FFF8E9"/>
                      </a:solidFill>
                    </a:lnR>
                    <a:lnT w="28575">
                      <a:solidFill>
                        <a:srgbClr val="FFF8E9"/>
                      </a:solidFill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</a:tr>
              <a:tr h="887413">
                <a:tc>
                  <a:txBody>
                    <a:bodyPr/>
                    <a:lstStyle/>
                    <a:p>
                      <a:pPr algn="l"/>
                      <a:r>
                        <a:rPr sz="1950" b="1">
                          <a:solidFill>
                            <a:srgbClr val="19384A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Walking /</a:t>
                      </a:r>
                      <a:endParaRPr sz="1950" b="1">
                        <a:solidFill>
                          <a:srgbClr val="19384A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  <a:p>
                      <a:pPr algn="l"/>
                      <a:r>
                        <a:rPr sz="1950" b="1">
                          <a:solidFill>
                            <a:srgbClr val="19384A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running</a:t>
                      </a:r>
                      <a:endParaRPr sz="1950" b="1">
                        <a:solidFill>
                          <a:srgbClr val="19384A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76200" marR="76200" marT="76200" marB="76200" anchor="ctr">
                    <a:lnL w="28575">
                      <a:solidFill>
                        <a:srgbClr val="FFF8E9"/>
                      </a:solidFill>
                    </a:lnL>
                    <a:lnR w="28575">
                      <a:solidFill>
                        <a:srgbClr val="FFF8E9"/>
                      </a:solidFill>
                    </a:lnR>
                    <a:lnT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25" b="0">
                          <a:solidFill>
                            <a:srgbClr val="FFFFFF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81.8%</a:t>
                      </a:r>
                      <a:endParaRPr sz="2025" b="0">
                        <a:solidFill>
                          <a:srgbClr val="FFFFFF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>
                      <a:solidFill>
                        <a:srgbClr val="FFF8E9"/>
                      </a:solidFill>
                    </a:lnR>
                    <a:lnT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rgbClr val="415B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25" b="0">
                          <a:solidFill>
                            <a:srgbClr val="102733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13.6%</a:t>
                      </a:r>
                      <a:endParaRPr sz="2025" b="0">
                        <a:solidFill>
                          <a:srgbClr val="102733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>
                      <a:solidFill>
                        <a:srgbClr val="FFF8E9"/>
                      </a:solidFill>
                    </a:lnR>
                    <a:lnT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rgbClr val="D9E0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25" b="0">
                          <a:solidFill>
                            <a:srgbClr val="102733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0.0%</a:t>
                      </a:r>
                      <a:endParaRPr sz="2025" b="0">
                        <a:solidFill>
                          <a:srgbClr val="102733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>
                      <a:solidFill>
                        <a:srgbClr val="FFF8E9"/>
                      </a:solidFill>
                    </a:lnR>
                    <a:lnT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25" b="0">
                          <a:solidFill>
                            <a:srgbClr val="102733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0.0%</a:t>
                      </a:r>
                      <a:endParaRPr sz="2025" b="0">
                        <a:solidFill>
                          <a:srgbClr val="102733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>
                      <a:solidFill>
                        <a:srgbClr val="FFF8E9"/>
                      </a:solidFill>
                    </a:lnR>
                    <a:lnT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25" b="0">
                          <a:solidFill>
                            <a:srgbClr val="102733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4.5%</a:t>
                      </a:r>
                      <a:endParaRPr sz="2025" b="0">
                        <a:solidFill>
                          <a:srgbClr val="102733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>
                      <a:solidFill>
                        <a:srgbClr val="FFF8E9"/>
                      </a:solidFill>
                    </a:lnR>
                    <a:lnT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rgbClr val="EDF1F5"/>
                    </a:solidFill>
                  </a:tcPr>
                </a:tc>
              </a:tr>
              <a:tr h="887413">
                <a:tc>
                  <a:txBody>
                    <a:bodyPr/>
                    <a:lstStyle/>
                    <a:p>
                      <a:pPr algn="l"/>
                      <a:r>
                        <a:rPr sz="1950" b="1">
                          <a:solidFill>
                            <a:srgbClr val="19384A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Standing</a:t>
                      </a:r>
                      <a:endParaRPr sz="1950" b="1">
                        <a:solidFill>
                          <a:srgbClr val="19384A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76200" marR="76200" marT="76200" marB="76200" anchor="ctr">
                    <a:lnL w="28575">
                      <a:solidFill>
                        <a:srgbClr val="FFF8E9"/>
                      </a:solidFill>
                    </a:lnL>
                    <a:lnR w="28575">
                      <a:solidFill>
                        <a:srgbClr val="FFF8E9"/>
                      </a:solidFill>
                    </a:lnR>
                    <a:lnT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25" b="0">
                          <a:solidFill>
                            <a:srgbClr val="102733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3.6%</a:t>
                      </a:r>
                      <a:endParaRPr sz="2025" b="0">
                        <a:solidFill>
                          <a:srgbClr val="102733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>
                      <a:solidFill>
                        <a:srgbClr val="FFF8E9"/>
                      </a:solidFill>
                    </a:lnR>
                    <a:lnT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25" b="0">
                          <a:solidFill>
                            <a:srgbClr val="102733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60.7%</a:t>
                      </a:r>
                      <a:endParaRPr sz="2025" b="0">
                        <a:solidFill>
                          <a:srgbClr val="102733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>
                      <a:solidFill>
                        <a:srgbClr val="FFF8E9"/>
                      </a:solidFill>
                    </a:lnR>
                    <a:lnT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rgbClr val="7084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25" b="0">
                          <a:solidFill>
                            <a:srgbClr val="102733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14.3%</a:t>
                      </a:r>
                      <a:endParaRPr sz="2025" b="0">
                        <a:solidFill>
                          <a:srgbClr val="102733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>
                      <a:solidFill>
                        <a:srgbClr val="FFF8E9"/>
                      </a:solidFill>
                    </a:lnR>
                    <a:lnT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rgbClr val="D7DE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25" b="0">
                          <a:solidFill>
                            <a:srgbClr val="102733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10.7%</a:t>
                      </a:r>
                      <a:endParaRPr sz="2025" b="0">
                        <a:solidFill>
                          <a:srgbClr val="102733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>
                      <a:solidFill>
                        <a:srgbClr val="FFF8E9"/>
                      </a:solidFill>
                    </a:lnR>
                    <a:lnT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rgbClr val="DFE5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25" b="0">
                          <a:solidFill>
                            <a:srgbClr val="102733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10.7%</a:t>
                      </a:r>
                      <a:endParaRPr sz="2025" b="0">
                        <a:solidFill>
                          <a:srgbClr val="102733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>
                      <a:solidFill>
                        <a:srgbClr val="FFF8E9"/>
                      </a:solidFill>
                    </a:lnR>
                    <a:lnT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rgbClr val="DFE5EA"/>
                    </a:solidFill>
                  </a:tcPr>
                </a:tc>
              </a:tr>
              <a:tr h="887413">
                <a:tc>
                  <a:txBody>
                    <a:bodyPr/>
                    <a:lstStyle/>
                    <a:p>
                      <a:pPr algn="l"/>
                      <a:r>
                        <a:rPr sz="1950" b="1">
                          <a:solidFill>
                            <a:srgbClr val="19384A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Sitting</a:t>
                      </a:r>
                      <a:endParaRPr sz="1950" b="1">
                        <a:solidFill>
                          <a:srgbClr val="19384A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76200" marR="76200" marT="76200" marB="76200" anchor="ctr">
                    <a:lnL w="28575">
                      <a:solidFill>
                        <a:srgbClr val="FFF8E9"/>
                      </a:solidFill>
                    </a:lnL>
                    <a:lnR w="28575">
                      <a:solidFill>
                        <a:srgbClr val="FFF8E9"/>
                      </a:solidFill>
                    </a:lnR>
                    <a:lnT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25" b="0">
                          <a:solidFill>
                            <a:srgbClr val="102733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0.0%</a:t>
                      </a:r>
                      <a:endParaRPr sz="2025" b="0">
                        <a:solidFill>
                          <a:srgbClr val="102733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>
                      <a:solidFill>
                        <a:srgbClr val="FFF8E9"/>
                      </a:solidFill>
                    </a:lnR>
                    <a:lnT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25" b="0">
                          <a:solidFill>
                            <a:srgbClr val="102733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6.7%</a:t>
                      </a:r>
                      <a:endParaRPr sz="2025" b="0">
                        <a:solidFill>
                          <a:srgbClr val="102733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>
                      <a:solidFill>
                        <a:srgbClr val="FFF8E9"/>
                      </a:solidFill>
                    </a:lnR>
                    <a:lnT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rgbClr val="E8ED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25" b="0">
                          <a:solidFill>
                            <a:srgbClr val="FFFFFF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90.0%</a:t>
                      </a:r>
                      <a:endParaRPr sz="2025" b="0">
                        <a:solidFill>
                          <a:srgbClr val="FFFFFF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>
                      <a:solidFill>
                        <a:srgbClr val="FFF8E9"/>
                      </a:solidFill>
                    </a:lnR>
                    <a:lnT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rgbClr val="2F4B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25" b="0">
                          <a:solidFill>
                            <a:srgbClr val="102733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3.3%</a:t>
                      </a:r>
                      <a:endParaRPr sz="2025" b="0">
                        <a:solidFill>
                          <a:srgbClr val="102733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>
                      <a:solidFill>
                        <a:srgbClr val="FFF8E9"/>
                      </a:solidFill>
                    </a:lnR>
                    <a:lnT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25" b="0">
                          <a:solidFill>
                            <a:srgbClr val="102733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0.0%</a:t>
                      </a:r>
                      <a:endParaRPr sz="2025" b="0">
                        <a:solidFill>
                          <a:srgbClr val="102733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>
                      <a:solidFill>
                        <a:srgbClr val="FFF8E9"/>
                      </a:solidFill>
                    </a:lnR>
                    <a:lnT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rgbClr val="F7FAFD"/>
                    </a:solidFill>
                  </a:tcPr>
                </a:tc>
              </a:tr>
              <a:tr h="887413">
                <a:tc>
                  <a:txBody>
                    <a:bodyPr/>
                    <a:lstStyle/>
                    <a:p>
                      <a:pPr algn="l"/>
                      <a:r>
                        <a:rPr sz="1950" b="1">
                          <a:solidFill>
                            <a:srgbClr val="19384A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Lying /</a:t>
                      </a:r>
                      <a:endParaRPr sz="1950" b="1">
                        <a:solidFill>
                          <a:srgbClr val="19384A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  <a:p>
                      <a:pPr algn="l"/>
                      <a:r>
                        <a:rPr sz="1950" b="1">
                          <a:solidFill>
                            <a:srgbClr val="19384A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sleeping</a:t>
                      </a:r>
                      <a:endParaRPr sz="1950" b="1">
                        <a:solidFill>
                          <a:srgbClr val="19384A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76200" marR="76200" marT="76200" marB="76200" anchor="ctr">
                    <a:lnL w="28575">
                      <a:solidFill>
                        <a:srgbClr val="FFF8E9"/>
                      </a:solidFill>
                    </a:lnL>
                    <a:lnR w="28575">
                      <a:solidFill>
                        <a:srgbClr val="FFF8E9"/>
                      </a:solidFill>
                    </a:lnR>
                    <a:lnT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25" b="0">
                          <a:solidFill>
                            <a:srgbClr val="102733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0.0%</a:t>
                      </a:r>
                      <a:endParaRPr sz="2025" b="0">
                        <a:solidFill>
                          <a:srgbClr val="102733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>
                      <a:solidFill>
                        <a:srgbClr val="FFF8E9"/>
                      </a:solidFill>
                    </a:lnR>
                    <a:lnT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25" b="0">
                          <a:solidFill>
                            <a:srgbClr val="102733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10.0%</a:t>
                      </a:r>
                      <a:endParaRPr sz="2025" b="0">
                        <a:solidFill>
                          <a:srgbClr val="102733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>
                      <a:solidFill>
                        <a:srgbClr val="FFF8E9"/>
                      </a:solidFill>
                    </a:lnR>
                    <a:lnT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rgbClr val="E1E7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25" b="0">
                          <a:solidFill>
                            <a:srgbClr val="102733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5.0%</a:t>
                      </a:r>
                      <a:endParaRPr sz="2025" b="0">
                        <a:solidFill>
                          <a:srgbClr val="102733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>
                      <a:solidFill>
                        <a:srgbClr val="FFF8E9"/>
                      </a:solidFill>
                    </a:lnR>
                    <a:lnT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rgbClr val="ECF0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25" b="0">
                          <a:solidFill>
                            <a:srgbClr val="FFFFFF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82.5%</a:t>
                      </a:r>
                      <a:endParaRPr sz="2025" b="0">
                        <a:solidFill>
                          <a:srgbClr val="FFFFFF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>
                      <a:solidFill>
                        <a:srgbClr val="FFF8E9"/>
                      </a:solidFill>
                    </a:lnR>
                    <a:lnT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rgbClr val="405A6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25" b="0">
                          <a:solidFill>
                            <a:srgbClr val="102733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2.5%</a:t>
                      </a:r>
                      <a:endParaRPr sz="2025" b="0">
                        <a:solidFill>
                          <a:srgbClr val="102733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>
                      <a:solidFill>
                        <a:srgbClr val="FFF8E9"/>
                      </a:solidFill>
                    </a:lnR>
                    <a:lnT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rgbClr val="F1F5F9"/>
                    </a:solidFill>
                  </a:tcPr>
                </a:tc>
              </a:tr>
              <a:tr h="887413">
                <a:tc>
                  <a:txBody>
                    <a:bodyPr/>
                    <a:lstStyle/>
                    <a:p>
                      <a:pPr algn="l"/>
                      <a:r>
                        <a:rPr sz="1950" b="1">
                          <a:solidFill>
                            <a:srgbClr val="19384A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Eating /</a:t>
                      </a:r>
                      <a:endParaRPr sz="1950" b="1">
                        <a:solidFill>
                          <a:srgbClr val="19384A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  <a:p>
                      <a:pPr algn="l"/>
                      <a:r>
                        <a:rPr sz="1950" b="1">
                          <a:solidFill>
                            <a:srgbClr val="19384A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drinking</a:t>
                      </a:r>
                      <a:endParaRPr sz="1950" b="1">
                        <a:solidFill>
                          <a:srgbClr val="19384A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76200" marR="76200" marT="76200" marB="76200" anchor="ctr">
                    <a:lnL w="28575">
                      <a:solidFill>
                        <a:srgbClr val="FFF8E9"/>
                      </a:solidFill>
                    </a:lnL>
                    <a:lnR w="28575">
                      <a:solidFill>
                        <a:srgbClr val="FFF8E9"/>
                      </a:solidFill>
                    </a:lnR>
                    <a:lnT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25" b="0">
                          <a:solidFill>
                            <a:srgbClr val="102733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0.0%</a:t>
                      </a:r>
                      <a:endParaRPr sz="2025" b="0">
                        <a:solidFill>
                          <a:srgbClr val="102733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>
                      <a:solidFill>
                        <a:srgbClr val="FFF8E9"/>
                      </a:solidFill>
                    </a:lnR>
                    <a:lnT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25" b="0">
                          <a:solidFill>
                            <a:srgbClr val="102733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17.6%</a:t>
                      </a:r>
                      <a:endParaRPr sz="2025" b="0">
                        <a:solidFill>
                          <a:srgbClr val="102733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>
                      <a:solidFill>
                        <a:srgbClr val="FFF8E9"/>
                      </a:solidFill>
                    </a:lnR>
                    <a:lnT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rgbClr val="D0D8D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25" b="0">
                          <a:solidFill>
                            <a:srgbClr val="102733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0.0%</a:t>
                      </a:r>
                      <a:endParaRPr sz="2025" b="0">
                        <a:solidFill>
                          <a:srgbClr val="102733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>
                      <a:solidFill>
                        <a:srgbClr val="FFF8E9"/>
                      </a:solidFill>
                    </a:lnR>
                    <a:lnT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25" b="0">
                          <a:solidFill>
                            <a:srgbClr val="102733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17.6%</a:t>
                      </a:r>
                      <a:endParaRPr sz="2025" b="0">
                        <a:solidFill>
                          <a:srgbClr val="102733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>
                      <a:solidFill>
                        <a:srgbClr val="FFF8E9"/>
                      </a:solidFill>
                    </a:lnR>
                    <a:lnT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rgbClr val="D0D8D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25" b="0">
                          <a:solidFill>
                            <a:srgbClr val="102733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64.7%</a:t>
                      </a:r>
                      <a:endParaRPr sz="2025" b="0">
                        <a:solidFill>
                          <a:srgbClr val="102733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>
                      <a:solidFill>
                        <a:srgbClr val="FFF8E9"/>
                      </a:solidFill>
                    </a:lnR>
                    <a:lnT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rgbClr val="677C89"/>
                    </a:solidFill>
                  </a:tcPr>
                </a:tc>
              </a:tr>
            </a:tbl>
          </a:graphicData>
        </a:graphic>
      </p:graphicFrame>
      <p:sp>
        <p:nvSpPr>
          <p:cNvPr id="6" name="s13-text-5"/>
          <p:cNvSpPr>
            <a:spLocks noGrp="1"/>
          </p:cNvSpPr>
          <p:nvPr/>
        </p:nvSpPr>
        <p:spPr>
          <a:xfrm>
            <a:off x="10943590" y="2667000"/>
            <a:ext cx="630555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 algn="l">
              <a:def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 algn="l">
              <a:def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 algn="l">
              <a:def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 algn="l">
              <a:def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 algn="l">
              <a:def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 algn="l">
              <a:def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 algn="l">
              <a:def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 algn="l">
              <a:def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 algn="l">
              <a:def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 algn="l">
              <a:def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4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Five-fold OOF</a:t>
            </a:r>
            <a:endParaRPr sz="2400" b="1">
              <a:solidFill>
                <a:srgbClr val="19384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graphicFrame>
        <p:nvGraphicFramePr>
          <p:cNvPr id="7" name="表格 6"/>
          <p:cNvGraphicFramePr/>
          <p:nvPr/>
        </p:nvGraphicFramePr>
        <p:xfrm>
          <a:off x="10953750" y="3095625"/>
          <a:ext cx="6305550" cy="952500"/>
        </p:xfrm>
        <a:graphic>
          <a:graphicData uri="http://schemas.openxmlformats.org/drawingml/2006/table">
            <a:tbl>
              <a:tblPr/>
              <a:tblGrid>
                <a:gridCol w="1352550"/>
                <a:gridCol w="2476500"/>
                <a:gridCol w="2476500"/>
              </a:tblGrid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2250" b="1">
                          <a:solidFill>
                            <a:srgbClr val="FFF8E9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Clips</a:t>
                      </a:r>
                      <a:endParaRPr sz="2250" b="1">
                        <a:solidFill>
                          <a:srgbClr val="FFF8E9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76200" marR="76200" marT="76200" marB="76200" anchor="ctr">
                    <a:lnL w="28575">
                      <a:solidFill>
                        <a:srgbClr val="FFF8E9"/>
                      </a:solidFill>
                    </a:lnL>
                    <a:lnR w="28575">
                      <a:solidFill>
                        <a:srgbClr val="FFF8E9"/>
                      </a:solidFill>
                    </a:lnR>
                    <a:lnT w="28575">
                      <a:solidFill>
                        <a:srgbClr val="FFF8E9"/>
                      </a:solidFill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250" b="1">
                          <a:solidFill>
                            <a:srgbClr val="FFF8E9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Accuracy</a:t>
                      </a:r>
                      <a:endParaRPr sz="2250" b="1">
                        <a:solidFill>
                          <a:srgbClr val="FFF8E9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>
                      <a:solidFill>
                        <a:srgbClr val="FFF8E9"/>
                      </a:solidFill>
                    </a:lnR>
                    <a:lnT w="28575">
                      <a:solidFill>
                        <a:srgbClr val="FFF8E9"/>
                      </a:solidFill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250" b="1">
                          <a:solidFill>
                            <a:srgbClr val="FFF8E9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Macro-F1</a:t>
                      </a:r>
                      <a:endParaRPr sz="2250" b="1">
                        <a:solidFill>
                          <a:srgbClr val="FFF8E9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>
                      <a:solidFill>
                        <a:srgbClr val="FFF8E9"/>
                      </a:solidFill>
                    </a:lnR>
                    <a:lnT w="28575">
                      <a:solidFill>
                        <a:srgbClr val="FFF8E9"/>
                      </a:solidFill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2250" b="1">
                          <a:solidFill>
                            <a:srgbClr val="19384A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137</a:t>
                      </a:r>
                      <a:endParaRPr sz="2250" b="1">
                        <a:solidFill>
                          <a:srgbClr val="19384A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76200" marR="76200" marT="76200" marB="76200" anchor="ctr">
                    <a:lnL w="28575">
                      <a:solidFill>
                        <a:srgbClr val="FFF8E9"/>
                      </a:solidFill>
                    </a:lnL>
                    <a:lnR w="28575">
                      <a:solidFill>
                        <a:srgbClr val="FFF8E9"/>
                      </a:solidFill>
                    </a:lnR>
                    <a:lnT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250" b="0">
                          <a:solidFill>
                            <a:srgbClr val="19384A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77.37%</a:t>
                      </a:r>
                      <a:endParaRPr sz="2250" b="0">
                        <a:solidFill>
                          <a:srgbClr val="19384A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>
                      <a:solidFill>
                        <a:srgbClr val="FFF8E9"/>
                      </a:solidFill>
                    </a:lnR>
                    <a:lnT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250" b="0">
                          <a:solidFill>
                            <a:srgbClr val="19384A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76.47%</a:t>
                      </a:r>
                      <a:endParaRPr sz="2250" b="0">
                        <a:solidFill>
                          <a:srgbClr val="19384A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>
                      <a:solidFill>
                        <a:srgbClr val="FFF8E9"/>
                      </a:solidFill>
                    </a:lnR>
                    <a:lnT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  <p:sp>
        <p:nvSpPr>
          <p:cNvPr id="8" name="s13-text-7"/>
          <p:cNvSpPr>
            <a:spLocks noGrp="1"/>
          </p:cNvSpPr>
          <p:nvPr/>
        </p:nvSpPr>
        <p:spPr>
          <a:xfrm>
            <a:off x="10953750" y="4386580"/>
            <a:ext cx="630555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 algn="l">
              <a:def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 algn="l">
              <a:def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 algn="l">
              <a:def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 algn="l">
              <a:def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 algn="l">
              <a:def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 algn="l">
              <a:def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 algn="l">
              <a:def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 algn="l">
              <a:def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 algn="l">
              <a:def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 algn="l">
              <a:def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4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Small test</a:t>
            </a:r>
            <a:endParaRPr sz="2400" b="1">
              <a:solidFill>
                <a:srgbClr val="19384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graphicFrame>
        <p:nvGraphicFramePr>
          <p:cNvPr id="9" name="表格 8"/>
          <p:cNvGraphicFramePr/>
          <p:nvPr/>
        </p:nvGraphicFramePr>
        <p:xfrm>
          <a:off x="10953750" y="4810125"/>
          <a:ext cx="6305550" cy="952500"/>
        </p:xfrm>
        <a:graphic>
          <a:graphicData uri="http://schemas.openxmlformats.org/drawingml/2006/table">
            <a:tbl>
              <a:tblPr/>
              <a:tblGrid>
                <a:gridCol w="1352550"/>
                <a:gridCol w="2476500"/>
                <a:gridCol w="2476500"/>
              </a:tblGrid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2250" b="1">
                          <a:solidFill>
                            <a:srgbClr val="FFF8E9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Clips</a:t>
                      </a:r>
                      <a:endParaRPr sz="2250" b="1">
                        <a:solidFill>
                          <a:srgbClr val="FFF8E9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76200" marR="76200" marT="76200" marB="76200" anchor="ctr">
                    <a:lnL w="28575">
                      <a:solidFill>
                        <a:srgbClr val="FFF8E9"/>
                      </a:solidFill>
                    </a:lnL>
                    <a:lnR w="28575">
                      <a:solidFill>
                        <a:srgbClr val="FFF8E9"/>
                      </a:solidFill>
                    </a:lnR>
                    <a:lnT w="28575">
                      <a:solidFill>
                        <a:srgbClr val="FFF8E9"/>
                      </a:solidFill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250" b="1">
                          <a:solidFill>
                            <a:srgbClr val="FFF8E9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Accuracy</a:t>
                      </a:r>
                      <a:endParaRPr sz="2250" b="1">
                        <a:solidFill>
                          <a:srgbClr val="FFF8E9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>
                      <a:solidFill>
                        <a:srgbClr val="FFF8E9"/>
                      </a:solidFill>
                    </a:lnR>
                    <a:lnT w="28575">
                      <a:solidFill>
                        <a:srgbClr val="FFF8E9"/>
                      </a:solidFill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250" b="1">
                          <a:solidFill>
                            <a:srgbClr val="FFF8E9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Macro-F1</a:t>
                      </a:r>
                      <a:endParaRPr sz="2250" b="1">
                        <a:solidFill>
                          <a:srgbClr val="FFF8E9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>
                      <a:solidFill>
                        <a:srgbClr val="FFF8E9"/>
                      </a:solidFill>
                    </a:lnR>
                    <a:lnT w="28575">
                      <a:solidFill>
                        <a:srgbClr val="FFF8E9"/>
                      </a:solidFill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2250" b="1">
                          <a:solidFill>
                            <a:srgbClr val="19384A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33</a:t>
                      </a:r>
                      <a:endParaRPr sz="2250" b="1">
                        <a:solidFill>
                          <a:srgbClr val="19384A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76200" marR="76200" marT="76200" marB="76200" anchor="ctr">
                    <a:lnL w="28575">
                      <a:solidFill>
                        <a:srgbClr val="FFF8E9"/>
                      </a:solidFill>
                    </a:lnL>
                    <a:lnR w="28575">
                      <a:solidFill>
                        <a:srgbClr val="FFF8E9"/>
                      </a:solidFill>
                    </a:lnR>
                    <a:lnT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250" b="0">
                          <a:solidFill>
                            <a:srgbClr val="19384A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78.79%</a:t>
                      </a:r>
                      <a:endParaRPr sz="2250" b="0">
                        <a:solidFill>
                          <a:srgbClr val="19384A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>
                      <a:solidFill>
                        <a:srgbClr val="FFF8E9"/>
                      </a:solidFill>
                    </a:lnR>
                    <a:lnT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250" b="0">
                          <a:solidFill>
                            <a:srgbClr val="19384A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78.83%</a:t>
                      </a:r>
                      <a:endParaRPr sz="2250" b="0">
                        <a:solidFill>
                          <a:srgbClr val="19384A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>
                      <a:solidFill>
                        <a:srgbClr val="FFF8E9"/>
                      </a:solidFill>
                    </a:lnR>
                    <a:lnT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  <p:sp>
        <p:nvSpPr>
          <p:cNvPr id="13" name="矩形 12"/>
          <p:cNvSpPr>
            <a:spLocks noGrp="1"/>
          </p:cNvSpPr>
          <p:nvPr/>
        </p:nvSpPr>
        <p:spPr>
          <a:xfrm>
            <a:off x="10953750" y="6033770"/>
            <a:ext cx="63055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>
              <a:defRPr sz="2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>
              <a:defRPr sz="2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>
              <a:defRPr sz="2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>
              <a:defRPr sz="2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>
              <a:defRPr sz="2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>
              <a:defRPr sz="2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>
              <a:defRPr sz="2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>
              <a:defRPr sz="2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>
              <a:defRPr sz="2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>
              <a:defRPr sz="2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Component gains (OOF)</a:t>
            </a:r>
            <a:endParaRPr sz="2250" b="1">
              <a:solidFill>
                <a:srgbClr val="19384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graphicFrame>
        <p:nvGraphicFramePr>
          <p:cNvPr id="14" name="Chart"/>
          <p:cNvGraphicFramePr/>
          <p:nvPr/>
        </p:nvGraphicFramePr>
        <p:xfrm>
          <a:off x="10943590" y="6489065"/>
          <a:ext cx="6305550" cy="3000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18" name="矩形 17"/>
          <p:cNvSpPr>
            <a:spLocks noGrp="1"/>
          </p:cNvSpPr>
          <p:nvPr/>
        </p:nvSpPr>
        <p:spPr>
          <a:xfrm>
            <a:off x="10953750" y="9533255"/>
            <a:ext cx="630555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5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>
              <a:defRPr sz="15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>
              <a:defRPr sz="15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>
              <a:defRPr sz="15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>
              <a:defRPr sz="15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>
              <a:defRPr sz="15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>
              <a:defRPr sz="15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>
              <a:defRPr sz="15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>
              <a:defRPr sz="15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>
              <a:defRPr sz="15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>
              <a:defRPr sz="15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15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0-60% omitted (axis break)</a:t>
            </a:r>
            <a:endParaRPr sz="1500" b="0">
              <a:solidFill>
                <a:srgbClr val="4F6470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1028700" y="9124950"/>
            <a:ext cx="92392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02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>
              <a:defRPr sz="202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>
              <a:defRPr sz="202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>
              <a:defRPr sz="202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>
              <a:defRPr sz="202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>
              <a:defRPr sz="202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>
              <a:defRPr sz="202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>
              <a:defRPr sz="202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>
              <a:defRPr sz="202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>
              <a:defRPr sz="202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>
              <a:defRPr sz="202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02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Sitting recall: 90.0%. Standing and eating remain harder.</a:t>
            </a:r>
            <a:endParaRPr sz="2025" b="1">
              <a:solidFill>
                <a:srgbClr val="B8402E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1028700" y="9725025"/>
            <a:ext cx="92392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65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>
              <a:defRPr sz="165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>
              <a:defRPr sz="165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>
              <a:defRPr sz="165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>
              <a:defRPr sz="165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>
              <a:defRPr sz="165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>
              <a:defRPr sz="165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>
              <a:defRPr sz="165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>
              <a:defRPr sz="165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>
              <a:defRPr sz="165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>
              <a:defRPr sz="165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165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Grouped five-fold OOF is primary; the small test is supporting evidence.</a:t>
            </a:r>
            <a:endParaRPr sz="1650" b="0">
              <a:solidFill>
                <a:srgbClr val="4F6470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olished background 14-1"/>
          <p:cNvSpPr>
            <a:spLocks noGrp="1"/>
          </p:cNvSpPr>
          <p:nvPr/>
        </p:nvSpPr>
        <p:spPr>
          <a:xfrm>
            <a:off x="10668000" y="2514600"/>
            <a:ext cx="6953250" cy="7400925"/>
          </a:xfrm>
          <a:prstGeom prst="rect">
            <a:avLst/>
          </a:prstGeom>
          <a:solidFill>
            <a:srgbClr val="EAF0EB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Polished background 14-2"/>
          <p:cNvSpPr>
            <a:spLocks noGrp="1"/>
          </p:cNvSpPr>
          <p:nvPr/>
        </p:nvSpPr>
        <p:spPr>
          <a:xfrm>
            <a:off x="10668000" y="2514600"/>
            <a:ext cx="6953250" cy="47625"/>
          </a:xfrm>
          <a:prstGeom prst="rect">
            <a:avLst/>
          </a:prstGeom>
          <a:solidFill>
            <a:srgbClr val="19384A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Polished background 14-3"/>
          <p:cNvSpPr>
            <a:spLocks noGrp="1"/>
          </p:cNvSpPr>
          <p:nvPr/>
        </p:nvSpPr>
        <p:spPr>
          <a:xfrm>
            <a:off x="1028700" y="2257425"/>
            <a:ext cx="16230600" cy="19050"/>
          </a:xfrm>
          <a:prstGeom prst="rect">
            <a:avLst/>
          </a:prstGeom>
          <a:solidFill>
            <a:srgbClr val="D8D9CA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Polished background 14-4"/>
          <p:cNvSpPr>
            <a:spLocks noGrp="1"/>
          </p:cNvSpPr>
          <p:nvPr/>
        </p:nvSpPr>
        <p:spPr>
          <a:xfrm>
            <a:off x="1028700" y="2257425"/>
            <a:ext cx="857250" cy="38100"/>
          </a:xfrm>
          <a:prstGeom prst="rect">
            <a:avLst/>
          </a:prstGeom>
          <a:solidFill>
            <a:srgbClr val="B8402E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s14-text-0"/>
          <p:cNvSpPr>
            <a:spLocks noGrp="1"/>
          </p:cNvSpPr>
          <p:nvPr/>
        </p:nvSpPr>
        <p:spPr>
          <a:xfrm>
            <a:off x="1028700" y="695325"/>
            <a:ext cx="16144875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 algn="l"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 algn="l"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 algn="l"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 algn="l"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 algn="l"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 algn="l"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 algn="l"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 algn="l"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 algn="l"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 algn="l">
              <a:def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187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FIVE-FOLD OOF AND SUPPORTING SMALL TEST</a:t>
            </a:r>
            <a:endParaRPr sz="1875" b="1">
              <a:solidFill>
                <a:srgbClr val="B8402E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2" name="s14-text-1"/>
          <p:cNvSpPr>
            <a:spLocks noGrp="1"/>
          </p:cNvSpPr>
          <p:nvPr/>
        </p:nvSpPr>
        <p:spPr>
          <a:xfrm>
            <a:off x="1028700" y="1295400"/>
            <a:ext cx="16230600" cy="1000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54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 algn="l">
              <a:defRPr sz="54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 algn="l">
              <a:defRPr sz="54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 algn="l">
              <a:defRPr sz="54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 algn="l">
              <a:defRPr sz="54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 algn="l">
              <a:defRPr sz="54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 algn="l">
              <a:defRPr sz="54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 algn="l">
              <a:defRPr sz="54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 algn="l">
              <a:defRPr sz="54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 algn="l">
              <a:defRPr sz="54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 algn="l">
              <a:defRPr sz="54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54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Human-Dog Interaction Evaluation</a:t>
            </a:r>
            <a:endParaRPr sz="5400" b="1">
              <a:solidFill>
                <a:srgbClr val="19384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3" name="s14-text-2"/>
          <p:cNvSpPr>
            <a:spLocks noGrp="1"/>
          </p:cNvSpPr>
          <p:nvPr/>
        </p:nvSpPr>
        <p:spPr>
          <a:xfrm>
            <a:off x="1028700" y="2676525"/>
            <a:ext cx="876300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 algn="l">
              <a:def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 algn="l">
              <a:def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 algn="l">
              <a:def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 algn="l">
              <a:def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 algn="l">
              <a:def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 algn="l">
              <a:def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 algn="l">
              <a:def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 algn="l">
              <a:def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 algn="l">
              <a:def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 algn="l">
              <a:def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OOF confusion matrix</a:t>
            </a:r>
            <a:endParaRPr sz="2925" b="1">
              <a:solidFill>
                <a:srgbClr val="19384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graphicFrame>
        <p:nvGraphicFramePr>
          <p:cNvPr id="4" name="表格 3"/>
          <p:cNvGraphicFramePr/>
          <p:nvPr/>
        </p:nvGraphicFramePr>
        <p:xfrm>
          <a:off x="1028700" y="3524250"/>
          <a:ext cx="9239250" cy="5324475"/>
        </p:xfrm>
        <a:graphic>
          <a:graphicData uri="http://schemas.openxmlformats.org/drawingml/2006/table">
            <a:tbl>
              <a:tblPr/>
              <a:tblGrid>
                <a:gridCol w="2402205"/>
                <a:gridCol w="1709261"/>
                <a:gridCol w="1709261"/>
                <a:gridCol w="1709261"/>
                <a:gridCol w="1709261"/>
              </a:tblGrid>
              <a:tr h="1064895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8E9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Actual /</a:t>
                      </a:r>
                      <a:endParaRPr sz="1800" b="1">
                        <a:solidFill>
                          <a:srgbClr val="FFF8E9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  <a:p>
                      <a:pPr algn="l"/>
                      <a:r>
                        <a:rPr sz="1800" b="1">
                          <a:solidFill>
                            <a:srgbClr val="FFF8E9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predicted</a:t>
                      </a:r>
                      <a:endParaRPr sz="1800" b="1">
                        <a:solidFill>
                          <a:srgbClr val="FFF8E9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76200" marR="76200" marT="76200" marB="76200" anchor="ctr">
                    <a:lnL w="28575">
                      <a:solidFill>
                        <a:srgbClr val="FFF8E9"/>
                      </a:solidFill>
                    </a:lnL>
                    <a:lnR w="28575">
                      <a:solidFill>
                        <a:srgbClr val="FFF8E9"/>
                      </a:solidFill>
                    </a:lnR>
                    <a:lnT w="28575">
                      <a:solidFill>
                        <a:srgbClr val="FFF8E9"/>
                      </a:solidFill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8E9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No</a:t>
                      </a:r>
                      <a:endParaRPr sz="1800" b="1">
                        <a:solidFill>
                          <a:srgbClr val="FFF8E9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  <a:p>
                      <a:pPr algn="ctr"/>
                      <a:r>
                        <a:rPr sz="1800" b="1">
                          <a:solidFill>
                            <a:srgbClr val="FFF8E9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interaction</a:t>
                      </a:r>
                      <a:endParaRPr sz="1800" b="1">
                        <a:solidFill>
                          <a:srgbClr val="FFF8E9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>
                      <a:solidFill>
                        <a:srgbClr val="FFF8E9"/>
                      </a:solidFill>
                    </a:lnR>
                    <a:lnT w="28575">
                      <a:solidFill>
                        <a:srgbClr val="FFF8E9"/>
                      </a:solidFill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8E9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Hand</a:t>
                      </a:r>
                      <a:endParaRPr sz="1800" b="1">
                        <a:solidFill>
                          <a:srgbClr val="FFF8E9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  <a:p>
                      <a:pPr algn="ctr"/>
                      <a:r>
                        <a:rPr sz="1800" b="1">
                          <a:solidFill>
                            <a:srgbClr val="FFF8E9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feeding</a:t>
                      </a:r>
                      <a:endParaRPr sz="1800" b="1">
                        <a:solidFill>
                          <a:srgbClr val="FFF8E9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>
                      <a:solidFill>
                        <a:srgbClr val="FFF8E9"/>
                      </a:solidFill>
                    </a:lnR>
                    <a:lnT w="28575">
                      <a:solidFill>
                        <a:srgbClr val="FFF8E9"/>
                      </a:solidFill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8E9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Petting</a:t>
                      </a:r>
                      <a:endParaRPr sz="1800" b="1">
                        <a:solidFill>
                          <a:srgbClr val="FFF8E9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>
                      <a:solidFill>
                        <a:srgbClr val="FFF8E9"/>
                      </a:solidFill>
                    </a:lnR>
                    <a:lnT w="28575">
                      <a:solidFill>
                        <a:srgbClr val="FFF8E9"/>
                      </a:solidFill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8E9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Playing</a:t>
                      </a:r>
                      <a:endParaRPr sz="1800" b="1">
                        <a:solidFill>
                          <a:srgbClr val="FFF8E9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  <a:p>
                      <a:pPr algn="ctr"/>
                      <a:r>
                        <a:rPr sz="1800" b="1">
                          <a:solidFill>
                            <a:srgbClr val="FFF8E9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together</a:t>
                      </a:r>
                      <a:endParaRPr sz="1800" b="1">
                        <a:solidFill>
                          <a:srgbClr val="FFF8E9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>
                      <a:solidFill>
                        <a:srgbClr val="FFF8E9"/>
                      </a:solidFill>
                    </a:lnR>
                    <a:lnT w="28575">
                      <a:solidFill>
                        <a:srgbClr val="FFF8E9"/>
                      </a:solidFill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</a:tr>
              <a:tr h="1064895">
                <a:tc>
                  <a:txBody>
                    <a:bodyPr/>
                    <a:lstStyle/>
                    <a:p>
                      <a:pPr algn="l"/>
                      <a:r>
                        <a:rPr sz="1950" b="1">
                          <a:solidFill>
                            <a:srgbClr val="19384A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No</a:t>
                      </a:r>
                      <a:endParaRPr sz="1950" b="1">
                        <a:solidFill>
                          <a:srgbClr val="19384A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  <a:p>
                      <a:pPr algn="l"/>
                      <a:r>
                        <a:rPr sz="1950" b="1">
                          <a:solidFill>
                            <a:srgbClr val="19384A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interaction</a:t>
                      </a:r>
                      <a:endParaRPr sz="1950" b="1">
                        <a:solidFill>
                          <a:srgbClr val="19384A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76200" marR="76200" marT="76200" marB="76200" anchor="ctr">
                    <a:lnL w="28575">
                      <a:solidFill>
                        <a:srgbClr val="FFF8E9"/>
                      </a:solidFill>
                    </a:lnL>
                    <a:lnR w="28575">
                      <a:solidFill>
                        <a:srgbClr val="FFF8E9"/>
                      </a:solidFill>
                    </a:lnR>
                    <a:lnT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25" b="0">
                          <a:solidFill>
                            <a:srgbClr val="FFFFFF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96.3%</a:t>
                      </a:r>
                      <a:endParaRPr sz="2025" b="0">
                        <a:solidFill>
                          <a:srgbClr val="FFFFFF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>
                      <a:solidFill>
                        <a:srgbClr val="FFF8E9"/>
                      </a:solidFill>
                    </a:lnR>
                    <a:lnT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rgbClr val="213F5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25" b="0">
                          <a:solidFill>
                            <a:srgbClr val="102733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0.0%</a:t>
                      </a:r>
                      <a:endParaRPr sz="2025" b="0">
                        <a:solidFill>
                          <a:srgbClr val="102733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>
                      <a:solidFill>
                        <a:srgbClr val="FFF8E9"/>
                      </a:solidFill>
                    </a:lnR>
                    <a:lnT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25" b="0">
                          <a:solidFill>
                            <a:srgbClr val="102733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3.7%</a:t>
                      </a:r>
                      <a:endParaRPr sz="2025" b="0">
                        <a:solidFill>
                          <a:srgbClr val="102733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>
                      <a:solidFill>
                        <a:srgbClr val="FFF8E9"/>
                      </a:solidFill>
                    </a:lnR>
                    <a:lnT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rgbClr val="EF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25" b="0">
                          <a:solidFill>
                            <a:srgbClr val="102733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0.0%</a:t>
                      </a:r>
                      <a:endParaRPr sz="2025" b="0">
                        <a:solidFill>
                          <a:srgbClr val="102733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>
                      <a:solidFill>
                        <a:srgbClr val="FFF8E9"/>
                      </a:solidFill>
                    </a:lnR>
                    <a:lnT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rgbClr val="F7FAFD"/>
                    </a:solidFill>
                  </a:tcPr>
                </a:tc>
              </a:tr>
              <a:tr h="1064895">
                <a:tc>
                  <a:txBody>
                    <a:bodyPr/>
                    <a:lstStyle/>
                    <a:p>
                      <a:pPr algn="l"/>
                      <a:r>
                        <a:rPr sz="1950" b="1">
                          <a:solidFill>
                            <a:srgbClr val="19384A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Hand</a:t>
                      </a:r>
                      <a:endParaRPr sz="1950" b="1">
                        <a:solidFill>
                          <a:srgbClr val="19384A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  <a:p>
                      <a:pPr algn="l"/>
                      <a:r>
                        <a:rPr sz="1950" b="1">
                          <a:solidFill>
                            <a:srgbClr val="19384A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feeding</a:t>
                      </a:r>
                      <a:endParaRPr sz="1950" b="1">
                        <a:solidFill>
                          <a:srgbClr val="19384A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76200" marR="76200" marT="76200" marB="76200" anchor="ctr">
                    <a:lnL w="28575">
                      <a:solidFill>
                        <a:srgbClr val="FFF8E9"/>
                      </a:solidFill>
                    </a:lnL>
                    <a:lnR w="28575">
                      <a:solidFill>
                        <a:srgbClr val="FFF8E9"/>
                      </a:solidFill>
                    </a:lnR>
                    <a:lnT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25" b="0">
                          <a:solidFill>
                            <a:srgbClr val="102733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8.7%</a:t>
                      </a:r>
                      <a:endParaRPr sz="2025" b="0">
                        <a:solidFill>
                          <a:srgbClr val="102733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>
                      <a:solidFill>
                        <a:srgbClr val="FFF8E9"/>
                      </a:solidFill>
                    </a:lnR>
                    <a:lnT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rgbClr val="E4E9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25" b="0">
                          <a:solidFill>
                            <a:srgbClr val="102733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52.2%</a:t>
                      </a:r>
                      <a:endParaRPr sz="2025" b="0">
                        <a:solidFill>
                          <a:srgbClr val="102733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>
                      <a:solidFill>
                        <a:srgbClr val="FFF8E9"/>
                      </a:solidFill>
                    </a:lnR>
                    <a:lnT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rgbClr val="8395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25" b="0">
                          <a:solidFill>
                            <a:srgbClr val="102733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26.1%</a:t>
                      </a:r>
                      <a:endParaRPr sz="2025" b="0">
                        <a:solidFill>
                          <a:srgbClr val="102733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>
                      <a:solidFill>
                        <a:srgbClr val="FFF8E9"/>
                      </a:solidFill>
                    </a:lnR>
                    <a:lnT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rgbClr val="BDC7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25" b="0">
                          <a:solidFill>
                            <a:srgbClr val="102733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13.0%</a:t>
                      </a:r>
                      <a:endParaRPr sz="2025" b="0">
                        <a:solidFill>
                          <a:srgbClr val="102733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>
                      <a:solidFill>
                        <a:srgbClr val="FFF8E9"/>
                      </a:solidFill>
                    </a:lnR>
                    <a:lnT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rgbClr val="DAE1E6"/>
                    </a:solidFill>
                  </a:tcPr>
                </a:tc>
              </a:tr>
              <a:tr h="1064895">
                <a:tc>
                  <a:txBody>
                    <a:bodyPr/>
                    <a:lstStyle/>
                    <a:p>
                      <a:pPr algn="l"/>
                      <a:r>
                        <a:rPr sz="1950" b="1">
                          <a:solidFill>
                            <a:srgbClr val="19384A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Petting</a:t>
                      </a:r>
                      <a:endParaRPr sz="1950" b="1">
                        <a:solidFill>
                          <a:srgbClr val="19384A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76200" marR="76200" marT="76200" marB="76200" anchor="ctr">
                    <a:lnL w="28575">
                      <a:solidFill>
                        <a:srgbClr val="FFF8E9"/>
                      </a:solidFill>
                    </a:lnL>
                    <a:lnR w="28575">
                      <a:solidFill>
                        <a:srgbClr val="FFF8E9"/>
                      </a:solidFill>
                    </a:lnR>
                    <a:lnT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25" b="0">
                          <a:solidFill>
                            <a:srgbClr val="102733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0.0%</a:t>
                      </a:r>
                      <a:endParaRPr sz="2025" b="0">
                        <a:solidFill>
                          <a:srgbClr val="102733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>
                      <a:solidFill>
                        <a:srgbClr val="FFF8E9"/>
                      </a:solidFill>
                    </a:lnR>
                    <a:lnT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25" b="0">
                          <a:solidFill>
                            <a:srgbClr val="102733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16.0%</a:t>
                      </a:r>
                      <a:endParaRPr sz="2025" b="0">
                        <a:solidFill>
                          <a:srgbClr val="102733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>
                      <a:solidFill>
                        <a:srgbClr val="FFF8E9"/>
                      </a:solidFill>
                    </a:lnR>
                    <a:lnT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rgbClr val="D3DB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25" b="0">
                          <a:solidFill>
                            <a:srgbClr val="FFFFFF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72.0%</a:t>
                      </a:r>
                      <a:endParaRPr sz="2025" b="0">
                        <a:solidFill>
                          <a:srgbClr val="FFFFFF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>
                      <a:solidFill>
                        <a:srgbClr val="FFF8E9"/>
                      </a:solidFill>
                    </a:lnR>
                    <a:lnT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rgbClr val="576E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25" b="0">
                          <a:solidFill>
                            <a:srgbClr val="102733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12.0%</a:t>
                      </a:r>
                      <a:endParaRPr sz="2025" b="0">
                        <a:solidFill>
                          <a:srgbClr val="102733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>
                      <a:solidFill>
                        <a:srgbClr val="FFF8E9"/>
                      </a:solidFill>
                    </a:lnR>
                    <a:lnT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rgbClr val="DCE3E8"/>
                    </a:solidFill>
                  </a:tcPr>
                </a:tc>
              </a:tr>
              <a:tr h="1064895">
                <a:tc>
                  <a:txBody>
                    <a:bodyPr/>
                    <a:lstStyle/>
                    <a:p>
                      <a:pPr algn="l"/>
                      <a:r>
                        <a:rPr sz="1950" b="1">
                          <a:solidFill>
                            <a:srgbClr val="19384A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Playing</a:t>
                      </a:r>
                      <a:endParaRPr sz="1950" b="1">
                        <a:solidFill>
                          <a:srgbClr val="19384A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  <a:p>
                      <a:pPr algn="l"/>
                      <a:r>
                        <a:rPr sz="1950" b="1">
                          <a:solidFill>
                            <a:srgbClr val="19384A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together</a:t>
                      </a:r>
                      <a:endParaRPr sz="1950" b="1">
                        <a:solidFill>
                          <a:srgbClr val="19384A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76200" marR="76200" marT="76200" marB="76200" anchor="ctr">
                    <a:lnL w="28575">
                      <a:solidFill>
                        <a:srgbClr val="FFF8E9"/>
                      </a:solidFill>
                    </a:lnL>
                    <a:lnR w="28575">
                      <a:solidFill>
                        <a:srgbClr val="FFF8E9"/>
                      </a:solidFill>
                    </a:lnR>
                    <a:lnT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25" b="0">
                          <a:solidFill>
                            <a:srgbClr val="102733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0.0%</a:t>
                      </a:r>
                      <a:endParaRPr sz="2025" b="0">
                        <a:solidFill>
                          <a:srgbClr val="102733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>
                      <a:solidFill>
                        <a:srgbClr val="FFF8E9"/>
                      </a:solidFill>
                    </a:lnR>
                    <a:lnT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25" b="0">
                          <a:solidFill>
                            <a:srgbClr val="102733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13.6%</a:t>
                      </a:r>
                      <a:endParaRPr sz="2025" b="0">
                        <a:solidFill>
                          <a:srgbClr val="102733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>
                      <a:solidFill>
                        <a:srgbClr val="FFF8E9"/>
                      </a:solidFill>
                    </a:lnR>
                    <a:lnT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rgbClr val="D9E0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25" b="0">
                          <a:solidFill>
                            <a:srgbClr val="102733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0.0%</a:t>
                      </a:r>
                      <a:endParaRPr sz="2025" b="0">
                        <a:solidFill>
                          <a:srgbClr val="102733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>
                      <a:solidFill>
                        <a:srgbClr val="FFF8E9"/>
                      </a:solidFill>
                    </a:lnR>
                    <a:lnT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25" b="0">
                          <a:solidFill>
                            <a:srgbClr val="FFFFFF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86.4%</a:t>
                      </a:r>
                      <a:endParaRPr sz="2025" b="0">
                        <a:solidFill>
                          <a:srgbClr val="FFFFFF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>
                      <a:solidFill>
                        <a:srgbClr val="FFF8E9"/>
                      </a:solidFill>
                    </a:lnR>
                    <a:lnT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rgbClr val="375262"/>
                    </a:solidFill>
                  </a:tcPr>
                </a:tc>
              </a:tr>
            </a:tbl>
          </a:graphicData>
        </a:graphic>
      </p:graphicFrame>
      <p:sp>
        <p:nvSpPr>
          <p:cNvPr id="6" name="s14-text-5"/>
          <p:cNvSpPr>
            <a:spLocks noGrp="1"/>
          </p:cNvSpPr>
          <p:nvPr/>
        </p:nvSpPr>
        <p:spPr>
          <a:xfrm>
            <a:off x="10953750" y="2571750"/>
            <a:ext cx="630555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 algn="l">
              <a:def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 algn="l">
              <a:def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 algn="l">
              <a:def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 algn="l">
              <a:def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 algn="l">
              <a:def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 algn="l">
              <a:def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 algn="l">
              <a:def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 algn="l">
              <a:def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 algn="l">
              <a:def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 algn="l">
              <a:def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4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Five-fold OOF</a:t>
            </a:r>
            <a:endParaRPr sz="2400" b="1">
              <a:solidFill>
                <a:srgbClr val="19384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graphicFrame>
        <p:nvGraphicFramePr>
          <p:cNvPr id="7" name="表格 6"/>
          <p:cNvGraphicFramePr/>
          <p:nvPr/>
        </p:nvGraphicFramePr>
        <p:xfrm>
          <a:off x="10953750" y="3095625"/>
          <a:ext cx="6305550" cy="952500"/>
        </p:xfrm>
        <a:graphic>
          <a:graphicData uri="http://schemas.openxmlformats.org/drawingml/2006/table">
            <a:tbl>
              <a:tblPr/>
              <a:tblGrid>
                <a:gridCol w="1352550"/>
                <a:gridCol w="2476500"/>
                <a:gridCol w="2476500"/>
              </a:tblGrid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2250" b="1">
                          <a:solidFill>
                            <a:srgbClr val="FFF8E9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Clips</a:t>
                      </a:r>
                      <a:endParaRPr sz="2250" b="1">
                        <a:solidFill>
                          <a:srgbClr val="FFF8E9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76200" marR="76200" marT="76200" marB="76200" anchor="ctr">
                    <a:lnL w="28575">
                      <a:solidFill>
                        <a:srgbClr val="FFF8E9"/>
                      </a:solidFill>
                    </a:lnL>
                    <a:lnR w="28575">
                      <a:solidFill>
                        <a:srgbClr val="FFF8E9"/>
                      </a:solidFill>
                    </a:lnR>
                    <a:lnT w="28575">
                      <a:solidFill>
                        <a:srgbClr val="FFF8E9"/>
                      </a:solidFill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250" b="1">
                          <a:solidFill>
                            <a:srgbClr val="FFF8E9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Accuracy</a:t>
                      </a:r>
                      <a:endParaRPr sz="2250" b="1">
                        <a:solidFill>
                          <a:srgbClr val="FFF8E9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>
                      <a:solidFill>
                        <a:srgbClr val="FFF8E9"/>
                      </a:solidFill>
                    </a:lnR>
                    <a:lnT w="28575">
                      <a:solidFill>
                        <a:srgbClr val="FFF8E9"/>
                      </a:solidFill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250" b="1">
                          <a:solidFill>
                            <a:srgbClr val="FFF8E9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Macro-F1</a:t>
                      </a:r>
                      <a:endParaRPr sz="2250" b="1">
                        <a:solidFill>
                          <a:srgbClr val="FFF8E9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>
                      <a:solidFill>
                        <a:srgbClr val="FFF8E9"/>
                      </a:solidFill>
                    </a:lnR>
                    <a:lnT w="28575">
                      <a:solidFill>
                        <a:srgbClr val="FFF8E9"/>
                      </a:solidFill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2250" b="1">
                          <a:solidFill>
                            <a:srgbClr val="19384A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97</a:t>
                      </a:r>
                      <a:endParaRPr sz="2250" b="1">
                        <a:solidFill>
                          <a:srgbClr val="19384A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76200" marR="76200" marT="76200" marB="76200" anchor="ctr">
                    <a:lnL w="28575">
                      <a:solidFill>
                        <a:srgbClr val="FFF8E9"/>
                      </a:solidFill>
                    </a:lnL>
                    <a:lnR w="28575">
                      <a:solidFill>
                        <a:srgbClr val="FFF8E9"/>
                      </a:solidFill>
                    </a:lnR>
                    <a:lnT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250" b="0">
                          <a:solidFill>
                            <a:srgbClr val="19384A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77.32%</a:t>
                      </a:r>
                      <a:endParaRPr sz="2250" b="0">
                        <a:solidFill>
                          <a:srgbClr val="19384A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>
                      <a:solidFill>
                        <a:srgbClr val="FFF8E9"/>
                      </a:solidFill>
                    </a:lnR>
                    <a:lnT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250" b="0">
                          <a:solidFill>
                            <a:srgbClr val="19384A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76.13%</a:t>
                      </a:r>
                      <a:endParaRPr sz="2250" b="0">
                        <a:solidFill>
                          <a:srgbClr val="19384A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>
                      <a:solidFill>
                        <a:srgbClr val="FFF8E9"/>
                      </a:solidFill>
                    </a:lnR>
                    <a:lnT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  <p:sp>
        <p:nvSpPr>
          <p:cNvPr id="8" name="s14-text-7"/>
          <p:cNvSpPr>
            <a:spLocks noGrp="1"/>
          </p:cNvSpPr>
          <p:nvPr/>
        </p:nvSpPr>
        <p:spPr>
          <a:xfrm>
            <a:off x="10953750" y="4286250"/>
            <a:ext cx="630555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 algn="l">
              <a:def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 algn="l">
              <a:def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 algn="l">
              <a:def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 algn="l">
              <a:def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 algn="l">
              <a:def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 algn="l">
              <a:def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 algn="l">
              <a:def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 algn="l">
              <a:def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 algn="l">
              <a:def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 algn="l">
              <a:defRPr sz="2925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40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Small test</a:t>
            </a:r>
            <a:endParaRPr sz="2400" b="1">
              <a:solidFill>
                <a:srgbClr val="19384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graphicFrame>
        <p:nvGraphicFramePr>
          <p:cNvPr id="9" name="表格 8"/>
          <p:cNvGraphicFramePr/>
          <p:nvPr/>
        </p:nvGraphicFramePr>
        <p:xfrm>
          <a:off x="10953750" y="4810125"/>
          <a:ext cx="6305550" cy="952500"/>
        </p:xfrm>
        <a:graphic>
          <a:graphicData uri="http://schemas.openxmlformats.org/drawingml/2006/table">
            <a:tbl>
              <a:tblPr/>
              <a:tblGrid>
                <a:gridCol w="1352550"/>
                <a:gridCol w="2476500"/>
                <a:gridCol w="2476500"/>
              </a:tblGrid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2250" b="1">
                          <a:solidFill>
                            <a:srgbClr val="FFF8E9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Clips</a:t>
                      </a:r>
                      <a:endParaRPr sz="2250" b="1">
                        <a:solidFill>
                          <a:srgbClr val="FFF8E9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76200" marR="76200" marT="76200" marB="76200" anchor="ctr">
                    <a:lnL w="28575">
                      <a:solidFill>
                        <a:srgbClr val="FFF8E9"/>
                      </a:solidFill>
                    </a:lnL>
                    <a:lnR w="28575">
                      <a:solidFill>
                        <a:srgbClr val="FFF8E9"/>
                      </a:solidFill>
                    </a:lnR>
                    <a:lnT w="28575">
                      <a:solidFill>
                        <a:srgbClr val="FFF8E9"/>
                      </a:solidFill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250" b="1">
                          <a:solidFill>
                            <a:srgbClr val="FFF8E9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Accuracy</a:t>
                      </a:r>
                      <a:endParaRPr sz="2250" b="1">
                        <a:solidFill>
                          <a:srgbClr val="FFF8E9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>
                      <a:solidFill>
                        <a:srgbClr val="FFF8E9"/>
                      </a:solidFill>
                    </a:lnR>
                    <a:lnT w="28575">
                      <a:solidFill>
                        <a:srgbClr val="FFF8E9"/>
                      </a:solidFill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250" b="1">
                          <a:solidFill>
                            <a:srgbClr val="FFF8E9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Macro-F1</a:t>
                      </a:r>
                      <a:endParaRPr sz="2250" b="1">
                        <a:solidFill>
                          <a:srgbClr val="FFF8E9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>
                      <a:solidFill>
                        <a:srgbClr val="FFF8E9"/>
                      </a:solidFill>
                    </a:lnR>
                    <a:lnT w="28575">
                      <a:solidFill>
                        <a:srgbClr val="FFF8E9"/>
                      </a:solidFill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2250" b="1">
                          <a:solidFill>
                            <a:srgbClr val="19384A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24</a:t>
                      </a:r>
                      <a:endParaRPr sz="2250" b="1">
                        <a:solidFill>
                          <a:srgbClr val="19384A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76200" marR="76200" marT="76200" marB="76200" anchor="ctr">
                    <a:lnL w="28575">
                      <a:solidFill>
                        <a:srgbClr val="FFF8E9"/>
                      </a:solidFill>
                    </a:lnL>
                    <a:lnR w="28575">
                      <a:solidFill>
                        <a:srgbClr val="FFF8E9"/>
                      </a:solidFill>
                    </a:lnR>
                    <a:lnT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250" b="0">
                          <a:solidFill>
                            <a:srgbClr val="19384A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83.33%</a:t>
                      </a:r>
                      <a:endParaRPr sz="2250" b="0">
                        <a:solidFill>
                          <a:srgbClr val="19384A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>
                      <a:solidFill>
                        <a:srgbClr val="FFF8E9"/>
                      </a:solidFill>
                    </a:lnR>
                    <a:lnT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250" b="0">
                          <a:solidFill>
                            <a:srgbClr val="19384A"/>
                          </a:solidFill>
                          <a:latin typeface="Trebuchet MS" panose="020B0603020202020204"/>
                          <a:ea typeface="Trebuchet MS" panose="020B0603020202020204"/>
                          <a:cs typeface="Trebuchet MS" panose="020B0603020202020204"/>
                        </a:rPr>
                        <a:t>83.30%</a:t>
                      </a:r>
                      <a:endParaRPr sz="2250" b="0">
                        <a:solidFill>
                          <a:srgbClr val="19384A"/>
                        </a:solidFill>
                        <a:latin typeface="Trebuchet MS" panose="020B0603020202020204"/>
                        <a:ea typeface="Trebuchet MS" panose="020B0603020202020204"/>
                        <a:cs typeface="Trebuchet MS" panose="020B0603020202020204"/>
                      </a:endParaRPr>
                    </a:p>
                  </a:txBody>
                  <a:tcPr marL="76200" marR="76200" marT="76200" marB="76200" anchor="ctr">
                    <a:lnL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>
                      <a:solidFill>
                        <a:srgbClr val="FFF8E9"/>
                      </a:solidFill>
                    </a:lnR>
                    <a:lnT w="28575" cap="flat" cmpd="sng" algn="ctr">
                      <a:solidFill>
                        <a:srgbClr val="FFF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>
                      <a:solidFill>
                        <a:srgbClr val="FFF8E9"/>
                      </a:solidFill>
                    </a:lnB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  <p:sp>
        <p:nvSpPr>
          <p:cNvPr id="13" name="矩形 12"/>
          <p:cNvSpPr>
            <a:spLocks noGrp="1"/>
          </p:cNvSpPr>
          <p:nvPr/>
        </p:nvSpPr>
        <p:spPr>
          <a:xfrm>
            <a:off x="10953750" y="6033770"/>
            <a:ext cx="63055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>
              <a:defRPr sz="2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>
              <a:defRPr sz="2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>
              <a:defRPr sz="2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>
              <a:defRPr sz="2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>
              <a:defRPr sz="2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>
              <a:defRPr sz="2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>
              <a:defRPr sz="2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>
              <a:defRPr sz="2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>
              <a:defRPr sz="2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>
              <a:defRPr sz="2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250" b="1">
                <a:solidFill>
                  <a:srgbClr val="1938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Component gains (OOF)</a:t>
            </a:r>
            <a:endParaRPr sz="2250" b="1">
              <a:solidFill>
                <a:srgbClr val="19384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graphicFrame>
        <p:nvGraphicFramePr>
          <p:cNvPr id="14" name="Chart"/>
          <p:cNvGraphicFramePr/>
          <p:nvPr/>
        </p:nvGraphicFramePr>
        <p:xfrm>
          <a:off x="10953750" y="6525260"/>
          <a:ext cx="6305550" cy="3000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18" name="矩形 17"/>
          <p:cNvSpPr>
            <a:spLocks noGrp="1"/>
          </p:cNvSpPr>
          <p:nvPr/>
        </p:nvSpPr>
        <p:spPr>
          <a:xfrm>
            <a:off x="10953750" y="9533255"/>
            <a:ext cx="630555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5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>
              <a:defRPr sz="15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>
              <a:defRPr sz="15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>
              <a:defRPr sz="15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>
              <a:defRPr sz="15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>
              <a:defRPr sz="15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>
              <a:defRPr sz="15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>
              <a:defRPr sz="15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>
              <a:defRPr sz="15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>
              <a:defRPr sz="15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>
              <a:defRPr sz="15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150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0-60% omitted (axis break)</a:t>
            </a:r>
            <a:endParaRPr sz="1500" b="0">
              <a:solidFill>
                <a:srgbClr val="4F6470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1028700" y="9124950"/>
            <a:ext cx="92392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02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>
              <a:defRPr sz="202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>
              <a:defRPr sz="202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>
              <a:defRPr sz="202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>
              <a:defRPr sz="202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>
              <a:defRPr sz="202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>
              <a:defRPr sz="202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>
              <a:defRPr sz="202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>
              <a:defRPr sz="202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>
              <a:defRPr sz="202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>
              <a:defRPr sz="202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2025" b="1">
                <a:solidFill>
                  <a:srgbClr val="B8402E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Feeding is most often confused with petting.</a:t>
            </a:r>
            <a:endParaRPr sz="2025" b="1">
              <a:solidFill>
                <a:srgbClr val="B8402E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1028700" y="9725025"/>
            <a:ext cx="92392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65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>
              <a:defRPr sz="165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>
              <a:defRPr sz="165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>
              <a:defRPr sz="165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>
              <a:defRPr sz="165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>
              <a:defRPr sz="165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>
              <a:defRPr sz="165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>
              <a:defRPr sz="165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>
              <a:defRPr sz="165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>
              <a:defRPr sz="165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>
              <a:defRPr sz="165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1650" b="0">
                <a:solidFill>
                  <a:srgbClr val="4F647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Grouped five-fold OOF is primary; the small test is supporting evidence.</a:t>
            </a:r>
            <a:endParaRPr sz="1650" b="0">
              <a:solidFill>
                <a:srgbClr val="4F6470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olished background 15-1"/>
          <p:cNvSpPr>
            <a:spLocks noGrp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19384A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Polished background 15-2"/>
          <p:cNvSpPr>
            <a:spLocks noGrp="1"/>
          </p:cNvSpPr>
          <p:nvPr/>
        </p:nvSpPr>
        <p:spPr>
          <a:xfrm>
            <a:off x="10668000" y="2628900"/>
            <a:ext cx="6858000" cy="6515100"/>
          </a:xfrm>
          <a:prstGeom prst="rect">
            <a:avLst/>
          </a:prstGeom>
          <a:solidFill>
            <a:srgbClr val="25495A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Polished background 15-3"/>
          <p:cNvSpPr>
            <a:spLocks noGrp="1"/>
          </p:cNvSpPr>
          <p:nvPr/>
        </p:nvSpPr>
        <p:spPr>
          <a:xfrm>
            <a:off x="1028700" y="7543800"/>
            <a:ext cx="1047750" cy="47625"/>
          </a:xfrm>
          <a:prstGeom prst="rect">
            <a:avLst/>
          </a:prstGeom>
          <a:solidFill>
            <a:srgbClr val="E28A6C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s16-text-0"/>
          <p:cNvSpPr>
            <a:spLocks noGrp="1"/>
          </p:cNvSpPr>
          <p:nvPr/>
        </p:nvSpPr>
        <p:spPr>
          <a:xfrm>
            <a:off x="1028700" y="695325"/>
            <a:ext cx="16144875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1">
                <a:solidFill>
                  <a:srgbClr val="F0B59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 algn="l">
              <a:defRPr sz="1875" b="1">
                <a:solidFill>
                  <a:srgbClr val="F0B59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 algn="l">
              <a:defRPr sz="1875" b="1">
                <a:solidFill>
                  <a:srgbClr val="F0B59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 algn="l">
              <a:defRPr sz="1875" b="1">
                <a:solidFill>
                  <a:srgbClr val="F0B59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 algn="l">
              <a:defRPr sz="1875" b="1">
                <a:solidFill>
                  <a:srgbClr val="F0B59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 algn="l">
              <a:defRPr sz="1875" b="1">
                <a:solidFill>
                  <a:srgbClr val="F0B59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 algn="l">
              <a:defRPr sz="1875" b="1">
                <a:solidFill>
                  <a:srgbClr val="F0B59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 algn="l">
              <a:defRPr sz="1875" b="1">
                <a:solidFill>
                  <a:srgbClr val="F0B59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 algn="l">
              <a:defRPr sz="1875" b="1">
                <a:solidFill>
                  <a:srgbClr val="F0B59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 algn="l">
              <a:defRPr sz="1875" b="1">
                <a:solidFill>
                  <a:srgbClr val="F0B59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 algn="l">
              <a:defRPr sz="1875" b="1">
                <a:solidFill>
                  <a:srgbClr val="F0B59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1875" b="1">
                <a:solidFill>
                  <a:srgbClr val="F0B59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CONCLUSION</a:t>
            </a:r>
            <a:endParaRPr sz="1875" b="1">
              <a:solidFill>
                <a:srgbClr val="F0B59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2" name="s16-text-1"/>
          <p:cNvSpPr>
            <a:spLocks noGrp="1"/>
          </p:cNvSpPr>
          <p:nvPr/>
        </p:nvSpPr>
        <p:spPr>
          <a:xfrm>
            <a:off x="1028700" y="1295400"/>
            <a:ext cx="16230600" cy="1000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540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 algn="l">
              <a:defRPr sz="540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 algn="l">
              <a:defRPr sz="540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 algn="l">
              <a:defRPr sz="540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 algn="l">
              <a:defRPr sz="540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 algn="l">
              <a:defRPr sz="540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 algn="l">
              <a:defRPr sz="540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 algn="l">
              <a:defRPr sz="540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 algn="l">
              <a:defRPr sz="540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 algn="l">
              <a:defRPr sz="540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 algn="l">
              <a:defRPr sz="540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5400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A complete video-to-timeline workflow</a:t>
            </a:r>
            <a:endParaRPr sz="5400" b="1">
              <a:solidFill>
                <a:srgbClr val="FFF8E9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3" name="s16-text-2"/>
          <p:cNvSpPr>
            <a:spLocks noGrp="1"/>
          </p:cNvSpPr>
          <p:nvPr/>
        </p:nvSpPr>
        <p:spPr>
          <a:xfrm>
            <a:off x="1028700" y="3209925"/>
            <a:ext cx="9620250" cy="3209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5325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 algn="l">
              <a:defRPr sz="5325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 algn="l">
              <a:defRPr sz="5325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 algn="l">
              <a:defRPr sz="5325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 algn="l">
              <a:defRPr sz="5325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 algn="l">
              <a:defRPr sz="5325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 algn="l">
              <a:defRPr sz="5325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 algn="l">
              <a:defRPr sz="5325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 algn="l">
              <a:defRPr sz="5325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 algn="l">
              <a:defRPr sz="5325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 algn="l">
              <a:defRPr sz="5325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5325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Upload a video.</a:t>
            </a:r>
            <a:endParaRPr sz="5325" b="1">
              <a:solidFill>
                <a:srgbClr val="FFF8E9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  <a:p>
            <a:pPr algn="l">
              <a:defRPr sz="5325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5325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Review its activity.</a:t>
            </a:r>
            <a:endParaRPr sz="5325" b="1">
              <a:solidFill>
                <a:srgbClr val="FFF8E9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  <a:p>
            <a:pPr algn="l">
              <a:defRPr sz="5325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5325" b="1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Play the relevant interval.</a:t>
            </a:r>
            <a:endParaRPr sz="5325" b="1">
              <a:solidFill>
                <a:srgbClr val="FFF8E9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rcRect t="17829" b="17829"/>
          <a:stretch>
            <a:fillRect/>
          </a:stretch>
        </p:blipFill>
        <p:spPr>
          <a:xfrm>
            <a:off x="12049125" y="3095625"/>
            <a:ext cx="5191125" cy="5000625"/>
          </a:xfrm>
          <a:prstGeom prst="roundRect">
            <a:avLst>
              <a:gd name="adj" fmla="val 4190"/>
            </a:avLst>
          </a:prstGeom>
        </p:spPr>
      </p:pic>
      <p:sp>
        <p:nvSpPr>
          <p:cNvPr id="5" name="s16-text-4"/>
          <p:cNvSpPr>
            <a:spLocks noGrp="1"/>
          </p:cNvSpPr>
          <p:nvPr/>
        </p:nvSpPr>
        <p:spPr>
          <a:xfrm>
            <a:off x="1028700" y="7972425"/>
            <a:ext cx="10287000" cy="809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4125" b="1">
                <a:solidFill>
                  <a:srgbClr val="F0B59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 algn="l">
              <a:defRPr sz="4125" b="1">
                <a:solidFill>
                  <a:srgbClr val="F0B59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 algn="l">
              <a:defRPr sz="4125" b="1">
                <a:solidFill>
                  <a:srgbClr val="F0B59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 algn="l">
              <a:defRPr sz="4125" b="1">
                <a:solidFill>
                  <a:srgbClr val="F0B59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 algn="l">
              <a:defRPr sz="4125" b="1">
                <a:solidFill>
                  <a:srgbClr val="F0B59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 algn="l">
              <a:defRPr sz="4125" b="1">
                <a:solidFill>
                  <a:srgbClr val="F0B59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 algn="l">
              <a:defRPr sz="4125" b="1">
                <a:solidFill>
                  <a:srgbClr val="F0B59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 algn="l">
              <a:defRPr sz="4125" b="1">
                <a:solidFill>
                  <a:srgbClr val="F0B59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 algn="l">
              <a:defRPr sz="4125" b="1">
                <a:solidFill>
                  <a:srgbClr val="F0B59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 algn="l">
              <a:defRPr sz="4125" b="1">
                <a:solidFill>
                  <a:srgbClr val="F0B59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 algn="l">
              <a:defRPr sz="4125" b="1">
                <a:solidFill>
                  <a:srgbClr val="F0B59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4125" b="1">
                <a:solidFill>
                  <a:srgbClr val="F0B59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Frontend demonstration</a:t>
            </a:r>
            <a:endParaRPr sz="4125" b="1">
              <a:solidFill>
                <a:srgbClr val="F0B59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6" name="s16-text-5"/>
          <p:cNvSpPr>
            <a:spLocks noGrp="1"/>
          </p:cNvSpPr>
          <p:nvPr/>
        </p:nvSpPr>
        <p:spPr>
          <a:xfrm>
            <a:off x="1028700" y="9334500"/>
            <a:ext cx="44767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defPPr>
            <a:lvl1pPr algn="l">
              <a:defRPr sz="1950" b="0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1pPr>
            <a:lvl2pPr algn="l">
              <a:defRPr sz="1950" b="0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2pPr>
            <a:lvl3pPr algn="l">
              <a:defRPr sz="1950" b="0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3pPr>
            <a:lvl4pPr algn="l">
              <a:defRPr sz="1950" b="0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4pPr>
            <a:lvl5pPr algn="l">
              <a:defRPr sz="1950" b="0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5pPr>
            <a:lvl6pPr algn="l">
              <a:defRPr sz="1950" b="0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6pPr>
            <a:lvl7pPr algn="l">
              <a:defRPr sz="1950" b="0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7pPr>
            <a:lvl8pPr algn="l">
              <a:defRPr sz="1950" b="0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8pPr>
            <a:lvl9pPr algn="l">
              <a:defRPr sz="1950" b="0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lvl9pPr>
          </a:lstStyle>
          <a:p>
            <a:pPr algn="l">
              <a:defRPr sz="1950" b="0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1950" b="0">
                <a:solidFill>
                  <a:srgbClr val="FFF8E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Group 28</a:t>
            </a:r>
            <a:endParaRPr sz="1950" b="0">
              <a:solidFill>
                <a:srgbClr val="FFF8E9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541.5,&quot;left&quot;:982.5,&quot;top&quot;:219.5,&quot;width&quot;:375}"/>
</p:tagLst>
</file>

<file path=ppt/tags/tag2.xml><?xml version="1.0" encoding="utf-8"?>
<p:tagLst xmlns:p="http://schemas.openxmlformats.org/presentationml/2006/main">
  <p:tag name="KSO_WM_DIAGRAM_VIRTUALLY_FRAME" val="{&quot;height&quot;:541.5,&quot;left&quot;:982.5,&quot;top&quot;:219.5,&quot;width&quot;:375}"/>
</p:tagLst>
</file>

<file path=ppt/tags/tag3.xml><?xml version="1.0" encoding="utf-8"?>
<p:tagLst xmlns:p="http://schemas.openxmlformats.org/presentationml/2006/main">
  <p:tag name="KSO_WM_DIAGRAM_VIRTUALLY_FRAME" val="{&quot;height&quot;:541.5,&quot;left&quot;:982.5,&quot;top&quot;:219.5,&quot;width&quot;:375}"/>
</p:tagLst>
</file>

<file path=ppt/tags/tag4.xml><?xml version="1.0" encoding="utf-8"?>
<p:tagLst xmlns:p="http://schemas.openxmlformats.org/presentationml/2006/main">
  <p:tag name="KSO_WM_DIAGRAM_VIRTUALLY_FRAME" val="{&quot;height&quot;:541.5,&quot;left&quot;:982.5,&quot;top&quot;:219.5,&quot;width&quot;:375}"/>
</p:tagLst>
</file>

<file path=ppt/tags/tag5.xml><?xml version="1.0" encoding="utf-8"?>
<p:tagLst xmlns:p="http://schemas.openxmlformats.org/presentationml/2006/main">
  <p:tag name="KSO_WM_DIAGRAM_VIRTUALLY_FRAME" val="{&quot;height&quot;:541.5,&quot;left&quot;:982.5,&quot;top&quot;:219.5,&quot;width&quot;:375}"/>
</p:tagLst>
</file>

<file path=ppt/tags/tag6.xml><?xml version="1.0" encoding="utf-8"?>
<p:tagLst xmlns:p="http://schemas.openxmlformats.org/presentationml/2006/main">
  <p:tag name="KSO_WM_DIAGRAM_VIRTUALLY_FRAME" val="{&quot;height&quot;:541.5,&quot;left&quot;:982.5,&quot;top&quot;:219.5,&quot;width&quot;:375}"/>
</p:tagLst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Trebuchet MS"/>
        <a:ea typeface=""/>
        <a:cs typeface=""/>
      </a:majorFont>
      <a:minorFont>
        <a:latin typeface="Trebuchet M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Trebuchet MS"/>
        <a:ea typeface=""/>
        <a:cs typeface=""/>
      </a:majorFont>
      <a:minorFont>
        <a:latin typeface="Trebuchet M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6190</Words>
  <Application>WPS 演示</Application>
  <PresentationFormat>自定义</PresentationFormat>
  <Paragraphs>577</Paragraphs>
  <Slides>16</Slides>
  <Notes>16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24" baseType="lpstr">
      <vt:lpstr>Arial</vt:lpstr>
      <vt:lpstr>宋体</vt:lpstr>
      <vt:lpstr>Wingdings</vt:lpstr>
      <vt:lpstr>Trebuchet MS</vt:lpstr>
      <vt:lpstr>Cambria</vt:lpstr>
      <vt:lpstr>微软雅黑</vt:lpstr>
      <vt:lpstr>Arial Unicode MS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耳を倾、けて季节の花</cp:lastModifiedBy>
  <cp:revision>18</cp:revision>
  <dcterms:created xsi:type="dcterms:W3CDTF">2026-10-27T06:29:00Z</dcterms:created>
  <dcterms:modified xsi:type="dcterms:W3CDTF">2026-10-27T17:29:44Z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2052-12.1.0.29161</vt:lpwstr>
  </property>
  <property fmtid="{D5CDD505-2E9C-101B-9397-08002B2CF9AE}" pid="3" name="ICV">
    <vt:lpwstr>48F16E9E124346248DDE53E933FF0C0C_12</vt:lpwstr>
  </property>
</Properties>
</file>