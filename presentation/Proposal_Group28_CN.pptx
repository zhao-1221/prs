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3e3084da-c26d-d345-9f27-87e6c6303f85}">
          <p14:sldIdLst>
            <p14:sldId id="256"/>
          </p14:sldIdLst>
        </p14:section>
        <p14:section name="背景与目标" id="{d2c9cf9f-fae0-8238-13ff-9b7f25ba81d6}">
          <p14:sldIdLst>
            <p14:sldId id="257"/>
            <p14:sldId id="258"/>
          </p14:sldIdLst>
        </p14:section>
        <p14:section name="系统与数据" id="{3fdde850-63c5-9857-2b8a-433d4738e1eb}">
          <p14:sldIdLst>
            <p14:sldId id="259"/>
            <p14:sldId id="260"/>
            <p14:sldId id="261"/>
          </p14:sldIdLst>
        </p14:section>
        <p14:section name="模型设计" id="{d47c6eda-829b-761f-059d-c86da519a53a}">
          <p14:sldIdLst>
            <p14:sldId id="262"/>
            <p14:sldId id="263"/>
            <p14:sldId id="264"/>
            <p14:sldId id="265"/>
          </p14:sldIdLst>
        </p14:section>
        <p14:section name="评估与总结" id="{ca7ba3d6-bee0-dbfa-1c06-afefa575c07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 页 · 约 0.5 分钟】
各位老师、同学好，我们是第 28 组，组员是 Zhao Jiayi 和 Sun Wenjing。我们的项目题目是《基于多模态视频与骨架特征的室内狗行为及人宠互动识别》。
简单来说，就是让家里的摄像头不只是拍到狗，而是能看懂狗在做什么、和人在怎样互动。
接下来我们用大约十五分钟，介绍项目的背景、目标、系统设计和评估方案。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2 页 · 约 1.3 分钟】
先说为什么要做这个项目。
近年来养宠物的家庭越来越多，很多主人把狗当作家庭成员，出门在外时也希望随时了解它的状况。根据 Grand View Research 的统计，2024 年全球宠物监控摄像头的市场规模约为 1.98 亿美元，预计到 2030 年增长到约 4.54 亿美元，年复合增长率大约 12.6%。
但是目前的宠物摄像头大多只做到“看得见”：检测到画面里有猫狗，自动转头跟拍，或者有动静、有叫声时推送一条提醒。主人真正关心的是：狗有没有好好吃饭、休息？家人或者看护有没有喂它、陪它玩？这些问题现在仍然要靠主人自己翻录像去判断。
而且只看单帧画面，很难区分一些相似的情况，比如进食和低头闻嗅、睡觉和普通躺卧、抚摸和单纯靠近。它们的区别往往体现在动作随时间的变化，以及人、狗、物体之间的关系上。这正是我们想补上的一步：从“看得见”，走到“看得懂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3 页 · 约 1 分钟】
所以我们的总体目标是做一个可以运行的室内视频分析原型：用户上传一段室内视频，系统自动输出狗的行为、人宠互动的类别、对应的置信度和时间线。
具体拆成两个任务。
左边是 Task A，犬类行为识别，只看狗。输入是狗的骨架序列，用 ST-GCN 建模，并和 LSTM 基线对比，输出站立或行走、坐、躺卧或睡眠、进食或饮水、玩耍和其他，一共 6 类。
右边是 Task B，人宠互动识别，同时看人和狗。输入是人骨架、狗骨架、人狗之间的关系特征，还可以加入音频，用双流 ST-GCN 做后期融合，输出无互动、喂食、抚摸和共同玩耍 4 类。
同一个视频片段可以同时有一个行为标签和一个互动标签，比如狗在进食，同时互动类别是喂食。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4 页 · 约 1.5 分钟】
这张图是整个系统的总览，后面每一页都对应图上的一部分。
上半部分是离线训练。狗姿态模型从 AP-10K 的官方预训练权重出发，先用 APT-36K 中的狗类数据做专门化训练，再用我们自己的室内数据微调；人体姿态直接使用 COCO-17 预训练的 RTMPose。时序识别模型在验证集上选择模型，测试集只做最终评估。
下半部分是在线推理，一共 6 步：第一步，输入室内 RGB 视频；第二步，用 RTMDet 或 YOLO 检测人和狗，再用 ByteTrack 或 BoT-SORT 跟踪，给每个主体一个稳定的 ID；第三步，分别对人和狗做姿态估计；第四步，把关键点整理成骨架序列并构建图；第五步，做时序识别，也就是 Task A 和 Task B；第六步，输出结构化结果，包括类别、置信度和时间段。
图的底部是评估方式：姿态用 AP 和 PCK，识别用 Accuracy 和 Macro-F1；消融实验比较单流和双流，以及加不加关系特征。
这里的核心设计是：双物种骨架作为统一的中间表示。姿态估计负责“看见关节”，ST-GCN 负责“理解时序行为”。
【提示】图中训练数据处如仍写 AP-10K，以 APT-36K 为准，口头说明即可。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5 页 · 约 1.4 分钟】
接下来看数据从哪里来。我们有两个数据来源。
第一个是公开数据集 APT-36K。这里要特别说明：我们没有用 AP-10K 来训练，因为 AP-10K 本身就是 RTMPose 动物模型的预训练集，再拿它训练不会带来新信息，评估也不公平。APT-36K 我们沿用官方的训练、验证、测试划分，只从中筛出狗的样本，不重新标注。
第二个是室内视频，包括自采、获得许可使用和公开来源的视频。这里有一个关键规则：我们先按“犬只加完整原始视频”建立 Group ID，并划分训练集、验证集和测试集，然后才去抽帧和切片段。这样同一只狗、同一段视频不会同时出现在训练集和测试集里，避免数据泄漏。
划分好之后产出三类数据：第一，帧级关键点标注，大约 300 到 800 张室内图像，每张标出狗的框和 17 个关键点；第二，片段级的狗行为标签和人宠互动标签；第三，自动派生的特征，包括人体关键点、食盆和玩具的检测框，以及同步音频。
【提示】图中数据来源如仍写 AP-10K，以 APT-36K 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6 页 · 约 1.2 分钟】
有了数据，狗姿态模型分三个阶段训练。
P0 是基线：直接用官方 AP-10K 预训练的 RTMPose-M，不做任何额外训练，在我们的室内测试集上推理，看它在侧卧、遮挡、低光照、运动模糊这些情况下的表现。
P1 是狗类别专门化：从 P0 的权重出发，用 APT-36K 里的狗样本继续微调，目标是改善头部、前肢和后肢的定位。
P2 是室内场景适配：从 P1 出发，用我们标注的室内数据、以较小的学习率微调，配合翻转、缩放、旋转和遮挡增强。
三个版本放在同一个独立测试集上比较，指标是 COCO AP、AP@0.5、AP@0.75 和 PCK。我们要验证两个假设：如果 P1 比 P0 好，说明针对狗专门训练有用；如果 P2 比 P1 好，说明适配室内场景有用。
【提示】图中 P1 训练数据如仍写 AP-10K，以 APT-36K 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7 页 · 约 1.2 分钟】
下面进入在线推理。这一页对应总图的第 3 步：双物种姿态估计。
人和狗两个分支的结构完全相同，都是自顶向下的 RTMPose：先根据检测框做仿射裁剪；然后经过 CSPNeXt-M 主干网络，输出 768 通道的特征图；接着是 RTMCCHead，内部是 7×7 卷积、全连接层和 GAU；最后用 SimCC 把坐标预测变成 x 和 y 两个方向上的分类。
两个分支的区别在于输入尺寸：人是 256×192，狗是 256×256。而且两个分支的权重不共享，因为人和狗的身体结构和关键点定义都不一样。
每个分支逐帧输出 17 个关键点，每个点包含 x、y 和置信度。之后按跟踪 ID 跨帧对齐，再做掩码、插值和平滑，最终得到 2 条流 × T 帧 × 17 个点 × 3 的骨架序列。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8 页 · 约 1.1 分钟】
拿到骨架序列后，我们用图卷积来做识别。在讲网络之前，先用这张原理图说明 ST-GCN 的图卷积是怎么在骨架上做的。
这张图不是流程图，而是一个例子。上面一行以人的右肘为根节点，下面一行以狗的左肘为根节点，虚线圈出的是它们的一阶邻域，也就是距离为 1 的邻居。
ST-GCN 论文里有三种划分邻域的方法：统一标记，邻域里所有节点共享一组权重；距离分区，根节点自己一组，一跳邻居一组；空间配置分区，按照节点离骨架重心的远近，分成根节点、向心节点和离心节点三组。
我们后面两个网络用的都是空间配置分区，三组各对应一个邻接矩阵，也就是下一页会出现的 A₀、A₁、A₂。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9 页 · 约 1.2 分钟】
这就是 Task A，犬类行为识别网络。结构沿用 ST-GCN 原论文，也就是 Yan 等人发表在 AAAI 2018 的设计。
输入是狗的骨架序列，T 帧 × 17 个点 × 3。先经过图编码和 BatchNorm，然后是 9 个 ST-GCN 残差单元，分成三段：第一段 64 通道，时间长度保持 T；第二段 128 通道，时间降到 T/2；第三段 256 通道，时间降到 T/4。每个残差单元先用 A₀ 到 A₂ 做空间图卷积，再做 9×1 的时间卷积，最后残差相加。
之后接全局平均池化，得到 256 维特征，再经过 Linear 和 Softmax，输出 6 类行为的概率：站或走、坐、躺或睡、进食或饮水、玩耍和其他。
训练时用加权交叉熵缓解类别不平衡，对比基线是 LSTM。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10 页 · 约 1.3 分钟】
Task A 只看狗，Task B 要把人也加进来，识别人宠互动。
我们用双流结构：人骨架和狗骨架各走一条 ST-GCN，每条流同样经过 64、128、256 通道三个阶段，分别得到人体特征 f_h 和狗特征 f_d。
只看两个骨架还不够，因为喂食、抚摸、共同玩耍的区别很大程度上在于人和狗之间的关系。所以我们再加一组手工构造的关系特征 f_r，包括人狗之间的距离、相对速度和朝向。另外还有可选的音频特征，用 YAMNet 或 MERT 提取。
这些特征在网络末端拼接，也就是 Concat，再经过 MLP 分类，属于后期融合，输出 4 类：无互动、喂食、抚摸和共同玩耍。
选择后期融合的好处是音频可以作为可选项：如果视频没有声音，或者声音质量很差，系统仍然可以只用骨架特征完成预测。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11 页 · 约 1.1 分钟】
最后说怎么证明每一步都有用。我们分四个方面评估。
第一，姿态估计：用 COCO AP、AP@0.5、AP@0.75 和 PCK，比较 P0、P1、P2 三个版本，并且按头部、前肢、后肢分别报告。
第二，犬行为识别：报告 Accuracy、Macro-F1 和混淆矩阵，比较 LSTM 基线和 ST-GCN，并消融置信度、缺失点处理和骨架增强。
第三，人宠互动识别：同样的指标，做三组消融：单流和双流、加不加关系特征、加不加音频。
第四，泛化与鲁棒性：测试集按狗和完整视频划分，测的是没见过的狗和场景；同时分析遮挡、关键点缺失、多人多狗和音频缺失这些情况。
整个过程遵守一条规则：验证集只用于选模型和调参，测试集只在最后评估一次。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12 页 · 约 0.5 分钟】
总结三点：第一，双物种骨架是整个系统的统一中间表示；第二，每一步都有对照实验来验证它有没有用；第三，数据按狗和完整视频划分，防止数据泄漏。
我们希望让摄像头从“追踪宠物在哪”，走向“理解它在做什么、和人怎样互动”。
我们的介绍就到这里，谢谢大家，欢迎提问。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犬行为与人宠互动识别 · PROPOSAL</a:t>
            </a:r>
            <a:endParaRPr lang="en-US" sz="1000" dirty="0"/>
          </a:p>
        </p:txBody>
      </p:sp>
      <p:sp>
        <p:nvSpPr>
          <p:cNvPr id="3" name="t2"/>
          <p:cNvSpPr txBox="1"/>
          <p:nvPr/>
        </p:nvSpPr>
        <p:spPr>
          <a:xfrm>
            <a:off x="7985455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28 · 2026.10 · 01 / 12</a:t>
            </a:r>
            <a:endParaRPr lang="en-US" sz="1000" dirty="0"/>
          </a:p>
        </p:txBody>
      </p:sp>
      <p:sp>
        <p:nvSpPr>
          <p:cNvPr id="4" name="t3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PRS PRACTICE MODULE · PROJECT PROPOSAL</a:t>
            </a:r>
            <a:endParaRPr lang="en-US" sz="1100" dirty="0"/>
          </a:p>
        </p:txBody>
      </p:sp>
      <p:sp>
        <p:nvSpPr>
          <p:cNvPr id="5" name="t4"/>
          <p:cNvSpPr txBox="1"/>
          <p:nvPr/>
        </p:nvSpPr>
        <p:spPr>
          <a:xfrm>
            <a:off x="548640" y="20116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室内狗行为与</a:t>
            </a:r>
            <a:endParaRPr lang="en-US" sz="6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人宠</a:t>
            </a:r>
            <a:pPr indent="0" marL="0">
              <a:lnSpc>
                <a:spcPct val="105000"/>
              </a:lnSpc>
              <a:buNone/>
            </a:pPr>
            <a:r>
              <a:rPr lang="en-US" sz="6600" i="1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互动</a:t>
            </a:r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识别</a:t>
            </a:r>
            <a:endParaRPr lang="en-US" sz="6600" dirty="0"/>
          </a:p>
        </p:txBody>
      </p:sp>
      <p:sp>
        <p:nvSpPr>
          <p:cNvPr id="6" name="l5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7" name="t6"/>
          <p:cNvSpPr txBox="1"/>
          <p:nvPr/>
        </p:nvSpPr>
        <p:spPr>
          <a:xfrm>
            <a:off x="54864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基于多模态视频与骨架特征：RTMPose 双物种姿态估计 + ST-GCN 时序识别</a:t>
            </a:r>
            <a:endParaRPr lang="en-US" sz="1800" dirty="0"/>
          </a:p>
        </p:txBody>
      </p:sp>
      <p:sp>
        <p:nvSpPr>
          <p:cNvPr id="8" name="t7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ZHAO JIAYI · SUN WENJING · GROUP 28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8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项目背景 / BACKGROUND</a:t>
            </a:r>
            <a:endParaRPr lang="en-US" sz="1000" dirty="0"/>
          </a:p>
        </p:txBody>
      </p:sp>
      <p:sp>
        <p:nvSpPr>
          <p:cNvPr id="3" name="t9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宠物摄像头：看得见，看不懂</a:t>
            </a:r>
            <a:endParaRPr lang="en-US" sz="4400" dirty="0"/>
          </a:p>
        </p:txBody>
      </p:sp>
      <p:sp>
        <p:nvSpPr>
          <p:cNvPr id="5" name="l10"/>
          <p:cNvSpPr/>
          <p:nvPr/>
        </p:nvSpPr>
        <p:spPr>
          <a:xfrm>
            <a:off x="548640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6" name="t11"/>
          <p:cNvSpPr txBox="1"/>
          <p:nvPr/>
        </p:nvSpPr>
        <p:spPr>
          <a:xfrm>
            <a:off x="54864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市场 · 2024</a:t>
            </a:r>
            <a:endParaRPr lang="en-US" sz="1100" dirty="0"/>
          </a:p>
        </p:txBody>
      </p:sp>
      <p:sp>
        <p:nvSpPr>
          <p:cNvPr id="7" name="t12"/>
          <p:cNvSpPr txBox="1"/>
          <p:nvPr/>
        </p:nvSpPr>
        <p:spPr>
          <a:xfrm>
            <a:off x="54864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宠物监控摄像头快速普及</a:t>
            </a:r>
            <a:endParaRPr lang="en-US" sz="1800" dirty="0"/>
          </a:p>
        </p:txBody>
      </p:sp>
      <p:sp>
        <p:nvSpPr>
          <p:cNvPr id="8" name="t13"/>
          <p:cNvSpPr txBox="1"/>
          <p:nvPr/>
        </p:nvSpPr>
        <p:spPr>
          <a:xfrm>
            <a:off x="54864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越来越多主人把狗当作家庭成员，离家时也想确认它安全、健康。</a:t>
            </a:r>
            <a:endParaRPr lang="en-US" sz="1400" dirty="0"/>
          </a:p>
        </p:txBody>
      </p:sp>
      <p:sp>
        <p:nvSpPr>
          <p:cNvPr id="9" name="t14"/>
          <p:cNvSpPr txBox="1"/>
          <p:nvPr/>
        </p:nvSpPr>
        <p:spPr>
          <a:xfrm>
            <a:off x="548640" y="4709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$1.98亿</a:t>
            </a:r>
            <a:endParaRPr lang="en-US" sz="5400" dirty="0"/>
          </a:p>
        </p:txBody>
      </p:sp>
      <p:sp>
        <p:nvSpPr>
          <p:cNvPr id="10" name="t15"/>
          <p:cNvSpPr txBox="1"/>
          <p:nvPr/>
        </p:nvSpPr>
        <p:spPr>
          <a:xfrm>
            <a:off x="548640" y="5623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2024 全球市场规模</a:t>
            </a:r>
            <a:endParaRPr lang="en-US" sz="1200" dirty="0"/>
          </a:p>
        </p:txBody>
      </p:sp>
      <p:sp>
        <p:nvSpPr>
          <p:cNvPr id="11" name="l16"/>
          <p:cNvSpPr/>
          <p:nvPr/>
        </p:nvSpPr>
        <p:spPr>
          <a:xfrm>
            <a:off x="4343400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2" name="t17"/>
          <p:cNvSpPr txBox="1"/>
          <p:nvPr/>
        </p:nvSpPr>
        <p:spPr>
          <a:xfrm>
            <a:off x="434340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增长 · 2024–2030</a:t>
            </a:r>
            <a:endParaRPr lang="en-US" sz="1100" dirty="0"/>
          </a:p>
        </p:txBody>
      </p:sp>
      <p:sp>
        <p:nvSpPr>
          <p:cNvPr id="13" name="t18"/>
          <p:cNvSpPr txBox="1"/>
          <p:nvPr/>
        </p:nvSpPr>
        <p:spPr>
          <a:xfrm>
            <a:off x="434340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需求还在扩大</a:t>
            </a:r>
            <a:endParaRPr lang="en-US" sz="1800" dirty="0"/>
          </a:p>
        </p:txBody>
      </p:sp>
      <p:sp>
        <p:nvSpPr>
          <p:cNvPr id="14" name="t19"/>
          <p:cNvSpPr txBox="1"/>
          <p:nvPr/>
        </p:nvSpPr>
        <p:spPr>
          <a:xfrm>
            <a:off x="434340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预计 2030 年增至约 $4.54 亿，主要驱动力是“把宠物当家人”的陪伴需求。</a:t>
            </a:r>
            <a:endParaRPr lang="en-US" sz="1400" dirty="0"/>
          </a:p>
        </p:txBody>
      </p:sp>
      <p:sp>
        <p:nvSpPr>
          <p:cNvPr id="15" name="t20"/>
          <p:cNvSpPr txBox="1"/>
          <p:nvPr/>
        </p:nvSpPr>
        <p:spPr>
          <a:xfrm>
            <a:off x="4343400" y="4709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12.6%</a:t>
            </a:r>
            <a:endParaRPr lang="en-US" sz="5400" dirty="0"/>
          </a:p>
        </p:txBody>
      </p:sp>
      <p:sp>
        <p:nvSpPr>
          <p:cNvPr id="16" name="t21"/>
          <p:cNvSpPr txBox="1"/>
          <p:nvPr/>
        </p:nvSpPr>
        <p:spPr>
          <a:xfrm>
            <a:off x="4343400" y="5623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年复合增长率</a:t>
            </a:r>
            <a:endParaRPr lang="en-US" sz="1200" dirty="0"/>
          </a:p>
        </p:txBody>
      </p:sp>
      <p:sp>
        <p:nvSpPr>
          <p:cNvPr id="17" name="l22"/>
          <p:cNvSpPr/>
          <p:nvPr/>
        </p:nvSpPr>
        <p:spPr>
          <a:xfrm>
            <a:off x="8138160" y="2514600"/>
            <a:ext cx="3429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8" name="t23"/>
          <p:cNvSpPr txBox="1"/>
          <p:nvPr/>
        </p:nvSpPr>
        <p:spPr>
          <a:xfrm>
            <a:off x="8138160" y="2697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缺口</a:t>
            </a:r>
            <a:endParaRPr lang="en-US" sz="1100" dirty="0"/>
          </a:p>
        </p:txBody>
      </p:sp>
      <p:sp>
        <p:nvSpPr>
          <p:cNvPr id="19" name="t24"/>
          <p:cNvSpPr txBox="1"/>
          <p:nvPr/>
        </p:nvSpPr>
        <p:spPr>
          <a:xfrm>
            <a:off x="813816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现有产品只做到“看得见”</a:t>
            </a:r>
            <a:endParaRPr lang="en-US" sz="1800" dirty="0"/>
          </a:p>
        </p:txBody>
      </p:sp>
      <p:sp>
        <p:nvSpPr>
          <p:cNvPr id="20" name="t25"/>
          <p:cNvSpPr txBox="1"/>
          <p:nvPr/>
        </p:nvSpPr>
        <p:spPr>
          <a:xfrm>
            <a:off x="813816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检测、跟拍、有动静就推送。狗吃没吃饭、有没有人陪它玩，仍要主人翻录像判断。</a:t>
            </a:r>
            <a:endParaRPr lang="en-US" sz="1400" dirty="0"/>
          </a:p>
        </p:txBody>
      </p:sp>
      <p:sp>
        <p:nvSpPr>
          <p:cNvPr id="21" name="t26"/>
          <p:cNvSpPr txBox="1"/>
          <p:nvPr/>
        </p:nvSpPr>
        <p:spPr>
          <a:xfrm>
            <a:off x="8138160" y="4709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看懂</a:t>
            </a:r>
            <a:endParaRPr lang="en-US" sz="5400" dirty="0"/>
          </a:p>
        </p:txBody>
      </p:sp>
      <p:sp>
        <p:nvSpPr>
          <p:cNvPr id="22" name="t27"/>
          <p:cNvSpPr txBox="1"/>
          <p:nvPr/>
        </p:nvSpPr>
        <p:spPr>
          <a:xfrm>
            <a:off x="8138160" y="5623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本项目要补的一步</a:t>
            </a:r>
            <a:endParaRPr lang="en-US" sz="1200" dirty="0"/>
          </a:p>
        </p:txBody>
      </p:sp>
      <p:sp>
        <p:nvSpPr>
          <p:cNvPr id="23" name="t28"/>
          <p:cNvSpPr txBox="1"/>
          <p:nvPr/>
        </p:nvSpPr>
        <p:spPr>
          <a:xfrm>
            <a:off x="548640" y="6263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数据来源：Grand View Research, Pet Monitoring Camera Market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9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项目目标 / OBJECTIVES</a:t>
            </a:r>
            <a:endParaRPr lang="en-US" sz="1000" dirty="0"/>
          </a:p>
        </p:txBody>
      </p:sp>
      <p:sp>
        <p:nvSpPr>
          <p:cNvPr id="3" name="t30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· 一个可运行的视频分析原型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让摄像头看懂狗在做什么</a:t>
            </a:r>
            <a:endParaRPr lang="en-US" sz="4400" dirty="0"/>
          </a:p>
        </p:txBody>
      </p:sp>
      <p:sp>
        <p:nvSpPr>
          <p:cNvPr id="5" name="t31"/>
          <p:cNvSpPr txBox="1"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用户上传室内视频，系统输出狗的行为、人宠互动类别、置信度和时间线。</a:t>
            </a:r>
            <a:endParaRPr lang="en-US" sz="1600" dirty="0"/>
          </a:p>
        </p:txBody>
      </p:sp>
      <p:sp>
        <p:nvSpPr>
          <p:cNvPr id="6" name="r32"/>
          <p:cNvSpPr/>
          <p:nvPr/>
        </p:nvSpPr>
        <p:spPr>
          <a:xfrm>
            <a:off x="548640" y="2880360"/>
            <a:ext cx="292608" cy="256032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7" name="t33"/>
          <p:cNvSpPr txBox="1"/>
          <p:nvPr/>
        </p:nvSpPr>
        <p:spPr>
          <a:xfrm>
            <a:off x="548640" y="28803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34"/>
          <p:cNvSpPr txBox="1"/>
          <p:nvPr/>
        </p:nvSpPr>
        <p:spPr>
          <a:xfrm>
            <a:off x="96012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A</a:t>
            </a:r>
            <a:endParaRPr lang="en-US" sz="1100" dirty="0"/>
          </a:p>
        </p:txBody>
      </p:sp>
      <p:sp>
        <p:nvSpPr>
          <p:cNvPr id="9" name="t35"/>
          <p:cNvSpPr txBox="1"/>
          <p:nvPr/>
        </p:nvSpPr>
        <p:spPr>
          <a:xfrm>
            <a:off x="548640" y="3246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犬类行为识别</a:t>
            </a:r>
            <a:endParaRPr lang="en-US" sz="3600" dirty="0"/>
          </a:p>
        </p:txBody>
      </p:sp>
      <p:sp>
        <p:nvSpPr>
          <p:cNvPr id="10" name="t36"/>
          <p:cNvSpPr txBox="1"/>
          <p:nvPr/>
        </p:nvSpPr>
        <p:spPr>
          <a:xfrm>
            <a:off x="54864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只看狗：从狗骨架随时间的变化判断它在做什么。</a:t>
            </a:r>
            <a:endParaRPr lang="en-US" sz="1400" dirty="0"/>
          </a:p>
        </p:txBody>
      </p:sp>
      <p:sp>
        <p:nvSpPr>
          <p:cNvPr id="11" name="l37"/>
          <p:cNvSpPr/>
          <p:nvPr/>
        </p:nvSpPr>
        <p:spPr>
          <a:xfrm>
            <a:off x="548640" y="4526280"/>
            <a:ext cx="51206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38"/>
          <p:cNvSpPr txBox="1"/>
          <p:nvPr/>
        </p:nvSpPr>
        <p:spPr>
          <a:xfrm>
            <a:off x="548640" y="46634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输入：狗骨架序列 T × 17 × 3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模型：ST-GCN（对比基线 LSTM）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输出 6 类：站/走 · 坐 · 躺/睡 · 进食/饮水 · 玩耍 · 其他</a:t>
            </a:r>
            <a:endParaRPr lang="en-US" sz="1500" dirty="0"/>
          </a:p>
        </p:txBody>
      </p:sp>
      <p:sp>
        <p:nvSpPr>
          <p:cNvPr id="13" name="vrule"/>
          <p:cNvSpPr/>
          <p:nvPr/>
        </p:nvSpPr>
        <p:spPr>
          <a:xfrm>
            <a:off x="6095848" y="2880360"/>
            <a:ext cx="0" cy="30175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r39"/>
          <p:cNvSpPr/>
          <p:nvPr/>
        </p:nvSpPr>
        <p:spPr>
          <a:xfrm>
            <a:off x="6553048" y="2880360"/>
            <a:ext cx="292608" cy="256032"/>
          </a:xfrm>
          <a:prstGeom prst="rect">
            <a:avLst/>
          </a:prstGeom>
          <a:ln w="9525">
            <a:solidFill>
              <a:schemeClr val="accent1"/>
            </a:solidFill>
            <a:prstDash val="solid"/>
          </a:ln>
        </p:spPr>
      </p:sp>
      <p:sp>
        <p:nvSpPr>
          <p:cNvPr id="15" name="t40"/>
          <p:cNvSpPr txBox="1"/>
          <p:nvPr/>
        </p:nvSpPr>
        <p:spPr>
          <a:xfrm>
            <a:off x="6553048" y="28803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41"/>
          <p:cNvSpPr txBox="1"/>
          <p:nvPr/>
        </p:nvSpPr>
        <p:spPr>
          <a:xfrm>
            <a:off x="6964528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B</a:t>
            </a:r>
            <a:endParaRPr lang="en-US" sz="1100" dirty="0"/>
          </a:p>
        </p:txBody>
      </p:sp>
      <p:sp>
        <p:nvSpPr>
          <p:cNvPr id="17" name="t42"/>
          <p:cNvSpPr txBox="1"/>
          <p:nvPr/>
        </p:nvSpPr>
        <p:spPr>
          <a:xfrm>
            <a:off x="6553048" y="3246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人宠互动识别</a:t>
            </a:r>
            <a:endParaRPr lang="en-US" sz="3600" dirty="0"/>
          </a:p>
        </p:txBody>
      </p:sp>
      <p:sp>
        <p:nvSpPr>
          <p:cNvPr id="18" name="t43"/>
          <p:cNvSpPr txBox="1"/>
          <p:nvPr/>
        </p:nvSpPr>
        <p:spPr>
          <a:xfrm>
            <a:off x="6553048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同时看人和狗：动作 + 人狗关系 + 声音。</a:t>
            </a:r>
            <a:endParaRPr lang="en-US" sz="1400" dirty="0"/>
          </a:p>
        </p:txBody>
      </p:sp>
      <p:sp>
        <p:nvSpPr>
          <p:cNvPr id="19" name="l44"/>
          <p:cNvSpPr/>
          <p:nvPr/>
        </p:nvSpPr>
        <p:spPr>
          <a:xfrm>
            <a:off x="6553048" y="4526280"/>
            <a:ext cx="51206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t45"/>
          <p:cNvSpPr txBox="1"/>
          <p:nvPr/>
        </p:nvSpPr>
        <p:spPr>
          <a:xfrm>
            <a:off x="6553048" y="46634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输入：人骨架 + 狗骨架 + 关系特征（可选音频）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模型：双流 ST-GCN，后期融合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输出 4 类：无互动 · 喂食 · 抚摸 · 共同玩耍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6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系统与数据</a:t>
            </a:r>
            <a:endParaRPr lang="en-US" sz="1000" dirty="0"/>
          </a:p>
        </p:txBody>
      </p:sp>
      <p:sp>
        <p:nvSpPr>
          <p:cNvPr id="3" name="t47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系统整体架构</a:t>
            </a:r>
            <a:endParaRPr lang="en-US" sz="2800" dirty="0"/>
          </a:p>
        </p:txBody>
      </p:sp>
      <p:sp>
        <p:nvSpPr>
          <p:cNvPr id="5" name="l48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t49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离线训练：狗姿态 AP-10K 预训练 → APT-36K 狗子集 → 室内数据；人体姿态用 COCO-17 预训练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在线推理 6 步：视频 → 检测跟踪 → 双物种姿态 → 骨架图 → 时序识别 → 输出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检测跟踪：RTMDet / YOLO + ByteTrack / BoT-SORT</a:t>
            </a:r>
            <a:endParaRPr lang="en-US" sz="1400" dirty="0"/>
          </a:p>
        </p:txBody>
      </p:sp>
      <p:pic>
        <p:nvPicPr>
          <p:cNvPr id="7" name="diagram-system-overview" descr="系统整体架构 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98348"/>
            <a:ext cx="7315200" cy="4114800"/>
          </a:xfrm>
          <a:prstGeom prst="rect">
            <a:avLst/>
          </a:prstGeom>
        </p:spPr>
      </p:pic>
      <p:sp>
        <p:nvSpPr>
          <p:cNvPr id="8" name="t50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双物种骨架是统一的中间表示：姿态估计负责“看见关节”，ST-GCN 负责“理解时序行为”。</a:t>
            </a:r>
            <a:endParaRPr lang="en-US" sz="1500" dirty="0"/>
          </a:p>
        </p:txBody>
      </p:sp>
      <p:sp>
        <p:nvSpPr>
          <p:cNvPr id="9" name="l51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t52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在线推理</a:t>
            </a:r>
            <a:endParaRPr lang="en-US" sz="1000" dirty="0"/>
          </a:p>
        </p:txBody>
      </p:sp>
      <p:sp>
        <p:nvSpPr>
          <p:cNvPr id="11" name="t53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54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视频进，JSON 与时间线出</a:t>
            </a:r>
            <a:endParaRPr lang="en-US" sz="1100" dirty="0"/>
          </a:p>
        </p:txBody>
      </p:sp>
      <p:sp>
        <p:nvSpPr>
          <p:cNvPr id="13" name="l55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56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识别任务</a:t>
            </a:r>
            <a:endParaRPr lang="en-US" sz="1000" dirty="0"/>
          </a:p>
        </p:txBody>
      </p:sp>
      <p:sp>
        <p:nvSpPr>
          <p:cNvPr id="15" name="t57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58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Task A 犬行为 · Task B 互动</a:t>
            </a:r>
            <a:endParaRPr lang="en-US" sz="1100" dirty="0"/>
          </a:p>
        </p:txBody>
      </p:sp>
      <p:sp>
        <p:nvSpPr>
          <p:cNvPr id="17" name="l59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60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评估指标</a:t>
            </a:r>
            <a:endParaRPr lang="en-US" sz="1000" dirty="0"/>
          </a:p>
        </p:txBody>
      </p:sp>
      <p:sp>
        <p:nvSpPr>
          <p:cNvPr id="19" name="t61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62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姿态 AP / PCK · 识别 Acc / Macro-F1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63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系统与数据</a:t>
            </a:r>
            <a:endParaRPr lang="en-US" sz="1000" dirty="0"/>
          </a:p>
        </p:txBody>
      </p:sp>
      <p:sp>
        <p:nvSpPr>
          <p:cNvPr id="3" name="r64"/>
          <p:cNvSpPr/>
          <p:nvPr/>
        </p:nvSpPr>
        <p:spPr>
          <a:xfrm>
            <a:off x="365760" y="749808"/>
            <a:ext cx="3657600" cy="4069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65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数据从哪来</a:t>
            </a:r>
            <a:endParaRPr lang="en-US" sz="2800" dirty="0"/>
          </a:p>
        </p:txBody>
      </p:sp>
      <p:sp>
        <p:nvSpPr>
          <p:cNvPr id="6" name="l66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t67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① APT-36K：沿用官方划分，只筛出狗的样本，不重新标注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② 自采视频：先按“犬只 + 完整原始视频”建 Group ID 并划分，再抽帧和切片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先划分、后抽帧：同一只狗、同一段视频不会同时出现在训练集和测试集</a:t>
            </a:r>
            <a:endParaRPr lang="en-US" sz="1400" dirty="0"/>
          </a:p>
        </p:txBody>
      </p:sp>
      <p:pic>
        <p:nvPicPr>
          <p:cNvPr id="8" name="diagram-data-preparation" descr="数据从哪来 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98348"/>
            <a:ext cx="7315200" cy="4114800"/>
          </a:xfrm>
          <a:prstGeom prst="rect">
            <a:avLst/>
          </a:prstGeom>
        </p:spPr>
      </p:pic>
      <p:sp>
        <p:nvSpPr>
          <p:cNvPr id="9" name="t68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AP-10K 是 RTMPose 的预训练集，不能再拿来训练；狗姿态的公开数据改用 APT-36K。</a:t>
            </a:r>
            <a:endParaRPr lang="en-US" sz="1500" dirty="0"/>
          </a:p>
        </p:txBody>
      </p:sp>
      <p:sp>
        <p:nvSpPr>
          <p:cNvPr id="10" name="l69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70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数据来源</a:t>
            </a:r>
            <a:endParaRPr lang="en-US" sz="1000" dirty="0"/>
          </a:p>
        </p:txBody>
      </p:sp>
      <p:sp>
        <p:nvSpPr>
          <p:cNvPr id="12" name="t71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72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APT-36K 狗子集 · 室内自采视频</a:t>
            </a:r>
            <a:endParaRPr lang="en-US" sz="1100" dirty="0"/>
          </a:p>
        </p:txBody>
      </p:sp>
      <p:sp>
        <p:nvSpPr>
          <p:cNvPr id="14" name="l73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74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帧级标注</a:t>
            </a:r>
            <a:endParaRPr lang="en-US" sz="1000" dirty="0"/>
          </a:p>
        </p:txBody>
      </p:sp>
      <p:sp>
        <p:nvSpPr>
          <p:cNvPr id="16" name="t75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300–800</a:t>
            </a:r>
            <a:endParaRPr lang="en-US" sz="2400" dirty="0"/>
          </a:p>
        </p:txBody>
      </p:sp>
      <p:sp>
        <p:nvSpPr>
          <p:cNvPr id="17" name="t76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张室内图：狗框 + 17 点</a:t>
            </a:r>
            <a:endParaRPr lang="en-US" sz="1100" dirty="0"/>
          </a:p>
        </p:txBody>
      </p:sp>
      <p:sp>
        <p:nvSpPr>
          <p:cNvPr id="18" name="l77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t78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数据产物</a:t>
            </a:r>
            <a:endParaRPr lang="en-US" sz="1000" dirty="0"/>
          </a:p>
        </p:txBody>
      </p:sp>
      <p:sp>
        <p:nvSpPr>
          <p:cNvPr id="20" name="t79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2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80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关键点 · 片段标签 · 派生特征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8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系统与数据</a:t>
            </a:r>
            <a:endParaRPr lang="en-US" sz="1000" dirty="0"/>
          </a:p>
        </p:txBody>
      </p:sp>
      <p:sp>
        <p:nvSpPr>
          <p:cNvPr id="3" name="t82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POSE ADAPTATION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狗姿态怎么训</a:t>
            </a:r>
            <a:endParaRPr lang="en-US" sz="2800" dirty="0"/>
          </a:p>
        </p:txBody>
      </p:sp>
      <p:sp>
        <p:nvSpPr>
          <p:cNvPr id="5" name="l83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t84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P0：官方 AP-10K RTMPose-M 直接测试，作为基线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P1：用 APT-36K 的狗子集微调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P2：用室内数据、以小学习率继续微调</a:t>
            </a:r>
            <a:endParaRPr lang="en-US" sz="1400" dirty="0"/>
          </a:p>
        </p:txBody>
      </p:sp>
      <p:pic>
        <p:nvPicPr>
          <p:cNvPr id="7" name="diagram-dog-pose-stages" descr="狗姿态怎么训 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98348"/>
            <a:ext cx="7315200" cy="4114800"/>
          </a:xfrm>
          <a:prstGeom prst="rect">
            <a:avLst/>
          </a:prstGeom>
        </p:spPr>
      </p:pic>
      <p:sp>
        <p:nvSpPr>
          <p:cNvPr id="8" name="t85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三个版本在同一个测试集上比较：P1 &gt; P0 说明狗专门化有用，P2 &gt; P1 说明室内适配有用。</a:t>
            </a:r>
            <a:endParaRPr lang="en-US" sz="1500" dirty="0"/>
          </a:p>
        </p:txBody>
      </p:sp>
      <p:sp>
        <p:nvSpPr>
          <p:cNvPr id="9" name="l86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t87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模型版本</a:t>
            </a:r>
            <a:endParaRPr lang="en-US" sz="1000" dirty="0"/>
          </a:p>
        </p:txBody>
      </p:sp>
      <p:sp>
        <p:nvSpPr>
          <p:cNvPr id="11" name="t88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89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P0 → P1 → P2 逐阶段比较</a:t>
            </a:r>
            <a:endParaRPr lang="en-US" sz="1100" dirty="0"/>
          </a:p>
        </p:txBody>
      </p:sp>
      <p:sp>
        <p:nvSpPr>
          <p:cNvPr id="13" name="l90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91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测试集</a:t>
            </a:r>
            <a:endParaRPr lang="en-US" sz="1000" dirty="0"/>
          </a:p>
        </p:txBody>
      </p:sp>
      <p:sp>
        <p:nvSpPr>
          <p:cNvPr id="15" name="t92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93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三个版本共用同一独立测试集</a:t>
            </a:r>
            <a:endParaRPr lang="en-US" sz="1100" dirty="0"/>
          </a:p>
        </p:txBody>
      </p:sp>
      <p:sp>
        <p:nvSpPr>
          <p:cNvPr id="17" name="l94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95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姿态指标</a:t>
            </a:r>
            <a:endParaRPr lang="en-US" sz="1000" dirty="0"/>
          </a:p>
        </p:txBody>
      </p:sp>
      <p:sp>
        <p:nvSpPr>
          <p:cNvPr id="19" name="t96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97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COCO AP · AP@0.5 · AP@0.75 · PCK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98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模型设计</a:t>
            </a:r>
            <a:endParaRPr lang="en-US" sz="1000" dirty="0"/>
          </a:p>
        </p:txBody>
      </p:sp>
      <p:sp>
        <p:nvSpPr>
          <p:cNvPr id="3" name="r99"/>
          <p:cNvSpPr/>
          <p:nvPr/>
        </p:nvSpPr>
        <p:spPr>
          <a:xfrm>
            <a:off x="365760" y="749808"/>
            <a:ext cx="3657600" cy="4069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100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STEP 03 · POSE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双物种骨架提取</a:t>
            </a:r>
            <a:endParaRPr lang="en-US" sz="2800" dirty="0"/>
          </a:p>
        </p:txBody>
      </p:sp>
      <p:sp>
        <p:nvSpPr>
          <p:cNvPr id="6" name="l101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t102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人和狗两个分支结构相同：仿射裁剪 → CSPNeXt-M → RTMCCHead → SimCC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区别在输入尺寸：人 256 × 192，狗 256 × 256；两个分支权重不共享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按跟踪 ID 跨帧对齐，再做掩码、插值和平滑</a:t>
            </a:r>
            <a:endParaRPr lang="en-US" sz="1400" dirty="0"/>
          </a:p>
        </p:txBody>
      </p:sp>
      <p:pic>
        <p:nvPicPr>
          <p:cNvPr id="8" name="diagram-dual-species-pose" descr="双物种骨架提取 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92608"/>
            <a:ext cx="6400800" cy="4526280"/>
          </a:xfrm>
          <a:prstGeom prst="rect">
            <a:avLst/>
          </a:prstGeom>
        </p:spPr>
      </p:pic>
      <p:sp>
        <p:nvSpPr>
          <p:cNvPr id="9" name="t103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RTMCCHead = 7×7 卷积 + FC + GAU；SimCC 把坐标预测变成分类问题。</a:t>
            </a:r>
            <a:endParaRPr lang="en-US" sz="1500" dirty="0"/>
          </a:p>
        </p:txBody>
      </p:sp>
      <p:sp>
        <p:nvSpPr>
          <p:cNvPr id="10" name="l104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105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2" name="t106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768</a:t>
            </a:r>
            <a:endParaRPr lang="en-US" sz="3200" dirty="0"/>
          </a:p>
        </p:txBody>
      </p:sp>
      <p:sp>
        <p:nvSpPr>
          <p:cNvPr id="13" name="t107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CSPNeXt-M 输出通道</a:t>
            </a:r>
            <a:endParaRPr lang="en-US" sz="1100" dirty="0"/>
          </a:p>
        </p:txBody>
      </p:sp>
      <p:sp>
        <p:nvSpPr>
          <p:cNvPr id="14" name="l108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109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关键点</a:t>
            </a:r>
            <a:endParaRPr lang="en-US" sz="1000" dirty="0"/>
          </a:p>
        </p:txBody>
      </p:sp>
      <p:sp>
        <p:nvSpPr>
          <p:cNvPr id="16" name="t110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17</a:t>
            </a:r>
            <a:endParaRPr lang="en-US" sz="3200" dirty="0"/>
          </a:p>
        </p:txBody>
      </p:sp>
      <p:sp>
        <p:nvSpPr>
          <p:cNvPr id="17" name="t111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人 COCO-17 · 狗 AP-10K 17 点</a:t>
            </a:r>
            <a:endParaRPr lang="en-US" sz="1100" dirty="0"/>
          </a:p>
        </p:txBody>
      </p:sp>
      <p:sp>
        <p:nvSpPr>
          <p:cNvPr id="18" name="l112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t113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输出张量</a:t>
            </a:r>
            <a:endParaRPr lang="en-US" sz="1000" dirty="0"/>
          </a:p>
        </p:txBody>
      </p:sp>
      <p:sp>
        <p:nvSpPr>
          <p:cNvPr id="20" name="t114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2×T×17×3</a:t>
            </a:r>
            <a:endParaRPr lang="en-US" sz="2400" dirty="0"/>
          </a:p>
        </p:txBody>
      </p:sp>
      <p:sp>
        <p:nvSpPr>
          <p:cNvPr id="21" name="t115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 条流 · x、y、置信度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16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模型设计</a:t>
            </a:r>
            <a:endParaRPr lang="en-US" sz="1000" dirty="0"/>
          </a:p>
        </p:txBody>
      </p:sp>
      <p:sp>
        <p:nvSpPr>
          <p:cNvPr id="3" name="t117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ST-GCN PRINCIPLE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图卷积怎么做</a:t>
            </a:r>
            <a:endParaRPr lang="en-US" sz="2800" dirty="0"/>
          </a:p>
        </p:txBody>
      </p:sp>
      <p:sp>
        <p:nvSpPr>
          <p:cNvPr id="5" name="l118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t119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例子：人的右肘、狗的左肘，以及它们的一阶邻居（D = 1）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统一标记：邻域只有 1 组；距离分区：根节点 / 一跳节点 2 组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空间配置分区：按离骨架重心的远近，分成根节点、向心、离心 3 组</a:t>
            </a:r>
            <a:endParaRPr lang="en-US" sz="1400" dirty="0"/>
          </a:p>
        </p:txBody>
      </p:sp>
      <p:pic>
        <p:nvPicPr>
          <p:cNvPr id="7" name="diagram-stgcn-partition" descr="图卷积怎么做 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92608"/>
            <a:ext cx="6400800" cy="4526280"/>
          </a:xfrm>
          <a:prstGeom prst="rect">
            <a:avLst/>
          </a:prstGeom>
        </p:spPr>
      </p:pic>
      <p:sp>
        <p:nvSpPr>
          <p:cNvPr id="8" name="t120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后面两个网络都用空间配置分区；每组对应一个邻接矩阵，共 A₀、A₁、A₂ 三个。</a:t>
            </a:r>
            <a:endParaRPr lang="en-US" sz="1500" dirty="0"/>
          </a:p>
        </p:txBody>
      </p:sp>
      <p:sp>
        <p:nvSpPr>
          <p:cNvPr id="9" name="l121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t122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分区策略</a:t>
            </a:r>
            <a:endParaRPr lang="en-US" sz="1000" dirty="0"/>
          </a:p>
        </p:txBody>
      </p:sp>
      <p:sp>
        <p:nvSpPr>
          <p:cNvPr id="11" name="t123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124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统一标记 · 距离 · 空间配置</a:t>
            </a:r>
            <a:endParaRPr lang="en-US" sz="1100" dirty="0"/>
          </a:p>
        </p:txBody>
      </p:sp>
      <p:sp>
        <p:nvSpPr>
          <p:cNvPr id="13" name="l125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126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邻域半径</a:t>
            </a:r>
            <a:endParaRPr lang="en-US" sz="1000" dirty="0"/>
          </a:p>
        </p:txBody>
      </p:sp>
      <p:sp>
        <p:nvSpPr>
          <p:cNvPr id="15" name="t127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D = 1</a:t>
            </a:r>
            <a:endParaRPr lang="en-US" sz="3200" dirty="0"/>
          </a:p>
        </p:txBody>
      </p:sp>
      <p:sp>
        <p:nvSpPr>
          <p:cNvPr id="16" name="t128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根节点与一跳邻居</a:t>
            </a:r>
            <a:endParaRPr lang="en-US" sz="1100" dirty="0"/>
          </a:p>
        </p:txBody>
      </p:sp>
      <p:sp>
        <p:nvSpPr>
          <p:cNvPr id="17" name="l129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130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邻接矩阵</a:t>
            </a:r>
            <a:endParaRPr lang="en-US" sz="1000" dirty="0"/>
          </a:p>
        </p:txBody>
      </p:sp>
      <p:sp>
        <p:nvSpPr>
          <p:cNvPr id="19" name="t131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A₀ A₁ A₂</a:t>
            </a:r>
            <a:endParaRPr lang="en-US" sz="2400" dirty="0"/>
          </a:p>
        </p:txBody>
      </p:sp>
      <p:sp>
        <p:nvSpPr>
          <p:cNvPr id="20" name="t132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空间配置分区，Task A / B 共用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33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模型设计</a:t>
            </a:r>
            <a:endParaRPr lang="en-US" sz="1000" dirty="0"/>
          </a:p>
        </p:txBody>
      </p:sp>
      <p:sp>
        <p:nvSpPr>
          <p:cNvPr id="3" name="r134"/>
          <p:cNvSpPr/>
          <p:nvPr/>
        </p:nvSpPr>
        <p:spPr>
          <a:xfrm>
            <a:off x="365760" y="749808"/>
            <a:ext cx="3657600" cy="4069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135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STEP 05 · TASK 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Task A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犬行为识别</a:t>
            </a:r>
            <a:endParaRPr lang="en-US" sz="2800" dirty="0"/>
          </a:p>
        </p:txBody>
      </p:sp>
      <p:sp>
        <p:nvSpPr>
          <p:cNvPr id="6" name="l136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t137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结构沿用 ST-GCN 原论文（Yan 等，AAAI 2018）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9 个残差单元分 3 段：通道 64 → 128 → 256，时间 T → T/2 → T/4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全局平均池化 → Linear + Softmax；对比基线为 LSTM</a:t>
            </a:r>
            <a:endParaRPr lang="en-US" sz="1400" dirty="0"/>
          </a:p>
        </p:txBody>
      </p:sp>
      <p:pic>
        <p:nvPicPr>
          <p:cNvPr id="8" name="diagram-task-a-stgcn" descr="Task A 犬行为识别 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98348"/>
            <a:ext cx="7315200" cy="4114800"/>
          </a:xfrm>
          <a:prstGeom prst="rect">
            <a:avLst/>
          </a:prstGeom>
        </p:spPr>
      </p:pic>
      <p:sp>
        <p:nvSpPr>
          <p:cNvPr id="9" name="t138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每个残差单元先做空间图卷积（A₀–A₂），再做 9×1 时间卷积，最后残差相加。</a:t>
            </a:r>
            <a:endParaRPr lang="en-US" sz="1500" dirty="0"/>
          </a:p>
        </p:txBody>
      </p:sp>
      <p:sp>
        <p:nvSpPr>
          <p:cNvPr id="10" name="l139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140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残差单元</a:t>
            </a:r>
            <a:endParaRPr lang="en-US" sz="1000" dirty="0"/>
          </a:p>
        </p:txBody>
      </p:sp>
      <p:sp>
        <p:nvSpPr>
          <p:cNvPr id="12" name="t141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9</a:t>
            </a:r>
            <a:endParaRPr lang="en-US" sz="3200" dirty="0"/>
          </a:p>
        </p:txBody>
      </p:sp>
      <p:sp>
        <p:nvSpPr>
          <p:cNvPr id="13" name="t142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3 段 × 3 个单元</a:t>
            </a:r>
            <a:endParaRPr lang="en-US" sz="1100" dirty="0"/>
          </a:p>
        </p:txBody>
      </p:sp>
      <p:sp>
        <p:nvSpPr>
          <p:cNvPr id="14" name="l143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144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特征维度</a:t>
            </a:r>
            <a:endParaRPr lang="en-US" sz="1000" dirty="0"/>
          </a:p>
        </p:txBody>
      </p:sp>
      <p:sp>
        <p:nvSpPr>
          <p:cNvPr id="16" name="t145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256-D</a:t>
            </a:r>
            <a:endParaRPr lang="en-US" sz="3200" dirty="0"/>
          </a:p>
        </p:txBody>
      </p:sp>
      <p:sp>
        <p:nvSpPr>
          <p:cNvPr id="17" name="t146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全局平均池化后</a:t>
            </a:r>
            <a:endParaRPr lang="en-US" sz="1100" dirty="0"/>
          </a:p>
        </p:txBody>
      </p:sp>
      <p:sp>
        <p:nvSpPr>
          <p:cNvPr id="18" name="l147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t148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行为类别</a:t>
            </a:r>
            <a:endParaRPr lang="en-US" sz="1000" dirty="0"/>
          </a:p>
        </p:txBody>
      </p:sp>
      <p:sp>
        <p:nvSpPr>
          <p:cNvPr id="20" name="t149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2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6</a:t>
            </a:r>
            <a:endParaRPr lang="en-US" sz="3200" dirty="0"/>
          </a:p>
        </p:txBody>
      </p:sp>
      <p:sp>
        <p:nvSpPr>
          <p:cNvPr id="21" name="t150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站走 · 坐 · 躺睡 · 进食 · 玩耍 · 其他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5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模型设计</a:t>
            </a:r>
            <a:endParaRPr lang="en-US" sz="1000" dirty="0"/>
          </a:p>
        </p:txBody>
      </p:sp>
      <p:sp>
        <p:nvSpPr>
          <p:cNvPr id="3" name="t152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STEP 05 · TASK B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0700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Task B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人宠互动识别</a:t>
            </a:r>
            <a:endParaRPr lang="en-US" sz="2800" dirty="0"/>
          </a:p>
        </p:txBody>
      </p:sp>
      <p:sp>
        <p:nvSpPr>
          <p:cNvPr id="5" name="l153"/>
          <p:cNvSpPr/>
          <p:nvPr/>
        </p:nvSpPr>
        <p:spPr>
          <a:xfrm>
            <a:off x="548640" y="224028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t154"/>
          <p:cNvSpPr txBox="1"/>
          <p:nvPr/>
        </p:nvSpPr>
        <p:spPr>
          <a:xfrm>
            <a:off x="54864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人骨架、狗骨架各走一条 ST-GCN，得到 f_h 和 f_d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加上关系特征 f_r（距离、速度、朝向），以及可选音频（YAMNet / MERT）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在末端 Concat + MLP，属于后期融合</a:t>
            </a:r>
            <a:endParaRPr lang="en-US" sz="1400" dirty="0"/>
          </a:p>
        </p:txBody>
      </p:sp>
      <p:pic>
        <p:nvPicPr>
          <p:cNvPr id="7" name="diagram-task-b-dual-stream" descr="Task B 人宠互动识别 架构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98348"/>
            <a:ext cx="7315200" cy="4114800"/>
          </a:xfrm>
          <a:prstGeom prst="rect">
            <a:avLst/>
          </a:prstGeom>
        </p:spPr>
      </p:pic>
      <p:sp>
        <p:nvSpPr>
          <p:cNvPr id="8" name="t155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后期融合让音频成为可选项：没有声音或声音太差时，只用骨架也能完成预测。</a:t>
            </a:r>
            <a:endParaRPr lang="en-US" sz="1500" dirty="0"/>
          </a:p>
        </p:txBody>
      </p:sp>
      <p:sp>
        <p:nvSpPr>
          <p:cNvPr id="9" name="l156"/>
          <p:cNvSpPr/>
          <p:nvPr/>
        </p:nvSpPr>
        <p:spPr>
          <a:xfrm>
            <a:off x="507492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t157"/>
          <p:cNvSpPr txBox="1"/>
          <p:nvPr/>
        </p:nvSpPr>
        <p:spPr>
          <a:xfrm>
            <a:off x="5074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骨架流</a:t>
            </a:r>
            <a:endParaRPr lang="en-US" sz="1000" dirty="0"/>
          </a:p>
        </p:txBody>
      </p:sp>
      <p:sp>
        <p:nvSpPr>
          <p:cNvPr id="11" name="t158"/>
          <p:cNvSpPr txBox="1"/>
          <p:nvPr/>
        </p:nvSpPr>
        <p:spPr>
          <a:xfrm>
            <a:off x="507492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159"/>
          <p:cNvSpPr txBox="1"/>
          <p:nvPr/>
        </p:nvSpPr>
        <p:spPr>
          <a:xfrm>
            <a:off x="507492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人 + 狗，各一条 ST-GCN</a:t>
            </a:r>
            <a:endParaRPr lang="en-US" sz="1100" dirty="0"/>
          </a:p>
        </p:txBody>
      </p:sp>
      <p:sp>
        <p:nvSpPr>
          <p:cNvPr id="13" name="l160"/>
          <p:cNvSpPr/>
          <p:nvPr/>
        </p:nvSpPr>
        <p:spPr>
          <a:xfrm>
            <a:off x="731520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161"/>
          <p:cNvSpPr txBox="1"/>
          <p:nvPr/>
        </p:nvSpPr>
        <p:spPr>
          <a:xfrm>
            <a:off x="731520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关系特征</a:t>
            </a:r>
            <a:endParaRPr lang="en-US" sz="1000" dirty="0"/>
          </a:p>
        </p:txBody>
      </p:sp>
      <p:sp>
        <p:nvSpPr>
          <p:cNvPr id="15" name="t162"/>
          <p:cNvSpPr txBox="1"/>
          <p:nvPr/>
        </p:nvSpPr>
        <p:spPr>
          <a:xfrm>
            <a:off x="731520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163"/>
          <p:cNvSpPr txBox="1"/>
          <p:nvPr/>
        </p:nvSpPr>
        <p:spPr>
          <a:xfrm>
            <a:off x="731520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距离 · 速度 · 朝向</a:t>
            </a:r>
            <a:endParaRPr lang="en-US" sz="1100" dirty="0"/>
          </a:p>
        </p:txBody>
      </p:sp>
      <p:sp>
        <p:nvSpPr>
          <p:cNvPr id="17" name="l164"/>
          <p:cNvSpPr/>
          <p:nvPr/>
        </p:nvSpPr>
        <p:spPr>
          <a:xfrm>
            <a:off x="9555480" y="5120640"/>
            <a:ext cx="20116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165"/>
          <p:cNvSpPr txBox="1"/>
          <p:nvPr/>
        </p:nvSpPr>
        <p:spPr>
          <a:xfrm>
            <a:off x="955548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互动类别</a:t>
            </a:r>
            <a:endParaRPr lang="en-US" sz="1000" dirty="0"/>
          </a:p>
        </p:txBody>
      </p:sp>
      <p:sp>
        <p:nvSpPr>
          <p:cNvPr id="19" name="t166"/>
          <p:cNvSpPr txBox="1"/>
          <p:nvPr/>
        </p:nvSpPr>
        <p:spPr>
          <a:xfrm>
            <a:off x="9555480" y="54681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167"/>
          <p:cNvSpPr txBox="1"/>
          <p:nvPr/>
        </p:nvSpPr>
        <p:spPr>
          <a:xfrm>
            <a:off x="9555480" y="6053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无互动 · 喂食 · 抚摸 · 共同玩耍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68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评估 / EVALUATION</a:t>
            </a:r>
            <a:endParaRPr lang="en-US" sz="1000" dirty="0"/>
          </a:p>
        </p:txBody>
      </p:sp>
      <p:sp>
        <p:nvSpPr>
          <p:cNvPr id="3" name="t169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PLAN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34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怎么证明每一步有用</a:t>
            </a:r>
            <a:endParaRPr lang="en-US" sz="4400" dirty="0"/>
          </a:p>
        </p:txBody>
      </p:sp>
      <p:sp>
        <p:nvSpPr>
          <p:cNvPr id="5" name="r170"/>
          <p:cNvSpPr/>
          <p:nvPr/>
        </p:nvSpPr>
        <p:spPr>
          <a:xfrm>
            <a:off x="548640" y="2514600"/>
            <a:ext cx="2560320" cy="2697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171"/>
          <p:cNvSpPr txBox="1"/>
          <p:nvPr/>
        </p:nvSpPr>
        <p:spPr>
          <a:xfrm>
            <a:off x="777240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POSE</a:t>
            </a:r>
            <a:endParaRPr lang="en-US" sz="1000" dirty="0"/>
          </a:p>
        </p:txBody>
      </p:sp>
      <p:sp>
        <p:nvSpPr>
          <p:cNvPr id="7" name="t172"/>
          <p:cNvSpPr txBox="1"/>
          <p:nvPr/>
        </p:nvSpPr>
        <p:spPr>
          <a:xfrm>
            <a:off x="7772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姿态估计</a:t>
            </a:r>
            <a:endParaRPr lang="en-US" sz="2400" dirty="0"/>
          </a:p>
        </p:txBody>
      </p:sp>
      <p:sp>
        <p:nvSpPr>
          <p:cNvPr id="8" name="t173"/>
          <p:cNvSpPr txBox="1"/>
          <p:nvPr/>
        </p:nvSpPr>
        <p:spPr>
          <a:xfrm>
            <a:off x="7772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COCO AP · AP@0.5 · AP@0.75 · PCK</a:t>
            </a:r>
            <a:endParaRPr lang="en-US" sz="1200" dirty="0"/>
          </a:p>
        </p:txBody>
      </p:sp>
      <p:sp>
        <p:nvSpPr>
          <p:cNvPr id="9" name="t174"/>
          <p:cNvSpPr txBox="1"/>
          <p:nvPr/>
        </p:nvSpPr>
        <p:spPr>
          <a:xfrm>
            <a:off x="777240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P0 / P1 / P2 在同一测试集上比较，按头部、前肢、后肢分别报告。</a:t>
            </a:r>
            <a:endParaRPr lang="en-US" sz="1300" dirty="0"/>
          </a:p>
        </p:txBody>
      </p:sp>
      <p:sp>
        <p:nvSpPr>
          <p:cNvPr id="10" name="r175"/>
          <p:cNvSpPr/>
          <p:nvPr/>
        </p:nvSpPr>
        <p:spPr>
          <a:xfrm>
            <a:off x="3364992" y="2514600"/>
            <a:ext cx="2560320" cy="2697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176"/>
          <p:cNvSpPr txBox="1"/>
          <p:nvPr/>
        </p:nvSpPr>
        <p:spPr>
          <a:xfrm>
            <a:off x="359359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TASK A</a:t>
            </a:r>
            <a:endParaRPr lang="en-US" sz="1000" dirty="0"/>
          </a:p>
        </p:txBody>
      </p:sp>
      <p:sp>
        <p:nvSpPr>
          <p:cNvPr id="12" name="t177"/>
          <p:cNvSpPr txBox="1"/>
          <p:nvPr/>
        </p:nvSpPr>
        <p:spPr>
          <a:xfrm>
            <a:off x="3593592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犬行为识别</a:t>
            </a:r>
            <a:endParaRPr lang="en-US" sz="2400" dirty="0"/>
          </a:p>
        </p:txBody>
      </p:sp>
      <p:sp>
        <p:nvSpPr>
          <p:cNvPr id="13" name="t178"/>
          <p:cNvSpPr txBox="1"/>
          <p:nvPr/>
        </p:nvSpPr>
        <p:spPr>
          <a:xfrm>
            <a:off x="359359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Accuracy · Macro-F1 · 混淆矩阵</a:t>
            </a:r>
            <a:endParaRPr lang="en-US" sz="1200" dirty="0"/>
          </a:p>
        </p:txBody>
      </p:sp>
      <p:sp>
        <p:nvSpPr>
          <p:cNvPr id="14" name="t179"/>
          <p:cNvSpPr txBox="1"/>
          <p:nvPr/>
        </p:nvSpPr>
        <p:spPr>
          <a:xfrm>
            <a:off x="3593592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LSTM 基线 vs ST-GCN；消融置信度、缺失点处理和骨架增强。</a:t>
            </a:r>
            <a:endParaRPr lang="en-US" sz="1300" dirty="0"/>
          </a:p>
        </p:txBody>
      </p:sp>
      <p:sp>
        <p:nvSpPr>
          <p:cNvPr id="15" name="r180"/>
          <p:cNvSpPr/>
          <p:nvPr/>
        </p:nvSpPr>
        <p:spPr>
          <a:xfrm>
            <a:off x="6181344" y="2514600"/>
            <a:ext cx="2560320" cy="2697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181"/>
          <p:cNvSpPr txBox="1"/>
          <p:nvPr/>
        </p:nvSpPr>
        <p:spPr>
          <a:xfrm>
            <a:off x="6409944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TASK B</a:t>
            </a:r>
            <a:endParaRPr lang="en-US" sz="1000" dirty="0"/>
          </a:p>
        </p:txBody>
      </p:sp>
      <p:sp>
        <p:nvSpPr>
          <p:cNvPr id="17" name="t182"/>
          <p:cNvSpPr txBox="1"/>
          <p:nvPr/>
        </p:nvSpPr>
        <p:spPr>
          <a:xfrm>
            <a:off x="6409944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人宠互动识别</a:t>
            </a:r>
            <a:endParaRPr lang="en-US" sz="2400" dirty="0"/>
          </a:p>
        </p:txBody>
      </p:sp>
      <p:sp>
        <p:nvSpPr>
          <p:cNvPr id="18" name="t183"/>
          <p:cNvSpPr txBox="1"/>
          <p:nvPr/>
        </p:nvSpPr>
        <p:spPr>
          <a:xfrm>
            <a:off x="6409944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同上 + 消融实验</a:t>
            </a:r>
            <a:endParaRPr lang="en-US" sz="1200" dirty="0"/>
          </a:p>
        </p:txBody>
      </p:sp>
      <p:sp>
        <p:nvSpPr>
          <p:cNvPr id="19" name="t184"/>
          <p:cNvSpPr txBox="1"/>
          <p:nvPr/>
        </p:nvSpPr>
        <p:spPr>
          <a:xfrm>
            <a:off x="6409944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单流 vs 双流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加不加关系特征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加不加音频</a:t>
            </a:r>
            <a:endParaRPr lang="en-US" sz="1300" dirty="0"/>
          </a:p>
        </p:txBody>
      </p:sp>
      <p:sp>
        <p:nvSpPr>
          <p:cNvPr id="20" name="r185"/>
          <p:cNvSpPr/>
          <p:nvPr/>
        </p:nvSpPr>
        <p:spPr>
          <a:xfrm>
            <a:off x="8997696" y="2514600"/>
            <a:ext cx="2560320" cy="2697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186"/>
          <p:cNvSpPr txBox="1"/>
          <p:nvPr/>
        </p:nvSpPr>
        <p:spPr>
          <a:xfrm>
            <a:off x="9226296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SPLIT</a:t>
            </a:r>
            <a:endParaRPr lang="en-US" sz="1000" dirty="0"/>
          </a:p>
        </p:txBody>
      </p:sp>
      <p:sp>
        <p:nvSpPr>
          <p:cNvPr id="22" name="t187"/>
          <p:cNvSpPr txBox="1"/>
          <p:nvPr/>
        </p:nvSpPr>
        <p:spPr>
          <a:xfrm>
            <a:off x="9226296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泛化与鲁棒</a:t>
            </a:r>
            <a:endParaRPr lang="en-US" sz="2400" dirty="0"/>
          </a:p>
        </p:txBody>
      </p:sp>
      <p:sp>
        <p:nvSpPr>
          <p:cNvPr id="23" name="t188"/>
          <p:cNvSpPr txBox="1"/>
          <p:nvPr/>
        </p:nvSpPr>
        <p:spPr>
          <a:xfrm>
            <a:off x="9226296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未见过的狗和场景</a:t>
            </a:r>
            <a:endParaRPr lang="en-US" sz="1200" dirty="0"/>
          </a:p>
        </p:txBody>
      </p:sp>
      <p:sp>
        <p:nvSpPr>
          <p:cNvPr id="24" name="t189"/>
          <p:cNvSpPr txBox="1"/>
          <p:nvPr/>
        </p:nvSpPr>
        <p:spPr>
          <a:xfrm>
            <a:off x="9226296" y="4160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按狗和完整视频划分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遮挡、关键点缺失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多人多狗、音频缺失</a:t>
            </a:r>
            <a:endParaRPr lang="en-US" sz="1300" dirty="0"/>
          </a:p>
        </p:txBody>
      </p:sp>
      <p:sp>
        <p:nvSpPr>
          <p:cNvPr id="25" name="l190"/>
          <p:cNvSpPr/>
          <p:nvPr/>
        </p:nvSpPr>
        <p:spPr>
          <a:xfrm>
            <a:off x="548640" y="5669280"/>
            <a:ext cx="1109441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6" name="t191"/>
          <p:cNvSpPr txBox="1"/>
          <p:nvPr/>
        </p:nvSpPr>
        <p:spPr>
          <a:xfrm>
            <a:off x="548640" y="5833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</a:t>
            </a:r>
            <a:endParaRPr lang="en-US" sz="1100" dirty="0"/>
          </a:p>
        </p:txBody>
      </p:sp>
      <p:sp>
        <p:nvSpPr>
          <p:cNvPr id="27" name="t192"/>
          <p:cNvSpPr txBox="1"/>
          <p:nvPr/>
        </p:nvSpPr>
        <p:spPr>
          <a:xfrm>
            <a:off x="1554480" y="58338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验证集只用于选模型和调参，测试集只在最后评估一次；所有对比都在同一测试集上进行。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292608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93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194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195"/>
          <p:cNvSpPr txBox="1"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196"/>
          <p:cNvSpPr txBox="1"/>
          <p:nvPr/>
        </p:nvSpPr>
        <p:spPr>
          <a:xfrm>
            <a:off x="548640" y="24688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Q</a:t>
            </a:r>
            <a:pPr indent="0" marL="0">
              <a:buNone/>
            </a:pPr>
            <a:r>
              <a:rPr lang="en-US" sz="11000" i="1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&amp;</a:t>
            </a:r>
            <a:pPr indent="0" marL="0">
              <a:buNone/>
            </a:pPr>
            <a:r>
              <a:rPr lang="en-US" sz="11000" dirty="0">
                <a:solidFill>
                  <a:schemeClr val="bg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A</a:t>
            </a:r>
            <a:endParaRPr lang="en-US" sz="11000" dirty="0"/>
          </a:p>
        </p:txBody>
      </p:sp>
      <p:sp>
        <p:nvSpPr>
          <p:cNvPr id="6" name="t197"/>
          <p:cNvSpPr txBox="1"/>
          <p:nvPr/>
        </p:nvSpPr>
        <p:spPr>
          <a:xfrm>
            <a:off x="548640" y="4114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从“追踪宠物在哪”，走向“理解它在做什么、和人怎样互动”。</a:t>
            </a:r>
            <a:endParaRPr lang="en-US" sz="1600" dirty="0"/>
          </a:p>
        </p:txBody>
      </p:sp>
      <p:sp>
        <p:nvSpPr>
          <p:cNvPr id="7" name="l198"/>
          <p:cNvSpPr/>
          <p:nvPr/>
        </p:nvSpPr>
        <p:spPr>
          <a:xfrm>
            <a:off x="548640" y="5989320"/>
            <a:ext cx="499856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8" name="t199"/>
          <p:cNvSpPr txBox="1"/>
          <p:nvPr/>
        </p:nvSpPr>
        <p:spPr>
          <a:xfrm>
            <a:off x="54864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28 · ZHAO JIAYI · SUN WENJING</a:t>
            </a:r>
            <a:endParaRPr lang="en-US" sz="1000" dirty="0"/>
          </a:p>
        </p:txBody>
      </p:sp>
      <p:sp>
        <p:nvSpPr>
          <p:cNvPr id="9" name="t200"/>
          <p:cNvSpPr txBox="1"/>
          <p:nvPr/>
        </p:nvSpPr>
        <p:spPr>
          <a:xfrm>
            <a:off x="6644488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10" name="l201"/>
          <p:cNvSpPr/>
          <p:nvPr/>
        </p:nvSpPr>
        <p:spPr>
          <a:xfrm>
            <a:off x="6644488" y="1737360"/>
            <a:ext cx="49985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202"/>
          <p:cNvSpPr txBox="1"/>
          <p:nvPr/>
        </p:nvSpPr>
        <p:spPr>
          <a:xfrm>
            <a:off x="6644488" y="19019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203"/>
          <p:cNvSpPr txBox="1"/>
          <p:nvPr/>
        </p:nvSpPr>
        <p:spPr>
          <a:xfrm>
            <a:off x="7604608" y="192024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骨架是统一中间表示</a:t>
            </a:r>
            <a:endParaRPr lang="en-US" sz="2000" dirty="0"/>
          </a:p>
        </p:txBody>
      </p:sp>
      <p:sp>
        <p:nvSpPr>
          <p:cNvPr id="13" name="t204"/>
          <p:cNvSpPr txBox="1"/>
          <p:nvPr/>
        </p:nvSpPr>
        <p:spPr>
          <a:xfrm>
            <a:off x="7604608" y="2359152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姿态估计负责“看见关节”，ST-GCN 负责“理解时序”。</a:t>
            </a:r>
            <a:endParaRPr lang="en-US" sz="1300" dirty="0"/>
          </a:p>
        </p:txBody>
      </p:sp>
      <p:sp>
        <p:nvSpPr>
          <p:cNvPr id="14" name="l205"/>
          <p:cNvSpPr/>
          <p:nvPr/>
        </p:nvSpPr>
        <p:spPr>
          <a:xfrm>
            <a:off x="6644488" y="2971800"/>
            <a:ext cx="49985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t206"/>
          <p:cNvSpPr txBox="1"/>
          <p:nvPr/>
        </p:nvSpPr>
        <p:spPr>
          <a:xfrm>
            <a:off x="6644488" y="313639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207"/>
          <p:cNvSpPr txBox="1"/>
          <p:nvPr/>
        </p:nvSpPr>
        <p:spPr>
          <a:xfrm>
            <a:off x="7604608" y="315468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每一步都可以验证</a:t>
            </a:r>
            <a:endParaRPr lang="en-US" sz="2000" dirty="0"/>
          </a:p>
        </p:txBody>
      </p:sp>
      <p:sp>
        <p:nvSpPr>
          <p:cNvPr id="17" name="t208"/>
          <p:cNvSpPr txBox="1"/>
          <p:nvPr/>
        </p:nvSpPr>
        <p:spPr>
          <a:xfrm>
            <a:off x="7604608" y="3593592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P0 → P1 → P2 和消融实验，逐项回答“有没有用”。</a:t>
            </a:r>
            <a:endParaRPr lang="en-US" sz="1300" dirty="0"/>
          </a:p>
        </p:txBody>
      </p:sp>
      <p:sp>
        <p:nvSpPr>
          <p:cNvPr id="18" name="l209"/>
          <p:cNvSpPr/>
          <p:nvPr/>
        </p:nvSpPr>
        <p:spPr>
          <a:xfrm>
            <a:off x="6644488" y="4206240"/>
            <a:ext cx="499856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t210"/>
          <p:cNvSpPr txBox="1"/>
          <p:nvPr/>
        </p:nvSpPr>
        <p:spPr>
          <a:xfrm>
            <a:off x="6644488" y="437083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211"/>
          <p:cNvSpPr txBox="1"/>
          <p:nvPr/>
        </p:nvSpPr>
        <p:spPr>
          <a:xfrm>
            <a:off x="7604608" y="438912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数据划分防泄漏</a:t>
            </a:r>
            <a:endParaRPr lang="en-US" sz="2000" dirty="0"/>
          </a:p>
        </p:txBody>
      </p:sp>
      <p:sp>
        <p:nvSpPr>
          <p:cNvPr id="21" name="t212"/>
          <p:cNvSpPr txBox="1"/>
          <p:nvPr/>
        </p:nvSpPr>
        <p:spPr>
          <a:xfrm>
            <a:off x="7604608" y="4828032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按狗和完整视频分组，测试的是没见过的狗和场景。</a:t>
            </a:r>
            <a:endParaRPr lang="en-US" sz="1300" dirty="0"/>
          </a:p>
        </p:txBody>
      </p:sp>
      <p:sp>
        <p:nvSpPr>
          <p:cNvPr id="22" name="l213"/>
          <p:cNvSpPr/>
          <p:nvPr/>
        </p:nvSpPr>
        <p:spPr>
          <a:xfrm>
            <a:off x="6644488" y="5440680"/>
            <a:ext cx="49985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3" name="t214"/>
          <p:cNvSpPr txBox="1"/>
          <p:nvPr/>
        </p:nvSpPr>
        <p:spPr>
          <a:xfrm>
            <a:off x="6644488" y="612648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欢迎提问 · 5 MIN Q&amp;A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 IKB">
  <a:themeElements>
    <a:clrScheme name="Swiss IKB">
      <a:dk1>
        <a:srgbClr val="0A0A0A"/>
      </a:dk1>
      <a:lt1>
        <a:srgbClr val="FFFFFF"/>
      </a:lt1>
      <a:dk2>
        <a:srgbClr val="525252"/>
      </a:dk2>
      <a:lt2>
        <a:srgbClr val="F0F0EE"/>
      </a:lt2>
      <a:accent1>
        <a:srgbClr val="002FA7"/>
      </a:accent1>
      <a:accent2>
        <a:srgbClr val="5B7BFF"/>
      </a:accent2>
      <a:accent3>
        <a:srgbClr val="737373"/>
      </a:accent3>
      <a:accent4>
        <a:srgbClr val="D4D4D2"/>
      </a:accent4>
      <a:accent5>
        <a:srgbClr val="E0E0E0"/>
      </a:accent5>
      <a:accent6>
        <a:srgbClr val="FAFAF8"/>
      </a:accent6>
      <a:hlink>
        <a:srgbClr val="002FA7"/>
      </a:hlink>
      <a:folHlink>
        <a:srgbClr val="5B7BFF"/>
      </a:folHlink>
    </a:clrScheme>
    <a:fontScheme name="Swiss IKB">
      <a:majorFont>
        <a:latin typeface="Microsoft YaHe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室内狗行为与人宠互动识别 · Project Proposal</dc:title>
  <dc:subject>PptxGenJS Presentation</dc:subject>
  <dc:creator>Group 28 · Zhao Jiayi · Sun Wenjing</dc:creator>
  <cp:lastModifiedBy>Group 28 · Zhao Jiayi · Sun Wenjing</cp:lastModifiedBy>
  <cp:revision>1</cp:revision>
  <dcterms:created xsi:type="dcterms:W3CDTF">2026-10-04T10:20:01Z</dcterms:created>
  <dcterms:modified xsi:type="dcterms:W3CDTF">2026-10-04T10:20:01Z</dcterms:modified>
</cp:coreProperties>
</file>