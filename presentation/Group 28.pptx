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3E3084DA-C26D-D345-9F27-87E6C6303F85}">
          <p14:sldIdLst>
            <p14:sldId id="256"/>
          </p14:sldIdLst>
        </p14:section>
        <p14:section name="背景与目标" id="{D2C9CF9F-FAE0-8238-13FF-9B7F25BA81D6}">
          <p14:sldIdLst>
            <p14:sldId id="257"/>
            <p14:sldId id="258"/>
          </p14:sldIdLst>
        </p14:section>
        <p14:section name="系统与数据" id="{3FDDE850-63C5-9857-2B8A-433D4738E1EB}">
          <p14:sldIdLst>
            <p14:sldId id="259"/>
            <p14:sldId id="260"/>
            <p14:sldId id="261"/>
          </p14:sldIdLst>
        </p14:section>
        <p14:section name="模型设计" id="{D47C6EDA-829B-761F-059D-C86DA519A53A}">
          <p14:sldIdLst>
            <p14:sldId id="262"/>
            <p14:sldId id="263"/>
            <p14:sldId id="264"/>
            <p14:sldId id="265"/>
          </p14:sldIdLst>
        </p14:section>
        <p14:section name="评估与总结" id="{CA7BA3D6-BEE0-DBFA-1C06-AFEFA575C078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D0BB"/>
    <a:srgbClr val="EEE9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1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2291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10972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292608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10972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292608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07008"/>
            <a:ext cx="329184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292608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07008"/>
            <a:ext cx="329184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292608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292608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2"/>
          <p:cNvSpPr txBox="1"/>
          <p:nvPr/>
        </p:nvSpPr>
        <p:spPr>
          <a:xfrm>
            <a:off x="7985455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GROUP 28</a:t>
            </a:r>
            <a:endParaRPr lang="en-US" sz="1000" dirty="0"/>
          </a:p>
        </p:txBody>
      </p:sp>
      <p:sp>
        <p:nvSpPr>
          <p:cNvPr id="4" name="t3"/>
          <p:cNvSpPr txBox="1"/>
          <p:nvPr/>
        </p:nvSpPr>
        <p:spPr>
          <a:xfrm>
            <a:off x="548640" y="295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PRS PRACTICE MODULE · PROJECT PROPOSAL</a:t>
            </a:r>
            <a:endParaRPr lang="en-US" sz="1100" dirty="0"/>
          </a:p>
        </p:txBody>
      </p:sp>
      <p:sp>
        <p:nvSpPr>
          <p:cNvPr id="5" name="t4"/>
          <p:cNvSpPr txBox="1"/>
          <p:nvPr/>
        </p:nvSpPr>
        <p:spPr>
          <a:xfrm>
            <a:off x="548640" y="1724960"/>
            <a:ext cx="60260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dirty="0"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Indoor Dog Behavior &amp;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dirty="0"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Human–Dog Interaction</a:t>
            </a:r>
            <a:endParaRPr lang="en-US" sz="4000" dirty="0"/>
          </a:p>
        </p:txBody>
      </p:sp>
      <p:sp>
        <p:nvSpPr>
          <p:cNvPr id="6" name="l5"/>
          <p:cNvSpPr/>
          <p:nvPr/>
        </p:nvSpPr>
        <p:spPr>
          <a:xfrm>
            <a:off x="548640" y="5257800"/>
            <a:ext cx="11094415" cy="0"/>
          </a:xfrm>
          <a:prstGeom prst="line">
            <a:avLst/>
          </a:prstGeom>
          <a:noFill/>
          <a:ln w="9525">
            <a:solidFill>
              <a:srgbClr val="DBD0B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6"/>
          <p:cNvSpPr txBox="1"/>
          <p:nvPr/>
        </p:nvSpPr>
        <p:spPr>
          <a:xfrm>
            <a:off x="548640" y="54406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/>
              <a:t>Recognition via dual-species RTMPose skeletons + ST-GCN temporal modeling</a:t>
            </a:r>
          </a:p>
        </p:txBody>
      </p:sp>
      <p:sp>
        <p:nvSpPr>
          <p:cNvPr id="8" name="t7"/>
          <p:cNvSpPr txBox="1"/>
          <p:nvPr/>
        </p:nvSpPr>
        <p:spPr>
          <a:xfrm>
            <a:off x="54864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ZHAO JIAYI · SUN WENJING · GROUP 28</a:t>
            </a:r>
            <a:endParaRPr lang="en-US" sz="11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79BFB0F-8E73-857D-89E1-4D883C6BE1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552" t="10834" r="14272" b="11333"/>
          <a:stretch>
            <a:fillRect/>
          </a:stretch>
        </p:blipFill>
        <p:spPr>
          <a:xfrm>
            <a:off x="6366013" y="749806"/>
            <a:ext cx="5153439" cy="43224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8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BACKGROUND</a:t>
            </a:r>
            <a:endParaRPr lang="en-US" sz="1000" dirty="0"/>
          </a:p>
        </p:txBody>
      </p:sp>
      <p:sp>
        <p:nvSpPr>
          <p:cNvPr id="3" name="t9"/>
          <p:cNvSpPr txBox="1"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PROJECT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Pet Cameras See, but Don't Understand</a:t>
            </a:r>
            <a:endParaRPr lang="en-US" sz="4400" dirty="0"/>
          </a:p>
        </p:txBody>
      </p:sp>
      <p:sp>
        <p:nvSpPr>
          <p:cNvPr id="5" name="l10"/>
          <p:cNvSpPr/>
          <p:nvPr/>
        </p:nvSpPr>
        <p:spPr>
          <a:xfrm>
            <a:off x="548640" y="25146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11"/>
          <p:cNvSpPr txBox="1"/>
          <p:nvPr/>
        </p:nvSpPr>
        <p:spPr>
          <a:xfrm>
            <a:off x="548640" y="26974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 · 2024</a:t>
            </a:r>
            <a:endParaRPr lang="en-US" sz="1100" dirty="0"/>
          </a:p>
        </p:txBody>
      </p:sp>
      <p:sp>
        <p:nvSpPr>
          <p:cNvPr id="7" name="t12"/>
          <p:cNvSpPr txBox="1"/>
          <p:nvPr/>
        </p:nvSpPr>
        <p:spPr>
          <a:xfrm>
            <a:off x="548640" y="30175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Pet cameras go mainstream</a:t>
            </a:r>
            <a:endParaRPr lang="en-US" sz="1800" dirty="0"/>
          </a:p>
        </p:txBody>
      </p:sp>
      <p:sp>
        <p:nvSpPr>
          <p:cNvPr id="8" name="t13"/>
          <p:cNvSpPr txBox="1"/>
          <p:nvPr/>
        </p:nvSpPr>
        <p:spPr>
          <a:xfrm>
            <a:off x="548640" y="347472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Owners treat dogs as family and want to know they are safe and well while away.</a:t>
            </a:r>
            <a:endParaRPr lang="en-US" sz="1400" dirty="0"/>
          </a:p>
        </p:txBody>
      </p:sp>
      <p:sp>
        <p:nvSpPr>
          <p:cNvPr id="9" name="t14"/>
          <p:cNvSpPr txBox="1"/>
          <p:nvPr/>
        </p:nvSpPr>
        <p:spPr>
          <a:xfrm>
            <a:off x="548640" y="470916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4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$198M</a:t>
            </a:r>
            <a:endParaRPr lang="en-US" sz="5400" dirty="0"/>
          </a:p>
        </p:txBody>
      </p:sp>
      <p:sp>
        <p:nvSpPr>
          <p:cNvPr id="10" name="t15"/>
          <p:cNvSpPr txBox="1"/>
          <p:nvPr/>
        </p:nvSpPr>
        <p:spPr>
          <a:xfrm>
            <a:off x="548640" y="5623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Global market size, 2024</a:t>
            </a:r>
            <a:endParaRPr lang="en-US" sz="1200" dirty="0"/>
          </a:p>
        </p:txBody>
      </p:sp>
      <p:sp>
        <p:nvSpPr>
          <p:cNvPr id="11" name="l16"/>
          <p:cNvSpPr/>
          <p:nvPr/>
        </p:nvSpPr>
        <p:spPr>
          <a:xfrm>
            <a:off x="4343400" y="25146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17"/>
          <p:cNvSpPr txBox="1"/>
          <p:nvPr/>
        </p:nvSpPr>
        <p:spPr>
          <a:xfrm>
            <a:off x="4343400" y="26974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GROWTH · 2024–2030</a:t>
            </a:r>
            <a:endParaRPr lang="en-US" sz="1100" dirty="0"/>
          </a:p>
        </p:txBody>
      </p:sp>
      <p:sp>
        <p:nvSpPr>
          <p:cNvPr id="13" name="t18"/>
          <p:cNvSpPr txBox="1"/>
          <p:nvPr/>
        </p:nvSpPr>
        <p:spPr>
          <a:xfrm>
            <a:off x="4343400" y="30175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Demand keeps growing</a:t>
            </a:r>
            <a:endParaRPr lang="en-US" sz="1800" dirty="0"/>
          </a:p>
        </p:txBody>
      </p:sp>
      <p:sp>
        <p:nvSpPr>
          <p:cNvPr id="14" name="t19"/>
          <p:cNvSpPr txBox="1"/>
          <p:nvPr/>
        </p:nvSpPr>
        <p:spPr>
          <a:xfrm>
            <a:off x="4343400" y="347472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Expected to reach ~$454M by 2030, driven by owners treating pets as family.</a:t>
            </a:r>
            <a:endParaRPr lang="en-US" sz="1400" dirty="0"/>
          </a:p>
        </p:txBody>
      </p:sp>
      <p:sp>
        <p:nvSpPr>
          <p:cNvPr id="15" name="t20"/>
          <p:cNvSpPr txBox="1"/>
          <p:nvPr/>
        </p:nvSpPr>
        <p:spPr>
          <a:xfrm>
            <a:off x="4343400" y="470916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4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12.6%</a:t>
            </a:r>
            <a:endParaRPr lang="en-US" sz="5400" dirty="0"/>
          </a:p>
        </p:txBody>
      </p:sp>
      <p:sp>
        <p:nvSpPr>
          <p:cNvPr id="16" name="t21"/>
          <p:cNvSpPr txBox="1"/>
          <p:nvPr/>
        </p:nvSpPr>
        <p:spPr>
          <a:xfrm>
            <a:off x="4343400" y="5623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Compound annual growth rate</a:t>
            </a:r>
            <a:endParaRPr lang="en-US" sz="1200" dirty="0"/>
          </a:p>
        </p:txBody>
      </p:sp>
      <p:sp>
        <p:nvSpPr>
          <p:cNvPr id="17" name="l22"/>
          <p:cNvSpPr/>
          <p:nvPr/>
        </p:nvSpPr>
        <p:spPr>
          <a:xfrm>
            <a:off x="8138160" y="2514600"/>
            <a:ext cx="34290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23"/>
          <p:cNvSpPr txBox="1"/>
          <p:nvPr/>
        </p:nvSpPr>
        <p:spPr>
          <a:xfrm>
            <a:off x="8138160" y="26974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</a:t>
            </a:r>
            <a:endParaRPr lang="en-US" sz="1100" dirty="0"/>
          </a:p>
        </p:txBody>
      </p:sp>
      <p:sp>
        <p:nvSpPr>
          <p:cNvPr id="19" name="t24"/>
          <p:cNvSpPr txBox="1"/>
          <p:nvPr/>
        </p:nvSpPr>
        <p:spPr>
          <a:xfrm>
            <a:off x="8138160" y="30175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Today's products only "see"</a:t>
            </a:r>
            <a:endParaRPr lang="en-US" sz="1800" dirty="0"/>
          </a:p>
        </p:txBody>
      </p:sp>
      <p:sp>
        <p:nvSpPr>
          <p:cNvPr id="20" name="t25"/>
          <p:cNvSpPr txBox="1"/>
          <p:nvPr/>
        </p:nvSpPr>
        <p:spPr>
          <a:xfrm>
            <a:off x="8138160" y="347472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Detect, track, push alerts. Did the dog eat? Did anyone play with it? Owners still scrub the footage.</a:t>
            </a:r>
            <a:endParaRPr lang="en-US" sz="1400" dirty="0"/>
          </a:p>
        </p:txBody>
      </p:sp>
      <p:sp>
        <p:nvSpPr>
          <p:cNvPr id="21" name="t26"/>
          <p:cNvSpPr txBox="1"/>
          <p:nvPr/>
        </p:nvSpPr>
        <p:spPr>
          <a:xfrm>
            <a:off x="8138160" y="47091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800" dirty="0">
                <a:solidFill>
                  <a:schemeClr val="accent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Understand</a:t>
            </a:r>
            <a:endParaRPr lang="en-US" sz="5400" dirty="0"/>
          </a:p>
        </p:txBody>
      </p:sp>
      <p:sp>
        <p:nvSpPr>
          <p:cNvPr id="22" name="t27"/>
          <p:cNvSpPr txBox="1"/>
          <p:nvPr/>
        </p:nvSpPr>
        <p:spPr>
          <a:xfrm>
            <a:off x="8138160" y="5623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The step this project adds</a:t>
            </a:r>
            <a:endParaRPr lang="en-US" sz="1200" dirty="0"/>
          </a:p>
        </p:txBody>
      </p:sp>
      <p:sp>
        <p:nvSpPr>
          <p:cNvPr id="23" name="t28"/>
          <p:cNvSpPr txBox="1"/>
          <p:nvPr/>
        </p:nvSpPr>
        <p:spPr>
          <a:xfrm>
            <a:off x="548640" y="6263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Grand View Research, Pet Monitoring Camera Market Report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292608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9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OBJECTIVES</a:t>
            </a:r>
            <a:endParaRPr lang="en-US" sz="1000" dirty="0"/>
          </a:p>
        </p:txBody>
      </p:sp>
      <p:sp>
        <p:nvSpPr>
          <p:cNvPr id="3" name="t30"/>
          <p:cNvSpPr txBox="1"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 · A WORKING VIDEO-ANALYSIS PROTOTYPE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Make the Camera Understand the Dog</a:t>
            </a:r>
            <a:endParaRPr lang="en-US" sz="4400" dirty="0"/>
          </a:p>
        </p:txBody>
      </p:sp>
      <p:sp>
        <p:nvSpPr>
          <p:cNvPr id="5" name="t31"/>
          <p:cNvSpPr txBox="1"/>
          <p:nvPr/>
        </p:nvSpPr>
        <p:spPr>
          <a:xfrm>
            <a:off x="54864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Upload an indoor video → get dog behavior, interaction type, confidence and a timeline.</a:t>
            </a:r>
            <a:endParaRPr lang="en-US" sz="1600" dirty="0"/>
          </a:p>
        </p:txBody>
      </p:sp>
      <p:sp>
        <p:nvSpPr>
          <p:cNvPr id="8" name="t34"/>
          <p:cNvSpPr txBox="1"/>
          <p:nvPr/>
        </p:nvSpPr>
        <p:spPr>
          <a:xfrm>
            <a:off x="548640" y="2880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A</a:t>
            </a:r>
            <a:endParaRPr lang="en-US" sz="1100" dirty="0"/>
          </a:p>
        </p:txBody>
      </p:sp>
      <p:sp>
        <p:nvSpPr>
          <p:cNvPr id="9" name="t35"/>
          <p:cNvSpPr txBox="1"/>
          <p:nvPr/>
        </p:nvSpPr>
        <p:spPr>
          <a:xfrm>
            <a:off x="548640" y="32461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Dog Behavior Recognition</a:t>
            </a:r>
            <a:endParaRPr lang="en-US" sz="3600" dirty="0"/>
          </a:p>
        </p:txBody>
      </p:sp>
      <p:sp>
        <p:nvSpPr>
          <p:cNvPr id="10" name="t36"/>
          <p:cNvSpPr txBox="1"/>
          <p:nvPr/>
        </p:nvSpPr>
        <p:spPr>
          <a:xfrm>
            <a:off x="548640" y="3977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Dog only: infer what it is doing from how its skeleton moves over time.</a:t>
            </a:r>
            <a:endParaRPr lang="en-US" sz="1400" dirty="0"/>
          </a:p>
        </p:txBody>
      </p:sp>
      <p:sp>
        <p:nvSpPr>
          <p:cNvPr id="11" name="l37"/>
          <p:cNvSpPr/>
          <p:nvPr/>
        </p:nvSpPr>
        <p:spPr>
          <a:xfrm>
            <a:off x="548640" y="4526280"/>
            <a:ext cx="51206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38"/>
          <p:cNvSpPr txBox="1"/>
          <p:nvPr/>
        </p:nvSpPr>
        <p:spPr>
          <a:xfrm>
            <a:off x="548640" y="466344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Input: dog skeleton sequence T × 17 × 3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Model: ST-GCN (LSTM baseline)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8 classes: stand</a:t>
            </a:r>
            <a:r>
              <a:rPr lang="en-US" altLang="zh-CN" sz="1500" dirty="0"/>
              <a:t> · </a:t>
            </a:r>
            <a:r>
              <a:rPr lang="en-US" sz="1500" dirty="0">
                <a:solidFill>
                  <a:schemeClr val="tx1"/>
                </a:solidFill>
              </a:rPr>
              <a:t>walk · run</a:t>
            </a:r>
            <a:r>
              <a:rPr lang="en-US" altLang="zh-CN" sz="1500" dirty="0"/>
              <a:t> · </a:t>
            </a:r>
            <a:r>
              <a:rPr lang="en-US" sz="1500" dirty="0">
                <a:solidFill>
                  <a:schemeClr val="tx1"/>
                </a:solidFill>
              </a:rPr>
              <a:t>sit · lie/sleep · eat/drink · play · other</a:t>
            </a:r>
            <a:endParaRPr lang="en-US" sz="1500" dirty="0"/>
          </a:p>
        </p:txBody>
      </p:sp>
      <p:sp>
        <p:nvSpPr>
          <p:cNvPr id="13" name="vrule"/>
          <p:cNvSpPr/>
          <p:nvPr/>
        </p:nvSpPr>
        <p:spPr>
          <a:xfrm>
            <a:off x="6095848" y="2880360"/>
            <a:ext cx="0" cy="301752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41"/>
          <p:cNvSpPr txBox="1"/>
          <p:nvPr/>
        </p:nvSpPr>
        <p:spPr>
          <a:xfrm>
            <a:off x="6553048" y="2880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B</a:t>
            </a:r>
            <a:endParaRPr lang="en-US" sz="1100" dirty="0"/>
          </a:p>
        </p:txBody>
      </p:sp>
      <p:sp>
        <p:nvSpPr>
          <p:cNvPr id="17" name="t42"/>
          <p:cNvSpPr txBox="1"/>
          <p:nvPr/>
        </p:nvSpPr>
        <p:spPr>
          <a:xfrm>
            <a:off x="6553048" y="32461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chemeClr val="accent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Human–Dog Interaction</a:t>
            </a:r>
            <a:endParaRPr lang="en-US" sz="3600" dirty="0"/>
          </a:p>
        </p:txBody>
      </p:sp>
      <p:sp>
        <p:nvSpPr>
          <p:cNvPr id="18" name="t43"/>
          <p:cNvSpPr txBox="1"/>
          <p:nvPr/>
        </p:nvSpPr>
        <p:spPr>
          <a:xfrm>
            <a:off x="6553048" y="3977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Human and dog together: motion + human–dog relation + sound.</a:t>
            </a:r>
            <a:endParaRPr lang="en-US" sz="1400" dirty="0"/>
          </a:p>
        </p:txBody>
      </p:sp>
      <p:sp>
        <p:nvSpPr>
          <p:cNvPr id="19" name="l44"/>
          <p:cNvSpPr/>
          <p:nvPr/>
        </p:nvSpPr>
        <p:spPr>
          <a:xfrm>
            <a:off x="6553048" y="4526280"/>
            <a:ext cx="51206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45"/>
          <p:cNvSpPr txBox="1"/>
          <p:nvPr/>
        </p:nvSpPr>
        <p:spPr>
          <a:xfrm>
            <a:off x="6553048" y="466344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Input: human + dog skeletons + relation features (optional audio)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Model: dual-stream ST-GCN, late fusion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4 classes: none · feeding · petting · playing together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292608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46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SYSTEM &amp; DATA</a:t>
            </a:r>
            <a:endParaRPr lang="en-US" sz="1000" dirty="0"/>
          </a:p>
        </p:txBody>
      </p:sp>
      <p:sp>
        <p:nvSpPr>
          <p:cNvPr id="3" name="t47"/>
          <p:cNvSpPr txBox="1"/>
          <p:nvPr/>
        </p:nvSpPr>
        <p:spPr>
          <a:xfrm>
            <a:off x="54864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OVERVIEW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0700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l48"/>
          <p:cNvSpPr/>
          <p:nvPr/>
        </p:nvSpPr>
        <p:spPr>
          <a:xfrm>
            <a:off x="548640" y="2240280"/>
            <a:ext cx="3291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49"/>
          <p:cNvSpPr txBox="1"/>
          <p:nvPr/>
        </p:nvSpPr>
        <p:spPr>
          <a:xfrm>
            <a:off x="548640" y="23317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Offline: dog pose AP-10K → APT-36K dogs → indoor data; human pose COCO-17</a:t>
            </a:r>
            <a:endParaRPr lang="en-US" sz="140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Online in 6 steps: video → detect/track → pose → skeleton graph → recognition → output</a:t>
            </a:r>
            <a:endParaRPr lang="en-US" sz="140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Tracking: RTMDet / YOLO + ByteTrack / BoT-SORT</a:t>
            </a:r>
            <a:endParaRPr lang="en-US" sz="1400" dirty="0"/>
          </a:p>
        </p:txBody>
      </p:sp>
      <p:pic>
        <p:nvPicPr>
          <p:cNvPr id="7" name="diagram-system-overview" descr="04-overall-en"/>
          <p:cNvPicPr>
            <a:picLocks noChangeAspect="1"/>
          </p:cNvPicPr>
          <p:nvPr/>
        </p:nvPicPr>
        <p:blipFill>
          <a:blip r:embed="rId3"/>
          <a:srcRect l="1970" t="1222" r="2219" b="7657"/>
          <a:stretch>
            <a:fillRect/>
          </a:stretch>
        </p:blipFill>
        <p:spPr>
          <a:xfrm>
            <a:off x="3879657" y="585216"/>
            <a:ext cx="7821681" cy="4184347"/>
          </a:xfrm>
          <a:prstGeom prst="rect">
            <a:avLst/>
          </a:prstGeom>
        </p:spPr>
      </p:pic>
      <p:sp>
        <p:nvSpPr>
          <p:cNvPr id="8" name="t50"/>
          <p:cNvSpPr txBox="1"/>
          <p:nvPr/>
        </p:nvSpPr>
        <p:spPr>
          <a:xfrm>
            <a:off x="548640" y="51206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Dual-species skeletons are the shared representation: pose estimation sees the joints, ST-GCN understands the motion.</a:t>
            </a:r>
            <a:endParaRPr lang="en-US" sz="1500" dirty="0"/>
          </a:p>
        </p:txBody>
      </p:sp>
      <p:sp>
        <p:nvSpPr>
          <p:cNvPr id="9" name="l51"/>
          <p:cNvSpPr/>
          <p:nvPr/>
        </p:nvSpPr>
        <p:spPr>
          <a:xfrm>
            <a:off x="5074920" y="5120640"/>
            <a:ext cx="2011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52"/>
          <p:cNvSpPr txBox="1"/>
          <p:nvPr/>
        </p:nvSpPr>
        <p:spPr>
          <a:xfrm>
            <a:off x="507492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INFERENCE</a:t>
            </a:r>
            <a:endParaRPr lang="en-US" sz="1000" dirty="0"/>
          </a:p>
        </p:txBody>
      </p:sp>
      <p:sp>
        <p:nvSpPr>
          <p:cNvPr id="11" name="t53"/>
          <p:cNvSpPr txBox="1"/>
          <p:nvPr/>
        </p:nvSpPr>
        <p:spPr>
          <a:xfrm>
            <a:off x="507492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6</a:t>
            </a:r>
            <a:endParaRPr lang="en-US" sz="3200" dirty="0"/>
          </a:p>
        </p:txBody>
      </p:sp>
      <p:sp>
        <p:nvSpPr>
          <p:cNvPr id="12" name="t54"/>
          <p:cNvSpPr txBox="1"/>
          <p:nvPr/>
        </p:nvSpPr>
        <p:spPr>
          <a:xfrm>
            <a:off x="507492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Video in, JSON + timeline out</a:t>
            </a:r>
            <a:endParaRPr lang="en-US" sz="1100" dirty="0"/>
          </a:p>
        </p:txBody>
      </p:sp>
      <p:sp>
        <p:nvSpPr>
          <p:cNvPr id="13" name="l55"/>
          <p:cNvSpPr/>
          <p:nvPr/>
        </p:nvSpPr>
        <p:spPr>
          <a:xfrm>
            <a:off x="7315200" y="5120640"/>
            <a:ext cx="2011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56"/>
          <p:cNvSpPr txBox="1"/>
          <p:nvPr/>
        </p:nvSpPr>
        <p:spPr>
          <a:xfrm>
            <a:off x="731520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</a:t>
            </a:r>
            <a:endParaRPr lang="en-US" sz="1000" dirty="0"/>
          </a:p>
        </p:txBody>
      </p:sp>
      <p:sp>
        <p:nvSpPr>
          <p:cNvPr id="15" name="t57"/>
          <p:cNvSpPr txBox="1"/>
          <p:nvPr/>
        </p:nvSpPr>
        <p:spPr>
          <a:xfrm>
            <a:off x="731520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58"/>
          <p:cNvSpPr txBox="1"/>
          <p:nvPr/>
        </p:nvSpPr>
        <p:spPr>
          <a:xfrm>
            <a:off x="731520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Task A behavior · Task B interaction</a:t>
            </a:r>
            <a:endParaRPr lang="en-US" sz="1100" dirty="0"/>
          </a:p>
        </p:txBody>
      </p:sp>
      <p:sp>
        <p:nvSpPr>
          <p:cNvPr id="17" name="l59"/>
          <p:cNvSpPr/>
          <p:nvPr/>
        </p:nvSpPr>
        <p:spPr>
          <a:xfrm>
            <a:off x="9555480" y="5120640"/>
            <a:ext cx="2011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60"/>
          <p:cNvSpPr txBox="1"/>
          <p:nvPr/>
        </p:nvSpPr>
        <p:spPr>
          <a:xfrm>
            <a:off x="955548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</a:t>
            </a:r>
            <a:endParaRPr lang="en-US" sz="1000" dirty="0"/>
          </a:p>
        </p:txBody>
      </p:sp>
      <p:sp>
        <p:nvSpPr>
          <p:cNvPr id="19" name="t61"/>
          <p:cNvSpPr txBox="1"/>
          <p:nvPr/>
        </p:nvSpPr>
        <p:spPr>
          <a:xfrm>
            <a:off x="955548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accent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4</a:t>
            </a:r>
            <a:endParaRPr lang="en-US" sz="3200" dirty="0"/>
          </a:p>
        </p:txBody>
      </p:sp>
      <p:sp>
        <p:nvSpPr>
          <p:cNvPr id="20" name="t62"/>
          <p:cNvSpPr txBox="1"/>
          <p:nvPr/>
        </p:nvSpPr>
        <p:spPr>
          <a:xfrm>
            <a:off x="955548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AP / PCK · Acc / Macro-F1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292608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63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SYSTEM &amp; DATA</a:t>
            </a:r>
            <a:endParaRPr lang="en-US" sz="1000" dirty="0"/>
          </a:p>
        </p:txBody>
      </p:sp>
      <p:sp>
        <p:nvSpPr>
          <p:cNvPr id="4" name="t65"/>
          <p:cNvSpPr txBox="1"/>
          <p:nvPr/>
        </p:nvSpPr>
        <p:spPr>
          <a:xfrm>
            <a:off x="54864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PREPARATION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0700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Where the Data Comes From</a:t>
            </a:r>
            <a:endParaRPr lang="en-US" sz="2800" dirty="0"/>
          </a:p>
        </p:txBody>
      </p:sp>
      <p:sp>
        <p:nvSpPr>
          <p:cNvPr id="6" name="l66"/>
          <p:cNvSpPr/>
          <p:nvPr/>
        </p:nvSpPr>
        <p:spPr>
          <a:xfrm>
            <a:off x="548640" y="2240280"/>
            <a:ext cx="3291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67"/>
          <p:cNvSpPr txBox="1"/>
          <p:nvPr/>
        </p:nvSpPr>
        <p:spPr>
          <a:xfrm>
            <a:off x="548640" y="23317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① APT-36K: official split, dog samples only, no re-labeling</a:t>
            </a:r>
            <a:endParaRPr lang="en-US" sz="140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② Online videos: Group ID per dog + full video, split first, then sample frames and clips</a:t>
            </a:r>
            <a:endParaRPr lang="en-US" sz="140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Split first, sample later: one dog or video never spans train and test</a:t>
            </a:r>
            <a:endParaRPr lang="en-US" sz="1400" dirty="0"/>
          </a:p>
        </p:txBody>
      </p:sp>
      <p:pic>
        <p:nvPicPr>
          <p:cNvPr id="8" name="diagram-data-preparation" descr="05-data-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925" y="498347"/>
            <a:ext cx="7686675" cy="4323755"/>
          </a:xfrm>
          <a:prstGeom prst="rect">
            <a:avLst/>
          </a:prstGeom>
        </p:spPr>
      </p:pic>
      <p:sp>
        <p:nvSpPr>
          <p:cNvPr id="9" name="t68"/>
          <p:cNvSpPr txBox="1"/>
          <p:nvPr/>
        </p:nvSpPr>
        <p:spPr>
          <a:xfrm>
            <a:off x="548640" y="51206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AP-10K is RTMPose's pretraining set, so we don't train on it again; public dog pose data comes from APT-36K.</a:t>
            </a:r>
            <a:endParaRPr lang="en-US" sz="1500" dirty="0"/>
          </a:p>
        </p:txBody>
      </p:sp>
      <p:sp>
        <p:nvSpPr>
          <p:cNvPr id="10" name="l69"/>
          <p:cNvSpPr/>
          <p:nvPr/>
        </p:nvSpPr>
        <p:spPr>
          <a:xfrm>
            <a:off x="5074920" y="5120640"/>
            <a:ext cx="2011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70"/>
          <p:cNvSpPr txBox="1"/>
          <p:nvPr/>
        </p:nvSpPr>
        <p:spPr>
          <a:xfrm>
            <a:off x="507492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</a:t>
            </a:r>
            <a:endParaRPr lang="en-US" sz="1000" dirty="0"/>
          </a:p>
        </p:txBody>
      </p:sp>
      <p:sp>
        <p:nvSpPr>
          <p:cNvPr id="12" name="t71"/>
          <p:cNvSpPr txBox="1"/>
          <p:nvPr/>
        </p:nvSpPr>
        <p:spPr>
          <a:xfrm>
            <a:off x="507492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72"/>
          <p:cNvSpPr txBox="1"/>
          <p:nvPr/>
        </p:nvSpPr>
        <p:spPr>
          <a:xfrm>
            <a:off x="507492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APT-36K dogs · indoor videos</a:t>
            </a:r>
            <a:endParaRPr lang="en-US" sz="1100" dirty="0"/>
          </a:p>
        </p:txBody>
      </p:sp>
      <p:sp>
        <p:nvSpPr>
          <p:cNvPr id="14" name="l73"/>
          <p:cNvSpPr/>
          <p:nvPr/>
        </p:nvSpPr>
        <p:spPr>
          <a:xfrm>
            <a:off x="7315200" y="5120640"/>
            <a:ext cx="2011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74"/>
          <p:cNvSpPr txBox="1"/>
          <p:nvPr/>
        </p:nvSpPr>
        <p:spPr>
          <a:xfrm>
            <a:off x="731520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 LABELS</a:t>
            </a:r>
            <a:endParaRPr lang="en-US" sz="1000" dirty="0"/>
          </a:p>
        </p:txBody>
      </p:sp>
      <p:sp>
        <p:nvSpPr>
          <p:cNvPr id="16" name="t75"/>
          <p:cNvSpPr txBox="1"/>
          <p:nvPr/>
        </p:nvSpPr>
        <p:spPr>
          <a:xfrm>
            <a:off x="731520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300–800</a:t>
            </a:r>
            <a:endParaRPr lang="en-US" sz="2400" dirty="0"/>
          </a:p>
        </p:txBody>
      </p:sp>
      <p:sp>
        <p:nvSpPr>
          <p:cNvPr id="17" name="t76"/>
          <p:cNvSpPr txBox="1"/>
          <p:nvPr/>
        </p:nvSpPr>
        <p:spPr>
          <a:xfrm>
            <a:off x="731520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indoor images: dog box + 17 keypoints</a:t>
            </a:r>
            <a:endParaRPr lang="en-US" sz="1100" dirty="0"/>
          </a:p>
        </p:txBody>
      </p:sp>
      <p:sp>
        <p:nvSpPr>
          <p:cNvPr id="18" name="l77"/>
          <p:cNvSpPr/>
          <p:nvPr/>
        </p:nvSpPr>
        <p:spPr>
          <a:xfrm>
            <a:off x="9555480" y="5120640"/>
            <a:ext cx="2011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78"/>
          <p:cNvSpPr txBox="1"/>
          <p:nvPr/>
        </p:nvSpPr>
        <p:spPr>
          <a:xfrm>
            <a:off x="955548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</a:t>
            </a:r>
            <a:endParaRPr lang="en-US" sz="1000" dirty="0"/>
          </a:p>
        </p:txBody>
      </p:sp>
      <p:sp>
        <p:nvSpPr>
          <p:cNvPr id="20" name="t79"/>
          <p:cNvSpPr txBox="1"/>
          <p:nvPr/>
        </p:nvSpPr>
        <p:spPr>
          <a:xfrm>
            <a:off x="955548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accent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80"/>
          <p:cNvSpPr txBox="1"/>
          <p:nvPr/>
        </p:nvSpPr>
        <p:spPr>
          <a:xfrm>
            <a:off x="955548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Keypoints · clip labels · derived features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292608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8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SYSTEM &amp; DATA</a:t>
            </a:r>
            <a:endParaRPr lang="en-US" sz="1000" dirty="0"/>
          </a:p>
        </p:txBody>
      </p:sp>
      <p:sp>
        <p:nvSpPr>
          <p:cNvPr id="3" name="t82"/>
          <p:cNvSpPr txBox="1"/>
          <p:nvPr/>
        </p:nvSpPr>
        <p:spPr>
          <a:xfrm>
            <a:off x="54864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 POSE ADAPTATION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0700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Training Dog Pose</a:t>
            </a:r>
            <a:endParaRPr lang="en-US" sz="2800" dirty="0"/>
          </a:p>
        </p:txBody>
      </p:sp>
      <p:sp>
        <p:nvSpPr>
          <p:cNvPr id="5" name="l83"/>
          <p:cNvSpPr/>
          <p:nvPr/>
        </p:nvSpPr>
        <p:spPr>
          <a:xfrm>
            <a:off x="548640" y="2240280"/>
            <a:ext cx="3291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84"/>
          <p:cNvSpPr txBox="1"/>
          <p:nvPr/>
        </p:nvSpPr>
        <p:spPr>
          <a:xfrm>
            <a:off x="548640" y="23317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P0: official AP-10K RTMPose-M, tested as-is (baseline)</a:t>
            </a:r>
            <a:endParaRPr lang="en-US" sz="140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P1: fine-tune on the APT-36K dog subset</a:t>
            </a:r>
            <a:endParaRPr lang="en-US" sz="140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P2: keep fine-tuning on indoor data with a small learning rate</a:t>
            </a:r>
            <a:endParaRPr lang="en-US" sz="1400" dirty="0"/>
          </a:p>
        </p:txBody>
      </p:sp>
      <p:pic>
        <p:nvPicPr>
          <p:cNvPr id="7" name="diagram-dog-pose-stages" descr="06-dog-pose-stages-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8113" y="498347"/>
            <a:ext cx="7710487" cy="4337149"/>
          </a:xfrm>
          <a:prstGeom prst="rect">
            <a:avLst/>
          </a:prstGeom>
        </p:spPr>
      </p:pic>
      <p:sp>
        <p:nvSpPr>
          <p:cNvPr id="8" name="t85"/>
          <p:cNvSpPr txBox="1"/>
          <p:nvPr/>
        </p:nvSpPr>
        <p:spPr>
          <a:xfrm>
            <a:off x="548640" y="51206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One shared test set. If P1 beats P0, dog specialization helps; if P2 beats P1, indoor adaptation helps.</a:t>
            </a:r>
            <a:endParaRPr lang="en-US" sz="1500" dirty="0"/>
          </a:p>
        </p:txBody>
      </p:sp>
      <p:sp>
        <p:nvSpPr>
          <p:cNvPr id="9" name="l86"/>
          <p:cNvSpPr/>
          <p:nvPr/>
        </p:nvSpPr>
        <p:spPr>
          <a:xfrm>
            <a:off x="5074920" y="5120640"/>
            <a:ext cx="2011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87"/>
          <p:cNvSpPr txBox="1"/>
          <p:nvPr/>
        </p:nvSpPr>
        <p:spPr>
          <a:xfrm>
            <a:off x="507492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VERSIONS</a:t>
            </a:r>
            <a:endParaRPr lang="en-US" sz="1000" dirty="0"/>
          </a:p>
        </p:txBody>
      </p:sp>
      <p:sp>
        <p:nvSpPr>
          <p:cNvPr id="11" name="t88"/>
          <p:cNvSpPr txBox="1"/>
          <p:nvPr/>
        </p:nvSpPr>
        <p:spPr>
          <a:xfrm>
            <a:off x="507492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3</a:t>
            </a:r>
            <a:endParaRPr lang="en-US" sz="3200" dirty="0"/>
          </a:p>
        </p:txBody>
      </p:sp>
      <p:sp>
        <p:nvSpPr>
          <p:cNvPr id="12" name="t89"/>
          <p:cNvSpPr txBox="1"/>
          <p:nvPr/>
        </p:nvSpPr>
        <p:spPr>
          <a:xfrm>
            <a:off x="507492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P0 → P1 → P2, stage by stage</a:t>
            </a:r>
            <a:endParaRPr lang="en-US" sz="1100" dirty="0"/>
          </a:p>
        </p:txBody>
      </p:sp>
      <p:sp>
        <p:nvSpPr>
          <p:cNvPr id="13" name="l90"/>
          <p:cNvSpPr/>
          <p:nvPr/>
        </p:nvSpPr>
        <p:spPr>
          <a:xfrm>
            <a:off x="7315200" y="5120640"/>
            <a:ext cx="2011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91"/>
          <p:cNvSpPr txBox="1"/>
          <p:nvPr/>
        </p:nvSpPr>
        <p:spPr>
          <a:xfrm>
            <a:off x="731520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SET</a:t>
            </a:r>
            <a:endParaRPr lang="en-US" sz="1000" dirty="0"/>
          </a:p>
        </p:txBody>
      </p:sp>
      <p:sp>
        <p:nvSpPr>
          <p:cNvPr id="15" name="t92"/>
          <p:cNvSpPr txBox="1"/>
          <p:nvPr/>
        </p:nvSpPr>
        <p:spPr>
          <a:xfrm>
            <a:off x="731520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1</a:t>
            </a:r>
            <a:endParaRPr lang="en-US" sz="3200" dirty="0"/>
          </a:p>
        </p:txBody>
      </p:sp>
      <p:sp>
        <p:nvSpPr>
          <p:cNvPr id="16" name="t93"/>
          <p:cNvSpPr txBox="1"/>
          <p:nvPr/>
        </p:nvSpPr>
        <p:spPr>
          <a:xfrm>
            <a:off x="731520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One held-out test set for all three</a:t>
            </a:r>
            <a:endParaRPr lang="en-US" sz="1100" dirty="0"/>
          </a:p>
        </p:txBody>
      </p:sp>
      <p:sp>
        <p:nvSpPr>
          <p:cNvPr id="17" name="l94"/>
          <p:cNvSpPr/>
          <p:nvPr/>
        </p:nvSpPr>
        <p:spPr>
          <a:xfrm>
            <a:off x="9555480" y="5120640"/>
            <a:ext cx="2011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95"/>
          <p:cNvSpPr txBox="1"/>
          <p:nvPr/>
        </p:nvSpPr>
        <p:spPr>
          <a:xfrm>
            <a:off x="955548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POSE METRICS</a:t>
            </a:r>
            <a:endParaRPr lang="en-US" sz="1000" dirty="0"/>
          </a:p>
        </p:txBody>
      </p:sp>
      <p:sp>
        <p:nvSpPr>
          <p:cNvPr id="19" name="t96"/>
          <p:cNvSpPr txBox="1"/>
          <p:nvPr/>
        </p:nvSpPr>
        <p:spPr>
          <a:xfrm>
            <a:off x="955548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accent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4</a:t>
            </a:r>
            <a:endParaRPr lang="en-US" sz="3200" dirty="0"/>
          </a:p>
        </p:txBody>
      </p:sp>
      <p:sp>
        <p:nvSpPr>
          <p:cNvPr id="20" name="t97"/>
          <p:cNvSpPr txBox="1"/>
          <p:nvPr/>
        </p:nvSpPr>
        <p:spPr>
          <a:xfrm>
            <a:off x="955548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COCO AP · AP@0.5 · AP@0.75 · PCK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292608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98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MODEL DESIGN</a:t>
            </a:r>
            <a:endParaRPr lang="en-US" sz="1000" dirty="0"/>
          </a:p>
        </p:txBody>
      </p:sp>
      <p:sp>
        <p:nvSpPr>
          <p:cNvPr id="4" name="t100"/>
          <p:cNvSpPr txBox="1"/>
          <p:nvPr/>
        </p:nvSpPr>
        <p:spPr>
          <a:xfrm>
            <a:off x="54864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ONLINE STEP 03 · POSE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0700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Dual-Species Skeleton Extraction</a:t>
            </a:r>
            <a:endParaRPr lang="en-US" sz="2800" dirty="0"/>
          </a:p>
        </p:txBody>
      </p:sp>
      <p:sp>
        <p:nvSpPr>
          <p:cNvPr id="6" name="l101"/>
          <p:cNvSpPr/>
          <p:nvPr/>
        </p:nvSpPr>
        <p:spPr>
          <a:xfrm>
            <a:off x="548640" y="2240280"/>
            <a:ext cx="3291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102"/>
          <p:cNvSpPr txBox="1"/>
          <p:nvPr/>
        </p:nvSpPr>
        <p:spPr>
          <a:xfrm>
            <a:off x="548640" y="23317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Human and dog branches share one design: affine crop → CSPNeXt-M → RTMCCHead → SimCC</a:t>
            </a:r>
            <a:endParaRPr lang="en-US" sz="140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Only input size differs (human 256×192, dog 256×256); no shared weights</a:t>
            </a:r>
            <a:endParaRPr lang="en-US" sz="140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Aligned across frames by track ID, then masked, interpolated and smoothed</a:t>
            </a:r>
            <a:endParaRPr lang="en-US" sz="1400" dirty="0"/>
          </a:p>
        </p:txBody>
      </p:sp>
      <p:pic>
        <p:nvPicPr>
          <p:cNvPr id="8" name="diagram-dual-species-pose" descr="07-rtmpose-en"/>
          <p:cNvPicPr>
            <a:picLocks noChangeAspect="1"/>
          </p:cNvPicPr>
          <p:nvPr/>
        </p:nvPicPr>
        <p:blipFill>
          <a:blip r:embed="rId3"/>
          <a:srcRect b="4832"/>
          <a:stretch>
            <a:fillRect/>
          </a:stretch>
        </p:blipFill>
        <p:spPr>
          <a:xfrm>
            <a:off x="4163115" y="292607"/>
            <a:ext cx="7038286" cy="4736593"/>
          </a:xfrm>
          <a:prstGeom prst="rect">
            <a:avLst/>
          </a:prstGeom>
        </p:spPr>
      </p:pic>
      <p:sp>
        <p:nvSpPr>
          <p:cNvPr id="9" name="t103"/>
          <p:cNvSpPr txBox="1"/>
          <p:nvPr/>
        </p:nvSpPr>
        <p:spPr>
          <a:xfrm>
            <a:off x="548640" y="51206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RTMCCHead = 7×7 conv + FC + GAU; SimCC turns coordinate regression into classification.</a:t>
            </a:r>
            <a:endParaRPr lang="en-US" sz="1500" dirty="0"/>
          </a:p>
        </p:txBody>
      </p:sp>
      <p:sp>
        <p:nvSpPr>
          <p:cNvPr id="10" name="l104"/>
          <p:cNvSpPr/>
          <p:nvPr/>
        </p:nvSpPr>
        <p:spPr>
          <a:xfrm>
            <a:off x="5074920" y="5120640"/>
            <a:ext cx="2011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105"/>
          <p:cNvSpPr txBox="1"/>
          <p:nvPr/>
        </p:nvSpPr>
        <p:spPr>
          <a:xfrm>
            <a:off x="507492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BACKBONE</a:t>
            </a:r>
            <a:endParaRPr lang="en-US" sz="1000" dirty="0"/>
          </a:p>
        </p:txBody>
      </p:sp>
      <p:sp>
        <p:nvSpPr>
          <p:cNvPr id="12" name="t106"/>
          <p:cNvSpPr txBox="1"/>
          <p:nvPr/>
        </p:nvSpPr>
        <p:spPr>
          <a:xfrm>
            <a:off x="507492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768</a:t>
            </a:r>
            <a:endParaRPr lang="en-US" sz="3200" dirty="0"/>
          </a:p>
        </p:txBody>
      </p:sp>
      <p:sp>
        <p:nvSpPr>
          <p:cNvPr id="13" name="t107"/>
          <p:cNvSpPr txBox="1"/>
          <p:nvPr/>
        </p:nvSpPr>
        <p:spPr>
          <a:xfrm>
            <a:off x="507492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CSPNeXt-M output channels</a:t>
            </a:r>
            <a:endParaRPr lang="en-US" sz="1100" dirty="0"/>
          </a:p>
        </p:txBody>
      </p:sp>
      <p:sp>
        <p:nvSpPr>
          <p:cNvPr id="14" name="l108"/>
          <p:cNvSpPr/>
          <p:nvPr/>
        </p:nvSpPr>
        <p:spPr>
          <a:xfrm>
            <a:off x="7315200" y="5120640"/>
            <a:ext cx="2011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109"/>
          <p:cNvSpPr txBox="1"/>
          <p:nvPr/>
        </p:nvSpPr>
        <p:spPr>
          <a:xfrm>
            <a:off x="731520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KEYPOINTS</a:t>
            </a:r>
            <a:endParaRPr lang="en-US" sz="1000" dirty="0"/>
          </a:p>
        </p:txBody>
      </p:sp>
      <p:sp>
        <p:nvSpPr>
          <p:cNvPr id="16" name="t110"/>
          <p:cNvSpPr txBox="1"/>
          <p:nvPr/>
        </p:nvSpPr>
        <p:spPr>
          <a:xfrm>
            <a:off x="731520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17</a:t>
            </a:r>
            <a:endParaRPr lang="en-US" sz="3200" dirty="0"/>
          </a:p>
        </p:txBody>
      </p:sp>
      <p:sp>
        <p:nvSpPr>
          <p:cNvPr id="17" name="t111"/>
          <p:cNvSpPr txBox="1"/>
          <p:nvPr/>
        </p:nvSpPr>
        <p:spPr>
          <a:xfrm>
            <a:off x="731520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Human COCO · dog AP-10K</a:t>
            </a:r>
            <a:endParaRPr lang="en-US" sz="1100" dirty="0"/>
          </a:p>
        </p:txBody>
      </p:sp>
      <p:sp>
        <p:nvSpPr>
          <p:cNvPr id="18" name="l112"/>
          <p:cNvSpPr/>
          <p:nvPr/>
        </p:nvSpPr>
        <p:spPr>
          <a:xfrm>
            <a:off x="9555480" y="5120640"/>
            <a:ext cx="2011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113"/>
          <p:cNvSpPr txBox="1"/>
          <p:nvPr/>
        </p:nvSpPr>
        <p:spPr>
          <a:xfrm>
            <a:off x="955548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000" dirty="0"/>
          </a:p>
        </p:txBody>
      </p:sp>
      <p:sp>
        <p:nvSpPr>
          <p:cNvPr id="20" name="t114"/>
          <p:cNvSpPr txBox="1"/>
          <p:nvPr/>
        </p:nvSpPr>
        <p:spPr>
          <a:xfrm>
            <a:off x="955548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2×T×17×3</a:t>
            </a:r>
            <a:endParaRPr lang="en-US" sz="2400" dirty="0"/>
          </a:p>
        </p:txBody>
      </p:sp>
      <p:sp>
        <p:nvSpPr>
          <p:cNvPr id="21" name="t115"/>
          <p:cNvSpPr txBox="1"/>
          <p:nvPr/>
        </p:nvSpPr>
        <p:spPr>
          <a:xfrm>
            <a:off x="955548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2 streams · x, y, confidence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292608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16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MODEL DESIGN</a:t>
            </a:r>
            <a:endParaRPr lang="en-US" sz="1000" dirty="0"/>
          </a:p>
        </p:txBody>
      </p:sp>
      <p:sp>
        <p:nvSpPr>
          <p:cNvPr id="3" name="t117"/>
          <p:cNvSpPr txBox="1"/>
          <p:nvPr/>
        </p:nvSpPr>
        <p:spPr>
          <a:xfrm>
            <a:off x="54864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ST-GCN PRINCIPLE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0700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How Graph Convolution Works</a:t>
            </a:r>
            <a:endParaRPr lang="en-US" sz="2800" dirty="0"/>
          </a:p>
        </p:txBody>
      </p:sp>
      <p:sp>
        <p:nvSpPr>
          <p:cNvPr id="5" name="l118"/>
          <p:cNvSpPr/>
          <p:nvPr/>
        </p:nvSpPr>
        <p:spPr>
          <a:xfrm>
            <a:off x="548640" y="2240280"/>
            <a:ext cx="3291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119"/>
          <p:cNvSpPr txBox="1"/>
          <p:nvPr/>
        </p:nvSpPr>
        <p:spPr>
          <a:xfrm>
            <a:off x="548640" y="23317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Example: human right elbow and dog left elbow with their 1-hop neighbors (D = 1)</a:t>
            </a:r>
            <a:endParaRPr lang="en-US" sz="140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Uni-labeling: 1 group; distance: root / 1-hop, 2 groups</a:t>
            </a:r>
            <a:endParaRPr lang="en-US" sz="140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Spatial configuration: root, centripetal, centrifugal by distance to the center of gravity, 3 groups</a:t>
            </a:r>
            <a:endParaRPr lang="en-US" sz="1400" dirty="0"/>
          </a:p>
        </p:txBody>
      </p:sp>
      <p:pic>
        <p:nvPicPr>
          <p:cNvPr id="7" name="diagram-stgcn-partition" descr="08-partition-en"/>
          <p:cNvPicPr>
            <a:picLocks noChangeAspect="1"/>
          </p:cNvPicPr>
          <p:nvPr/>
        </p:nvPicPr>
        <p:blipFill>
          <a:blip r:embed="rId3"/>
          <a:srcRect b="5859"/>
          <a:stretch>
            <a:fillRect/>
          </a:stretch>
        </p:blipFill>
        <p:spPr>
          <a:xfrm>
            <a:off x="4071938" y="292607"/>
            <a:ext cx="7129462" cy="4746185"/>
          </a:xfrm>
          <a:prstGeom prst="rect">
            <a:avLst/>
          </a:prstGeom>
        </p:spPr>
      </p:pic>
      <p:sp>
        <p:nvSpPr>
          <p:cNvPr id="8" name="t120"/>
          <p:cNvSpPr txBox="1"/>
          <p:nvPr/>
        </p:nvSpPr>
        <p:spPr>
          <a:xfrm>
            <a:off x="548640" y="51206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Both networks use spatial configuration partitioning: one adjacency matrix per group, A₀, A₁, A₂.</a:t>
            </a:r>
            <a:endParaRPr lang="en-US" sz="1500" dirty="0"/>
          </a:p>
        </p:txBody>
      </p:sp>
      <p:sp>
        <p:nvSpPr>
          <p:cNvPr id="9" name="l121"/>
          <p:cNvSpPr/>
          <p:nvPr/>
        </p:nvSpPr>
        <p:spPr>
          <a:xfrm>
            <a:off x="5074920" y="5120640"/>
            <a:ext cx="2011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122"/>
          <p:cNvSpPr txBox="1"/>
          <p:nvPr/>
        </p:nvSpPr>
        <p:spPr>
          <a:xfrm>
            <a:off x="507492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STRATEGIES</a:t>
            </a:r>
            <a:endParaRPr lang="en-US" sz="1000" dirty="0"/>
          </a:p>
        </p:txBody>
      </p:sp>
      <p:sp>
        <p:nvSpPr>
          <p:cNvPr id="11" name="t123"/>
          <p:cNvSpPr txBox="1"/>
          <p:nvPr/>
        </p:nvSpPr>
        <p:spPr>
          <a:xfrm>
            <a:off x="507492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3</a:t>
            </a:r>
            <a:endParaRPr lang="en-US" sz="3200" dirty="0"/>
          </a:p>
        </p:txBody>
      </p:sp>
      <p:sp>
        <p:nvSpPr>
          <p:cNvPr id="12" name="t124"/>
          <p:cNvSpPr txBox="1"/>
          <p:nvPr/>
        </p:nvSpPr>
        <p:spPr>
          <a:xfrm>
            <a:off x="507492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Uni-label · distance · spatial</a:t>
            </a:r>
            <a:endParaRPr lang="en-US" sz="1100" dirty="0"/>
          </a:p>
        </p:txBody>
      </p:sp>
      <p:sp>
        <p:nvSpPr>
          <p:cNvPr id="13" name="l125"/>
          <p:cNvSpPr/>
          <p:nvPr/>
        </p:nvSpPr>
        <p:spPr>
          <a:xfrm>
            <a:off x="7315200" y="5120640"/>
            <a:ext cx="2011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126"/>
          <p:cNvSpPr txBox="1"/>
          <p:nvPr/>
        </p:nvSpPr>
        <p:spPr>
          <a:xfrm>
            <a:off x="731520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NEIGHBORHOOD</a:t>
            </a:r>
            <a:endParaRPr lang="en-US" sz="1000" dirty="0"/>
          </a:p>
        </p:txBody>
      </p:sp>
      <p:sp>
        <p:nvSpPr>
          <p:cNvPr id="15" name="t127"/>
          <p:cNvSpPr txBox="1"/>
          <p:nvPr/>
        </p:nvSpPr>
        <p:spPr>
          <a:xfrm>
            <a:off x="731520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D = 1</a:t>
            </a:r>
            <a:endParaRPr lang="en-US" sz="3200" dirty="0"/>
          </a:p>
        </p:txBody>
      </p:sp>
      <p:sp>
        <p:nvSpPr>
          <p:cNvPr id="16" name="t128"/>
          <p:cNvSpPr txBox="1"/>
          <p:nvPr/>
        </p:nvSpPr>
        <p:spPr>
          <a:xfrm>
            <a:off x="731520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Root node and 1-hop neighbors</a:t>
            </a:r>
            <a:endParaRPr lang="en-US" sz="1100" dirty="0"/>
          </a:p>
        </p:txBody>
      </p:sp>
      <p:sp>
        <p:nvSpPr>
          <p:cNvPr id="17" name="l129"/>
          <p:cNvSpPr/>
          <p:nvPr/>
        </p:nvSpPr>
        <p:spPr>
          <a:xfrm>
            <a:off x="9555480" y="5120640"/>
            <a:ext cx="2011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130"/>
          <p:cNvSpPr txBox="1"/>
          <p:nvPr/>
        </p:nvSpPr>
        <p:spPr>
          <a:xfrm>
            <a:off x="955548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ADJACENCY</a:t>
            </a:r>
            <a:endParaRPr lang="en-US" sz="1000" dirty="0"/>
          </a:p>
        </p:txBody>
      </p:sp>
      <p:sp>
        <p:nvSpPr>
          <p:cNvPr id="19" name="t131"/>
          <p:cNvSpPr txBox="1"/>
          <p:nvPr/>
        </p:nvSpPr>
        <p:spPr>
          <a:xfrm>
            <a:off x="955548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A₀ A₁ A₂</a:t>
            </a:r>
            <a:endParaRPr lang="en-US" sz="2400" dirty="0"/>
          </a:p>
        </p:txBody>
      </p:sp>
      <p:sp>
        <p:nvSpPr>
          <p:cNvPr id="20" name="t132"/>
          <p:cNvSpPr txBox="1"/>
          <p:nvPr/>
        </p:nvSpPr>
        <p:spPr>
          <a:xfrm>
            <a:off x="955548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Spatial config., shared by Task A / 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292608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33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MODEL DESIGN</a:t>
            </a:r>
            <a:endParaRPr lang="en-US" sz="1000" dirty="0"/>
          </a:p>
        </p:txBody>
      </p:sp>
      <p:sp>
        <p:nvSpPr>
          <p:cNvPr id="4" name="t135"/>
          <p:cNvSpPr txBox="1"/>
          <p:nvPr/>
        </p:nvSpPr>
        <p:spPr>
          <a:xfrm>
            <a:off x="54864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ONLINE STEP 05 · TASK A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0700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Task A</a:t>
            </a:r>
            <a:endParaRPr lang="en-US" sz="2800" dirty="0"/>
          </a:p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Dog Behavior</a:t>
            </a:r>
            <a:endParaRPr lang="en-US" sz="2800" dirty="0"/>
          </a:p>
        </p:txBody>
      </p:sp>
      <p:sp>
        <p:nvSpPr>
          <p:cNvPr id="6" name="l136"/>
          <p:cNvSpPr/>
          <p:nvPr/>
        </p:nvSpPr>
        <p:spPr>
          <a:xfrm>
            <a:off x="548640" y="2240280"/>
            <a:ext cx="3291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137"/>
          <p:cNvSpPr txBox="1"/>
          <p:nvPr/>
        </p:nvSpPr>
        <p:spPr>
          <a:xfrm>
            <a:off x="548640" y="23317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Follows the original ST-GCN (Yan et al., AAAI 2018)</a:t>
            </a:r>
            <a:endParaRPr lang="en-US" sz="140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9 residual units in 3 stages: channels 64 → 128 → 256, time T → T/2 → T/4</a:t>
            </a:r>
            <a:endParaRPr lang="en-US" sz="140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Global average pooling → Linear + Softmax; baseline: LSTM</a:t>
            </a:r>
            <a:endParaRPr lang="en-US" sz="1400" dirty="0"/>
          </a:p>
        </p:txBody>
      </p:sp>
      <p:pic>
        <p:nvPicPr>
          <p:cNvPr id="8" name="diagram-task-a-stgcn" descr="09-task-a-stgcn-en"/>
          <p:cNvPicPr>
            <a:picLocks noChangeAspect="1"/>
          </p:cNvPicPr>
          <p:nvPr/>
        </p:nvPicPr>
        <p:blipFill>
          <a:blip r:embed="rId3"/>
          <a:srcRect l="1367" b="4820"/>
          <a:stretch>
            <a:fillRect/>
          </a:stretch>
        </p:blipFill>
        <p:spPr>
          <a:xfrm>
            <a:off x="3901186" y="498348"/>
            <a:ext cx="7757414" cy="4210812"/>
          </a:xfrm>
          <a:prstGeom prst="rect">
            <a:avLst/>
          </a:prstGeom>
        </p:spPr>
      </p:pic>
      <p:sp>
        <p:nvSpPr>
          <p:cNvPr id="9" name="t138"/>
          <p:cNvSpPr txBox="1"/>
          <p:nvPr/>
        </p:nvSpPr>
        <p:spPr>
          <a:xfrm>
            <a:off x="548640" y="51206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Each unit: spatial graph conv (A₀–A₂), then 9×1 temporal conv, then residual add.</a:t>
            </a:r>
            <a:endParaRPr lang="en-US" sz="1500" dirty="0"/>
          </a:p>
        </p:txBody>
      </p:sp>
      <p:sp>
        <p:nvSpPr>
          <p:cNvPr id="10" name="l139"/>
          <p:cNvSpPr/>
          <p:nvPr/>
        </p:nvSpPr>
        <p:spPr>
          <a:xfrm>
            <a:off x="5074920" y="5120640"/>
            <a:ext cx="2011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140"/>
          <p:cNvSpPr txBox="1"/>
          <p:nvPr/>
        </p:nvSpPr>
        <p:spPr>
          <a:xfrm>
            <a:off x="507492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RESIDUAL UNITS</a:t>
            </a:r>
            <a:endParaRPr lang="en-US" sz="1000" dirty="0"/>
          </a:p>
        </p:txBody>
      </p:sp>
      <p:sp>
        <p:nvSpPr>
          <p:cNvPr id="12" name="t141"/>
          <p:cNvSpPr txBox="1"/>
          <p:nvPr/>
        </p:nvSpPr>
        <p:spPr>
          <a:xfrm>
            <a:off x="507492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9</a:t>
            </a:r>
            <a:endParaRPr lang="en-US" sz="3200" dirty="0"/>
          </a:p>
        </p:txBody>
      </p:sp>
      <p:sp>
        <p:nvSpPr>
          <p:cNvPr id="13" name="t142"/>
          <p:cNvSpPr txBox="1"/>
          <p:nvPr/>
        </p:nvSpPr>
        <p:spPr>
          <a:xfrm>
            <a:off x="507492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3 stages × 3 units</a:t>
            </a:r>
            <a:endParaRPr lang="en-US" sz="1100" dirty="0"/>
          </a:p>
        </p:txBody>
      </p:sp>
      <p:sp>
        <p:nvSpPr>
          <p:cNvPr id="14" name="l143"/>
          <p:cNvSpPr/>
          <p:nvPr/>
        </p:nvSpPr>
        <p:spPr>
          <a:xfrm>
            <a:off x="7315200" y="5120640"/>
            <a:ext cx="2011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144"/>
          <p:cNvSpPr txBox="1"/>
          <p:nvPr/>
        </p:nvSpPr>
        <p:spPr>
          <a:xfrm>
            <a:off x="731520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</a:t>
            </a:r>
            <a:endParaRPr lang="en-US" sz="1000" dirty="0"/>
          </a:p>
        </p:txBody>
      </p:sp>
      <p:sp>
        <p:nvSpPr>
          <p:cNvPr id="16" name="t145"/>
          <p:cNvSpPr txBox="1"/>
          <p:nvPr/>
        </p:nvSpPr>
        <p:spPr>
          <a:xfrm>
            <a:off x="731520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256-D</a:t>
            </a:r>
            <a:endParaRPr lang="en-US" sz="3200" dirty="0"/>
          </a:p>
        </p:txBody>
      </p:sp>
      <p:sp>
        <p:nvSpPr>
          <p:cNvPr id="17" name="t146"/>
          <p:cNvSpPr txBox="1"/>
          <p:nvPr/>
        </p:nvSpPr>
        <p:spPr>
          <a:xfrm>
            <a:off x="731520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After global average pooling</a:t>
            </a:r>
            <a:endParaRPr lang="en-US" sz="1100" dirty="0"/>
          </a:p>
        </p:txBody>
      </p:sp>
      <p:sp>
        <p:nvSpPr>
          <p:cNvPr id="18" name="l147"/>
          <p:cNvSpPr/>
          <p:nvPr/>
        </p:nvSpPr>
        <p:spPr>
          <a:xfrm>
            <a:off x="9555480" y="5120640"/>
            <a:ext cx="2011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148"/>
          <p:cNvSpPr txBox="1"/>
          <p:nvPr/>
        </p:nvSpPr>
        <p:spPr>
          <a:xfrm>
            <a:off x="955548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CLASSES</a:t>
            </a:r>
            <a:endParaRPr lang="en-US" sz="1000" dirty="0"/>
          </a:p>
        </p:txBody>
      </p:sp>
      <p:sp>
        <p:nvSpPr>
          <p:cNvPr id="20" name="t149"/>
          <p:cNvSpPr txBox="1"/>
          <p:nvPr/>
        </p:nvSpPr>
        <p:spPr>
          <a:xfrm>
            <a:off x="955548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accent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6</a:t>
            </a:r>
            <a:endParaRPr lang="en-US" sz="3200" dirty="0"/>
          </a:p>
        </p:txBody>
      </p:sp>
      <p:sp>
        <p:nvSpPr>
          <p:cNvPr id="21" name="t150"/>
          <p:cNvSpPr txBox="1"/>
          <p:nvPr/>
        </p:nvSpPr>
        <p:spPr>
          <a:xfrm>
            <a:off x="955548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Stand · sit · lie · eat · play · other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292608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5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MODEL DESIGN</a:t>
            </a:r>
            <a:endParaRPr lang="en-US" sz="1000" dirty="0"/>
          </a:p>
        </p:txBody>
      </p:sp>
      <p:sp>
        <p:nvSpPr>
          <p:cNvPr id="3" name="t152"/>
          <p:cNvSpPr txBox="1"/>
          <p:nvPr/>
        </p:nvSpPr>
        <p:spPr>
          <a:xfrm>
            <a:off x="54864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ONLINE STEP 05 · TASK B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0700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Task B</a:t>
            </a:r>
            <a:endParaRPr lang="en-US" sz="2800" dirty="0"/>
          </a:p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Interaction</a:t>
            </a:r>
            <a:endParaRPr lang="en-US" sz="2800" dirty="0"/>
          </a:p>
        </p:txBody>
      </p:sp>
      <p:sp>
        <p:nvSpPr>
          <p:cNvPr id="5" name="l153"/>
          <p:cNvSpPr/>
          <p:nvPr/>
        </p:nvSpPr>
        <p:spPr>
          <a:xfrm>
            <a:off x="548640" y="2240280"/>
            <a:ext cx="3291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154"/>
          <p:cNvSpPr txBox="1"/>
          <p:nvPr/>
        </p:nvSpPr>
        <p:spPr>
          <a:xfrm>
            <a:off x="548640" y="23317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Human and dog skeletons each go through an ST-GCN → f_h and f_d</a:t>
            </a:r>
            <a:endParaRPr lang="en-US" sz="140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Plus relation features f_r (distance, velocity, orientation) and optional audio (YAMNet / MERT)</a:t>
            </a:r>
            <a:endParaRPr lang="en-US" sz="140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Concat + MLP at the end: late fusion</a:t>
            </a:r>
            <a:endParaRPr lang="en-US" sz="1400" dirty="0"/>
          </a:p>
        </p:txBody>
      </p:sp>
      <p:pic>
        <p:nvPicPr>
          <p:cNvPr id="7" name="diagram-task-b-dual-stream" descr="10-task-b-dual-stream-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498347"/>
            <a:ext cx="7818120" cy="4397693"/>
          </a:xfrm>
          <a:prstGeom prst="rect">
            <a:avLst/>
          </a:prstGeom>
        </p:spPr>
      </p:pic>
      <p:sp>
        <p:nvSpPr>
          <p:cNvPr id="8" name="t155"/>
          <p:cNvSpPr txBox="1"/>
          <p:nvPr/>
        </p:nvSpPr>
        <p:spPr>
          <a:xfrm>
            <a:off x="548640" y="51206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Late fusion keeps audio optional: with no or poor sound, the skeletons alone still give a prediction.</a:t>
            </a:r>
            <a:endParaRPr lang="en-US" sz="1500" dirty="0"/>
          </a:p>
        </p:txBody>
      </p:sp>
      <p:sp>
        <p:nvSpPr>
          <p:cNvPr id="9" name="l156"/>
          <p:cNvSpPr/>
          <p:nvPr/>
        </p:nvSpPr>
        <p:spPr>
          <a:xfrm>
            <a:off x="5074920" y="5120640"/>
            <a:ext cx="2011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157"/>
          <p:cNvSpPr txBox="1"/>
          <p:nvPr/>
        </p:nvSpPr>
        <p:spPr>
          <a:xfrm>
            <a:off x="507492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STREAMS</a:t>
            </a:r>
            <a:endParaRPr lang="en-US" sz="1000" dirty="0"/>
          </a:p>
        </p:txBody>
      </p:sp>
      <p:sp>
        <p:nvSpPr>
          <p:cNvPr id="11" name="t158"/>
          <p:cNvSpPr txBox="1"/>
          <p:nvPr/>
        </p:nvSpPr>
        <p:spPr>
          <a:xfrm>
            <a:off x="507492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159"/>
          <p:cNvSpPr txBox="1"/>
          <p:nvPr/>
        </p:nvSpPr>
        <p:spPr>
          <a:xfrm>
            <a:off x="507492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Human + dog, one ST-GCN each</a:t>
            </a:r>
            <a:endParaRPr lang="en-US" sz="1100" dirty="0"/>
          </a:p>
        </p:txBody>
      </p:sp>
      <p:sp>
        <p:nvSpPr>
          <p:cNvPr id="13" name="l160"/>
          <p:cNvSpPr/>
          <p:nvPr/>
        </p:nvSpPr>
        <p:spPr>
          <a:xfrm>
            <a:off x="7315200" y="5120640"/>
            <a:ext cx="2011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161"/>
          <p:cNvSpPr txBox="1"/>
          <p:nvPr/>
        </p:nvSpPr>
        <p:spPr>
          <a:xfrm>
            <a:off x="731520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</a:t>
            </a:r>
            <a:endParaRPr lang="en-US" sz="1000" dirty="0"/>
          </a:p>
        </p:txBody>
      </p:sp>
      <p:sp>
        <p:nvSpPr>
          <p:cNvPr id="15" name="t162"/>
          <p:cNvSpPr txBox="1"/>
          <p:nvPr/>
        </p:nvSpPr>
        <p:spPr>
          <a:xfrm>
            <a:off x="731520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163"/>
          <p:cNvSpPr txBox="1"/>
          <p:nvPr/>
        </p:nvSpPr>
        <p:spPr>
          <a:xfrm>
            <a:off x="731520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Distance · velocity · orientation</a:t>
            </a:r>
            <a:endParaRPr lang="en-US" sz="1100" dirty="0"/>
          </a:p>
        </p:txBody>
      </p:sp>
      <p:sp>
        <p:nvSpPr>
          <p:cNvPr id="17" name="l164"/>
          <p:cNvSpPr/>
          <p:nvPr/>
        </p:nvSpPr>
        <p:spPr>
          <a:xfrm>
            <a:off x="9555480" y="5120640"/>
            <a:ext cx="2011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165"/>
          <p:cNvSpPr txBox="1"/>
          <p:nvPr/>
        </p:nvSpPr>
        <p:spPr>
          <a:xfrm>
            <a:off x="955548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CLASSES</a:t>
            </a:r>
            <a:endParaRPr lang="en-US" sz="1000" dirty="0"/>
          </a:p>
        </p:txBody>
      </p:sp>
      <p:sp>
        <p:nvSpPr>
          <p:cNvPr id="19" name="t166"/>
          <p:cNvSpPr txBox="1"/>
          <p:nvPr/>
        </p:nvSpPr>
        <p:spPr>
          <a:xfrm>
            <a:off x="955548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accent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4</a:t>
            </a:r>
            <a:endParaRPr lang="en-US" sz="3200" dirty="0"/>
          </a:p>
        </p:txBody>
      </p:sp>
      <p:sp>
        <p:nvSpPr>
          <p:cNvPr id="20" name="t167"/>
          <p:cNvSpPr txBox="1"/>
          <p:nvPr/>
        </p:nvSpPr>
        <p:spPr>
          <a:xfrm>
            <a:off x="955548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None · feeding · petting · 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292608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68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EVALUATION</a:t>
            </a:r>
            <a:endParaRPr lang="en-US" sz="1000" dirty="0"/>
          </a:p>
        </p:txBody>
      </p:sp>
      <p:sp>
        <p:nvSpPr>
          <p:cNvPr id="3" name="t169"/>
          <p:cNvSpPr txBox="1"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 PLAN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How We Prove Each Step Works</a:t>
            </a:r>
            <a:endParaRPr lang="en-US" sz="4400" dirty="0"/>
          </a:p>
        </p:txBody>
      </p:sp>
      <p:sp>
        <p:nvSpPr>
          <p:cNvPr id="5" name="r170"/>
          <p:cNvSpPr/>
          <p:nvPr/>
        </p:nvSpPr>
        <p:spPr>
          <a:xfrm>
            <a:off x="548640" y="2514600"/>
            <a:ext cx="2560320" cy="269748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171"/>
          <p:cNvSpPr txBox="1"/>
          <p:nvPr/>
        </p:nvSpPr>
        <p:spPr>
          <a:xfrm>
            <a:off x="777240" y="2697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POSE</a:t>
            </a:r>
            <a:endParaRPr lang="en-US" sz="1000" dirty="0"/>
          </a:p>
        </p:txBody>
      </p:sp>
      <p:sp>
        <p:nvSpPr>
          <p:cNvPr id="7" name="t172"/>
          <p:cNvSpPr txBox="1"/>
          <p:nvPr/>
        </p:nvSpPr>
        <p:spPr>
          <a:xfrm>
            <a:off x="777240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Pose</a:t>
            </a:r>
            <a:endParaRPr lang="en-US" sz="2400" dirty="0"/>
          </a:p>
        </p:txBody>
      </p:sp>
      <p:sp>
        <p:nvSpPr>
          <p:cNvPr id="8" name="t173"/>
          <p:cNvSpPr txBox="1"/>
          <p:nvPr/>
        </p:nvSpPr>
        <p:spPr>
          <a:xfrm>
            <a:off x="777240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COCO AP · AP@0.5 · AP@0.75 · PCK</a:t>
            </a:r>
            <a:endParaRPr lang="en-US" sz="1200" dirty="0"/>
          </a:p>
        </p:txBody>
      </p:sp>
      <p:sp>
        <p:nvSpPr>
          <p:cNvPr id="9" name="t174"/>
          <p:cNvSpPr txBox="1"/>
          <p:nvPr/>
        </p:nvSpPr>
        <p:spPr>
          <a:xfrm>
            <a:off x="777240" y="41605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P0 / P1 / P2 on the same test set, reported for head, forelimbs and hindlimbs.</a:t>
            </a:r>
            <a:endParaRPr lang="en-US" sz="1300" dirty="0"/>
          </a:p>
        </p:txBody>
      </p:sp>
      <p:sp>
        <p:nvSpPr>
          <p:cNvPr id="10" name="r175"/>
          <p:cNvSpPr/>
          <p:nvPr/>
        </p:nvSpPr>
        <p:spPr>
          <a:xfrm>
            <a:off x="3364992" y="2514600"/>
            <a:ext cx="2560320" cy="269748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176"/>
          <p:cNvSpPr txBox="1"/>
          <p:nvPr/>
        </p:nvSpPr>
        <p:spPr>
          <a:xfrm>
            <a:off x="3593592" y="2697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TASK A</a:t>
            </a:r>
            <a:endParaRPr lang="en-US" sz="1000" dirty="0"/>
          </a:p>
        </p:txBody>
      </p:sp>
      <p:sp>
        <p:nvSpPr>
          <p:cNvPr id="12" name="t177"/>
          <p:cNvSpPr txBox="1"/>
          <p:nvPr/>
        </p:nvSpPr>
        <p:spPr>
          <a:xfrm>
            <a:off x="3593592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Dog Behavior</a:t>
            </a:r>
            <a:endParaRPr lang="en-US" sz="2400" dirty="0"/>
          </a:p>
        </p:txBody>
      </p:sp>
      <p:sp>
        <p:nvSpPr>
          <p:cNvPr id="13" name="t178"/>
          <p:cNvSpPr txBox="1"/>
          <p:nvPr/>
        </p:nvSpPr>
        <p:spPr>
          <a:xfrm>
            <a:off x="3593592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Accuracy · Macro-F1 · confusion matrix</a:t>
            </a:r>
            <a:endParaRPr lang="en-US" sz="1200" dirty="0"/>
          </a:p>
        </p:txBody>
      </p:sp>
      <p:sp>
        <p:nvSpPr>
          <p:cNvPr id="14" name="t179"/>
          <p:cNvSpPr txBox="1"/>
          <p:nvPr/>
        </p:nvSpPr>
        <p:spPr>
          <a:xfrm>
            <a:off x="3593592" y="41605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LSTM vs ST-GCN; ablate confidence, missing-joint handling, skeleton augmentation.</a:t>
            </a:r>
            <a:endParaRPr lang="en-US" sz="1300" dirty="0"/>
          </a:p>
        </p:txBody>
      </p:sp>
      <p:sp>
        <p:nvSpPr>
          <p:cNvPr id="15" name="r180"/>
          <p:cNvSpPr/>
          <p:nvPr/>
        </p:nvSpPr>
        <p:spPr>
          <a:xfrm>
            <a:off x="6181344" y="2514600"/>
            <a:ext cx="2560320" cy="269748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181"/>
          <p:cNvSpPr txBox="1"/>
          <p:nvPr/>
        </p:nvSpPr>
        <p:spPr>
          <a:xfrm>
            <a:off x="6409944" y="2697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TASK B</a:t>
            </a:r>
            <a:endParaRPr lang="en-US" sz="1000" dirty="0"/>
          </a:p>
        </p:txBody>
      </p:sp>
      <p:sp>
        <p:nvSpPr>
          <p:cNvPr id="17" name="t182"/>
          <p:cNvSpPr txBox="1"/>
          <p:nvPr/>
        </p:nvSpPr>
        <p:spPr>
          <a:xfrm>
            <a:off x="6409944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Interaction</a:t>
            </a:r>
            <a:endParaRPr lang="en-US" sz="2400" dirty="0"/>
          </a:p>
        </p:txBody>
      </p:sp>
      <p:sp>
        <p:nvSpPr>
          <p:cNvPr id="18" name="t183"/>
          <p:cNvSpPr txBox="1"/>
          <p:nvPr/>
        </p:nvSpPr>
        <p:spPr>
          <a:xfrm>
            <a:off x="6409944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Same metrics + ablations</a:t>
            </a:r>
            <a:endParaRPr lang="en-US" sz="1200" dirty="0"/>
          </a:p>
        </p:txBody>
      </p:sp>
      <p:sp>
        <p:nvSpPr>
          <p:cNvPr id="19" name="t184"/>
          <p:cNvSpPr txBox="1"/>
          <p:nvPr/>
        </p:nvSpPr>
        <p:spPr>
          <a:xfrm>
            <a:off x="6409944" y="41605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bg1"/>
                </a:solidFill>
              </a:rPr>
              <a:t>Single vs dual stream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bg1"/>
                </a:solidFill>
              </a:rPr>
              <a:t>± relation features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bg1"/>
                </a:solidFill>
              </a:rPr>
              <a:t>± audio</a:t>
            </a:r>
            <a:endParaRPr lang="en-US" sz="1300" dirty="0"/>
          </a:p>
        </p:txBody>
      </p:sp>
      <p:sp>
        <p:nvSpPr>
          <p:cNvPr id="20" name="r185"/>
          <p:cNvSpPr/>
          <p:nvPr/>
        </p:nvSpPr>
        <p:spPr>
          <a:xfrm>
            <a:off x="8997696" y="2514600"/>
            <a:ext cx="2560320" cy="269748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186"/>
          <p:cNvSpPr txBox="1"/>
          <p:nvPr/>
        </p:nvSpPr>
        <p:spPr>
          <a:xfrm>
            <a:off x="9226296" y="2697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SPLIT</a:t>
            </a:r>
            <a:endParaRPr lang="en-US" sz="1000" dirty="0"/>
          </a:p>
        </p:txBody>
      </p:sp>
      <p:sp>
        <p:nvSpPr>
          <p:cNvPr id="22" name="t187"/>
          <p:cNvSpPr txBox="1"/>
          <p:nvPr/>
        </p:nvSpPr>
        <p:spPr>
          <a:xfrm>
            <a:off x="9226296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Robustness</a:t>
            </a:r>
            <a:endParaRPr lang="en-US" sz="2400" dirty="0"/>
          </a:p>
        </p:txBody>
      </p:sp>
      <p:sp>
        <p:nvSpPr>
          <p:cNvPr id="23" name="t188"/>
          <p:cNvSpPr txBox="1"/>
          <p:nvPr/>
        </p:nvSpPr>
        <p:spPr>
          <a:xfrm>
            <a:off x="9226296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Unseen dogs and scenes</a:t>
            </a:r>
            <a:endParaRPr lang="en-US" sz="1200" dirty="0"/>
          </a:p>
        </p:txBody>
      </p:sp>
      <p:sp>
        <p:nvSpPr>
          <p:cNvPr id="24" name="t189"/>
          <p:cNvSpPr txBox="1"/>
          <p:nvPr/>
        </p:nvSpPr>
        <p:spPr>
          <a:xfrm>
            <a:off x="9226296" y="41605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Split by dog + full video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Occlusion, missing joints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Multi-subject, no audio</a:t>
            </a:r>
            <a:endParaRPr lang="en-US" sz="1300" dirty="0"/>
          </a:p>
        </p:txBody>
      </p:sp>
      <p:sp>
        <p:nvSpPr>
          <p:cNvPr id="25" name="l190"/>
          <p:cNvSpPr/>
          <p:nvPr/>
        </p:nvSpPr>
        <p:spPr>
          <a:xfrm>
            <a:off x="548640" y="5669280"/>
            <a:ext cx="1109441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191"/>
          <p:cNvSpPr txBox="1"/>
          <p:nvPr/>
        </p:nvSpPr>
        <p:spPr>
          <a:xfrm>
            <a:off x="548640" y="58338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</a:t>
            </a:r>
            <a:endParaRPr lang="en-US" sz="1100" dirty="0"/>
          </a:p>
        </p:txBody>
      </p:sp>
      <p:sp>
        <p:nvSpPr>
          <p:cNvPr id="27" name="t192"/>
          <p:cNvSpPr txBox="1"/>
          <p:nvPr/>
        </p:nvSpPr>
        <p:spPr>
          <a:xfrm>
            <a:off x="1554480" y="58338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Val set for model selection only; test set used once at the end, the same one for every comparison.</a:t>
            </a:r>
            <a:endParaRPr lang="en-US" sz="15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292608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93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194"/>
          <p:cNvSpPr txBox="1"/>
          <p:nvPr/>
        </p:nvSpPr>
        <p:spPr>
          <a:xfrm>
            <a:off x="548640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12</a:t>
            </a:r>
            <a:endParaRPr lang="en-US" sz="1000" dirty="0"/>
          </a:p>
        </p:txBody>
      </p:sp>
      <p:sp>
        <p:nvSpPr>
          <p:cNvPr id="4" name="t195"/>
          <p:cNvSpPr txBox="1"/>
          <p:nvPr/>
        </p:nvSpPr>
        <p:spPr>
          <a:xfrm>
            <a:off x="548640" y="2103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5" name="t196"/>
          <p:cNvSpPr txBox="1"/>
          <p:nvPr/>
        </p:nvSpPr>
        <p:spPr>
          <a:xfrm>
            <a:off x="548640" y="246888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dirty="0">
                <a:solidFill>
                  <a:schemeClr val="bg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Q</a:t>
            </a:r>
            <a:r>
              <a:rPr lang="en-US" sz="11000" i="1" dirty="0">
                <a:solidFill>
                  <a:schemeClr val="bg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&amp;</a:t>
            </a:r>
            <a:r>
              <a:rPr lang="en-US" sz="11000" dirty="0">
                <a:solidFill>
                  <a:schemeClr val="bg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A</a:t>
            </a:r>
            <a:endParaRPr lang="en-US" sz="11000" dirty="0"/>
          </a:p>
        </p:txBody>
      </p:sp>
      <p:sp>
        <p:nvSpPr>
          <p:cNvPr id="7" name="l198"/>
          <p:cNvSpPr/>
          <p:nvPr/>
        </p:nvSpPr>
        <p:spPr>
          <a:xfrm>
            <a:off x="548640" y="5989320"/>
            <a:ext cx="4998568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199"/>
          <p:cNvSpPr txBox="1"/>
          <p:nvPr/>
        </p:nvSpPr>
        <p:spPr>
          <a:xfrm>
            <a:off x="548640" y="6126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28 · ZHAO JIAYI · SUN WENJING</a:t>
            </a:r>
            <a:endParaRPr lang="en-US" sz="1000" dirty="0"/>
          </a:p>
        </p:txBody>
      </p:sp>
      <p:sp>
        <p:nvSpPr>
          <p:cNvPr id="9" name="t200"/>
          <p:cNvSpPr txBox="1"/>
          <p:nvPr/>
        </p:nvSpPr>
        <p:spPr>
          <a:xfrm>
            <a:off x="6644488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TAKEAWAYS</a:t>
            </a:r>
            <a:endParaRPr lang="en-US" sz="1000" dirty="0"/>
          </a:p>
        </p:txBody>
      </p:sp>
      <p:sp>
        <p:nvSpPr>
          <p:cNvPr id="10" name="l201"/>
          <p:cNvSpPr/>
          <p:nvPr/>
        </p:nvSpPr>
        <p:spPr>
          <a:xfrm>
            <a:off x="6644488" y="1737360"/>
            <a:ext cx="499856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202"/>
          <p:cNvSpPr txBox="1"/>
          <p:nvPr/>
        </p:nvSpPr>
        <p:spPr>
          <a:xfrm>
            <a:off x="6644488" y="1901952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01</a:t>
            </a:r>
            <a:endParaRPr lang="en-US" sz="4000" dirty="0"/>
          </a:p>
        </p:txBody>
      </p:sp>
      <p:sp>
        <p:nvSpPr>
          <p:cNvPr id="12" name="t203"/>
          <p:cNvSpPr txBox="1"/>
          <p:nvPr/>
        </p:nvSpPr>
        <p:spPr>
          <a:xfrm>
            <a:off x="7604608" y="1920240"/>
            <a:ext cx="403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Skeletons link everything</a:t>
            </a:r>
            <a:endParaRPr lang="en-US" sz="2000" dirty="0"/>
          </a:p>
        </p:txBody>
      </p:sp>
      <p:sp>
        <p:nvSpPr>
          <p:cNvPr id="13" name="t204"/>
          <p:cNvSpPr txBox="1"/>
          <p:nvPr/>
        </p:nvSpPr>
        <p:spPr>
          <a:xfrm>
            <a:off x="7604608" y="2359152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Pose estimation sees joints; ST-GCN understands motion over time.</a:t>
            </a:r>
            <a:endParaRPr lang="en-US" sz="1300" dirty="0"/>
          </a:p>
        </p:txBody>
      </p:sp>
      <p:sp>
        <p:nvSpPr>
          <p:cNvPr id="14" name="l205"/>
          <p:cNvSpPr/>
          <p:nvPr/>
        </p:nvSpPr>
        <p:spPr>
          <a:xfrm>
            <a:off x="6644488" y="2971800"/>
            <a:ext cx="499856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206"/>
          <p:cNvSpPr txBox="1"/>
          <p:nvPr/>
        </p:nvSpPr>
        <p:spPr>
          <a:xfrm>
            <a:off x="6644488" y="3136392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02</a:t>
            </a:r>
            <a:endParaRPr lang="en-US" sz="4000" dirty="0"/>
          </a:p>
        </p:txBody>
      </p:sp>
      <p:sp>
        <p:nvSpPr>
          <p:cNvPr id="16" name="t207"/>
          <p:cNvSpPr txBox="1"/>
          <p:nvPr/>
        </p:nvSpPr>
        <p:spPr>
          <a:xfrm>
            <a:off x="7604608" y="3154680"/>
            <a:ext cx="403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Every step is testable</a:t>
            </a:r>
            <a:endParaRPr lang="en-US" sz="2000" dirty="0"/>
          </a:p>
        </p:txBody>
      </p:sp>
      <p:sp>
        <p:nvSpPr>
          <p:cNvPr id="17" name="t208"/>
          <p:cNvSpPr txBox="1"/>
          <p:nvPr/>
        </p:nvSpPr>
        <p:spPr>
          <a:xfrm>
            <a:off x="7604608" y="3593592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P0 → P1 → P2 and ablations answer "does it help?" one by one.</a:t>
            </a:r>
            <a:endParaRPr lang="en-US" sz="1300" dirty="0"/>
          </a:p>
        </p:txBody>
      </p:sp>
      <p:sp>
        <p:nvSpPr>
          <p:cNvPr id="18" name="l209"/>
          <p:cNvSpPr/>
          <p:nvPr/>
        </p:nvSpPr>
        <p:spPr>
          <a:xfrm>
            <a:off x="6644488" y="4206240"/>
            <a:ext cx="499856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210"/>
          <p:cNvSpPr txBox="1"/>
          <p:nvPr/>
        </p:nvSpPr>
        <p:spPr>
          <a:xfrm>
            <a:off x="6644488" y="4370832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chemeClr val="accent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03</a:t>
            </a:r>
            <a:endParaRPr lang="en-US" sz="4000" dirty="0"/>
          </a:p>
        </p:txBody>
      </p:sp>
      <p:sp>
        <p:nvSpPr>
          <p:cNvPr id="20" name="t211"/>
          <p:cNvSpPr txBox="1"/>
          <p:nvPr/>
        </p:nvSpPr>
        <p:spPr>
          <a:xfrm>
            <a:off x="7604608" y="4389120"/>
            <a:ext cx="403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</a:rPr>
              <a:t>Leak-free data split</a:t>
            </a:r>
            <a:endParaRPr lang="en-US" sz="2000" dirty="0"/>
          </a:p>
        </p:txBody>
      </p:sp>
      <p:sp>
        <p:nvSpPr>
          <p:cNvPr id="21" name="t212"/>
          <p:cNvSpPr txBox="1"/>
          <p:nvPr/>
        </p:nvSpPr>
        <p:spPr>
          <a:xfrm>
            <a:off x="7604608" y="4828032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Grouped by dog and full video: we test on unseen dogs and scenes.</a:t>
            </a:r>
            <a:endParaRPr lang="en-US" sz="1300" dirty="0"/>
          </a:p>
        </p:txBody>
      </p:sp>
      <p:sp>
        <p:nvSpPr>
          <p:cNvPr id="22" name="l213"/>
          <p:cNvSpPr/>
          <p:nvPr/>
        </p:nvSpPr>
        <p:spPr>
          <a:xfrm>
            <a:off x="6644488" y="5440680"/>
            <a:ext cx="499856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wiss IKB">
  <a:themeElements>
    <a:clrScheme name="Swiss IKB">
      <a:dk1>
        <a:srgbClr val="0A0A0A"/>
      </a:dk1>
      <a:lt1>
        <a:srgbClr val="FFFFFF"/>
      </a:lt1>
      <a:dk2>
        <a:srgbClr val="525252"/>
      </a:dk2>
      <a:lt2>
        <a:srgbClr val="F0F0EE"/>
      </a:lt2>
      <a:accent1>
        <a:srgbClr val="002FA7"/>
      </a:accent1>
      <a:accent2>
        <a:srgbClr val="5B7BFF"/>
      </a:accent2>
      <a:accent3>
        <a:srgbClr val="737373"/>
      </a:accent3>
      <a:accent4>
        <a:srgbClr val="D4D4D2"/>
      </a:accent4>
      <a:accent5>
        <a:srgbClr val="E0E0E0"/>
      </a:accent5>
      <a:accent6>
        <a:srgbClr val="FAFAF8"/>
      </a:accent6>
      <a:hlink>
        <a:srgbClr val="002FA7"/>
      </a:hlink>
      <a:folHlink>
        <a:srgbClr val="5B7BFF"/>
      </a:folHlink>
    </a:clrScheme>
    <a:fontScheme name="Swiss IKB">
      <a:majorFont>
        <a:latin typeface="Microsoft YaHe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981</TotalTime>
  <Words>1256</Words>
  <Application>Microsoft Office PowerPoint</Application>
  <PresentationFormat>宽屏</PresentationFormat>
  <Paragraphs>216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Microsoft YaHei Light</vt:lpstr>
      <vt:lpstr>Arial</vt:lpstr>
      <vt:lpstr>Consolas</vt:lpstr>
      <vt:lpstr>Swiss IKB</vt:lpstr>
      <vt:lpstr>PowerPoint 演示文稿</vt:lpstr>
      <vt:lpstr>Pet Cameras See, but Don't Understand</vt:lpstr>
      <vt:lpstr>Make the Camera Understand the Dog</vt:lpstr>
      <vt:lpstr>System Architecture</vt:lpstr>
      <vt:lpstr>Where the Data Comes From</vt:lpstr>
      <vt:lpstr>Training Dog Pose</vt:lpstr>
      <vt:lpstr>Dual-Species Skeleton Extraction</vt:lpstr>
      <vt:lpstr>How Graph Convolution Works</vt:lpstr>
      <vt:lpstr>Task A Dog Behavior</vt:lpstr>
      <vt:lpstr>Task B Interaction</vt:lpstr>
      <vt:lpstr>How We Prove Each Step Works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Indoor Dog Behavior &amp; Human–Dog Interaction Recognition — Group 28 Proposal</dc:title>
  <dc:subject>PptxGenJS Presentation</dc:subject>
  <dc:creator>Group 28 · Zhao Jiayi · Sun Wenjing</dc:creator>
  <cp:lastModifiedBy>Sun Wenjing</cp:lastModifiedBy>
  <cp:revision>15</cp:revision>
  <dcterms:created xsi:type="dcterms:W3CDTF">2026-10-04T10:20:01Z</dcterms:created>
  <dcterms:modified xsi:type="dcterms:W3CDTF">2026-10-06T07:21:40Z</dcterms:modified>
</cp:coreProperties>
</file>