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E3084DA-C26D-D345-9F27-87E6C6303F85}">
          <p14:sldIdLst>
            <p14:sldId id="256"/>
          </p14:sldIdLst>
        </p14:section>
        <p14:section name="背景与目标" id="{D2C9CF9F-FAE0-8238-13FF-9B7F25BA81D6}">
          <p14:sldIdLst>
            <p14:sldId id="257"/>
            <p14:sldId id="258"/>
          </p14:sldIdLst>
        </p14:section>
        <p14:section name="系统与数据" id="{3FDDE850-63C5-9857-2B8A-433D4738E1EB}">
          <p14:sldIdLst>
            <p14:sldId id="259"/>
            <p14:sldId id="260"/>
            <p14:sldId id="261"/>
          </p14:sldIdLst>
        </p14:section>
        <p14:section name="模型设计" id="{D47C6EDA-829B-761F-059D-C86DA519A53A}">
          <p14:sldIdLst>
            <p14:sldId id="262"/>
            <p14:sldId id="263"/>
            <p14:sldId id="264"/>
            <p14:sldId id="265"/>
          </p14:sldIdLst>
        </p14:section>
        <p14:section name="评估与总结" id="{CA7BA3D6-BEE0-DBFA-1C06-AFEFA575C07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1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291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BEHAVIOR &amp; HUMAN–DOG INTERACTION · PROPOSAL</a:t>
            </a:r>
            <a:endParaRPr lang="en-US" sz="1000" dirty="0"/>
          </a:p>
        </p:txBody>
      </p:sp>
      <p:sp>
        <p:nvSpPr>
          <p:cNvPr id="3" name="t2"/>
          <p:cNvSpPr txBox="1"/>
          <p:nvPr/>
        </p:nvSpPr>
        <p:spPr>
          <a:xfrm>
            <a:off x="7985455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</a:t>
            </a:r>
            <a:endParaRPr lang="en-US" sz="1000" dirty="0"/>
          </a:p>
        </p:txBody>
      </p:sp>
      <p:sp>
        <p:nvSpPr>
          <p:cNvPr id="4" name="t3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PRS PRACTICE MODULE · PROJECT PROPOSAL</a:t>
            </a:r>
            <a:endParaRPr lang="en-US" sz="1100" dirty="0"/>
          </a:p>
        </p:txBody>
      </p:sp>
      <p:sp>
        <p:nvSpPr>
          <p:cNvPr id="5" name="t4"/>
          <p:cNvSpPr txBox="1"/>
          <p:nvPr/>
        </p:nvSpPr>
        <p:spPr>
          <a:xfrm>
            <a:off x="548640" y="20116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Indoor Dog Behavior &amp;</a:t>
            </a:r>
            <a:endParaRPr lang="en-US" sz="6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</a:t>
            </a:r>
            <a:r>
              <a:rPr lang="en-US" sz="6600" i="1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6600" dirty="0"/>
          </a:p>
        </p:txBody>
      </p:sp>
      <p:sp>
        <p:nvSpPr>
          <p:cNvPr id="6" name="l5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"/>
          <p:cNvSpPr txBox="1"/>
          <p:nvPr/>
        </p:nvSpPr>
        <p:spPr>
          <a:xfrm>
            <a:off x="5486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Recognition via dual-species RTMPose skeletons + ST-GCN temporal modeling</a:t>
            </a:r>
            <a:endParaRPr lang="en-US" sz="1800" dirty="0"/>
          </a:p>
        </p:txBody>
      </p:sp>
      <p:sp>
        <p:nvSpPr>
          <p:cNvPr id="8" name="t7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ZHAO JIAYI · SUN WENJING · GROUP 28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BACKGROUND</a:t>
            </a:r>
            <a:endParaRPr lang="en-US" sz="1000" dirty="0"/>
          </a:p>
        </p:txBody>
      </p:sp>
      <p:sp>
        <p:nvSpPr>
          <p:cNvPr id="3" name="t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Pet Cameras See, but Don't Understand</a:t>
            </a:r>
            <a:endParaRPr lang="en-US" sz="4400" dirty="0"/>
          </a:p>
        </p:txBody>
      </p:sp>
      <p:sp>
        <p:nvSpPr>
          <p:cNvPr id="5" name="l10"/>
          <p:cNvSpPr/>
          <p:nvPr/>
        </p:nvSpPr>
        <p:spPr>
          <a:xfrm>
            <a:off x="54864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"/>
          <p:cNvSpPr txBox="1"/>
          <p:nvPr/>
        </p:nvSpPr>
        <p:spPr>
          <a:xfrm>
            <a:off x="54864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· 2024</a:t>
            </a:r>
            <a:endParaRPr lang="en-US" sz="1100" dirty="0"/>
          </a:p>
        </p:txBody>
      </p:sp>
      <p:sp>
        <p:nvSpPr>
          <p:cNvPr id="7" name="t12"/>
          <p:cNvSpPr txBox="1"/>
          <p:nvPr/>
        </p:nvSpPr>
        <p:spPr>
          <a:xfrm>
            <a:off x="54864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Pet cameras go mainstream</a:t>
            </a:r>
            <a:endParaRPr lang="en-US" sz="1800" dirty="0"/>
          </a:p>
        </p:txBody>
      </p:sp>
      <p:sp>
        <p:nvSpPr>
          <p:cNvPr id="8" name="t13"/>
          <p:cNvSpPr txBox="1"/>
          <p:nvPr/>
        </p:nvSpPr>
        <p:spPr>
          <a:xfrm>
            <a:off x="54864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Owners treat dogs as family and want to know they are safe and well while away.</a:t>
            </a:r>
            <a:endParaRPr lang="en-US" sz="1400" dirty="0"/>
          </a:p>
        </p:txBody>
      </p:sp>
      <p:sp>
        <p:nvSpPr>
          <p:cNvPr id="9" name="t14"/>
          <p:cNvSpPr txBox="1"/>
          <p:nvPr/>
        </p:nvSpPr>
        <p:spPr>
          <a:xfrm>
            <a:off x="54864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$198M</a:t>
            </a:r>
            <a:endParaRPr lang="en-US" sz="5400" dirty="0"/>
          </a:p>
        </p:txBody>
      </p:sp>
      <p:sp>
        <p:nvSpPr>
          <p:cNvPr id="10" name="t15"/>
          <p:cNvSpPr txBox="1"/>
          <p:nvPr/>
        </p:nvSpPr>
        <p:spPr>
          <a:xfrm>
            <a:off x="54864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Global market size, 2024</a:t>
            </a:r>
            <a:endParaRPr lang="en-US" sz="1200" dirty="0"/>
          </a:p>
        </p:txBody>
      </p:sp>
      <p:sp>
        <p:nvSpPr>
          <p:cNvPr id="11" name="l16"/>
          <p:cNvSpPr/>
          <p:nvPr/>
        </p:nvSpPr>
        <p:spPr>
          <a:xfrm>
            <a:off x="4343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17"/>
          <p:cNvSpPr txBox="1"/>
          <p:nvPr/>
        </p:nvSpPr>
        <p:spPr>
          <a:xfrm>
            <a:off x="434340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· 2024–2030</a:t>
            </a:r>
            <a:endParaRPr lang="en-US" sz="1100" dirty="0"/>
          </a:p>
        </p:txBody>
      </p:sp>
      <p:sp>
        <p:nvSpPr>
          <p:cNvPr id="13" name="t18"/>
          <p:cNvSpPr txBox="1"/>
          <p:nvPr/>
        </p:nvSpPr>
        <p:spPr>
          <a:xfrm>
            <a:off x="434340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Demand keeps growing</a:t>
            </a:r>
            <a:endParaRPr lang="en-US" sz="1800" dirty="0"/>
          </a:p>
        </p:txBody>
      </p:sp>
      <p:sp>
        <p:nvSpPr>
          <p:cNvPr id="14" name="t19"/>
          <p:cNvSpPr txBox="1"/>
          <p:nvPr/>
        </p:nvSpPr>
        <p:spPr>
          <a:xfrm>
            <a:off x="434340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Expected to reach ~$454M by 2030, driven by owners treating pets as family.</a:t>
            </a:r>
            <a:endParaRPr lang="en-US" sz="1400" dirty="0"/>
          </a:p>
        </p:txBody>
      </p:sp>
      <p:sp>
        <p:nvSpPr>
          <p:cNvPr id="15" name="t20"/>
          <p:cNvSpPr txBox="1"/>
          <p:nvPr/>
        </p:nvSpPr>
        <p:spPr>
          <a:xfrm>
            <a:off x="434340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12.6%</a:t>
            </a:r>
            <a:endParaRPr lang="en-US" sz="5400" dirty="0"/>
          </a:p>
        </p:txBody>
      </p:sp>
      <p:sp>
        <p:nvSpPr>
          <p:cNvPr id="16" name="t21"/>
          <p:cNvSpPr txBox="1"/>
          <p:nvPr/>
        </p:nvSpPr>
        <p:spPr>
          <a:xfrm>
            <a:off x="434340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Compound annual growth rate</a:t>
            </a:r>
            <a:endParaRPr lang="en-US" sz="1200" dirty="0"/>
          </a:p>
        </p:txBody>
      </p:sp>
      <p:sp>
        <p:nvSpPr>
          <p:cNvPr id="17" name="l22"/>
          <p:cNvSpPr/>
          <p:nvPr/>
        </p:nvSpPr>
        <p:spPr>
          <a:xfrm>
            <a:off x="8138160" y="2514600"/>
            <a:ext cx="3429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23"/>
          <p:cNvSpPr txBox="1"/>
          <p:nvPr/>
        </p:nvSpPr>
        <p:spPr>
          <a:xfrm>
            <a:off x="81381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endParaRPr lang="en-US" sz="1100" dirty="0"/>
          </a:p>
        </p:txBody>
      </p:sp>
      <p:sp>
        <p:nvSpPr>
          <p:cNvPr id="19" name="t24"/>
          <p:cNvSpPr txBox="1"/>
          <p:nvPr/>
        </p:nvSpPr>
        <p:spPr>
          <a:xfrm>
            <a:off x="813816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Today's products only "see"</a:t>
            </a:r>
            <a:endParaRPr lang="en-US" sz="1800" dirty="0"/>
          </a:p>
        </p:txBody>
      </p:sp>
      <p:sp>
        <p:nvSpPr>
          <p:cNvPr id="20" name="t25"/>
          <p:cNvSpPr txBox="1"/>
          <p:nvPr/>
        </p:nvSpPr>
        <p:spPr>
          <a:xfrm>
            <a:off x="813816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Detect, track, push alerts. Did the dog eat? Did anyone play with it? Owners still scrub the footage.</a:t>
            </a:r>
            <a:endParaRPr lang="en-US" sz="1400" dirty="0"/>
          </a:p>
        </p:txBody>
      </p:sp>
      <p:sp>
        <p:nvSpPr>
          <p:cNvPr id="21" name="t26"/>
          <p:cNvSpPr txBox="1"/>
          <p:nvPr/>
        </p:nvSpPr>
        <p:spPr>
          <a:xfrm>
            <a:off x="8138160" y="4709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Understand</a:t>
            </a:r>
            <a:endParaRPr lang="en-US" sz="5400" dirty="0"/>
          </a:p>
        </p:txBody>
      </p:sp>
      <p:sp>
        <p:nvSpPr>
          <p:cNvPr id="22" name="t27"/>
          <p:cNvSpPr txBox="1"/>
          <p:nvPr/>
        </p:nvSpPr>
        <p:spPr>
          <a:xfrm>
            <a:off x="813816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step this project adds</a:t>
            </a:r>
            <a:endParaRPr lang="en-US" sz="1200" dirty="0"/>
          </a:p>
        </p:txBody>
      </p:sp>
      <p:sp>
        <p:nvSpPr>
          <p:cNvPr id="23" name="t28"/>
          <p:cNvSpPr txBox="1"/>
          <p:nvPr/>
        </p:nvSpPr>
        <p:spPr>
          <a:xfrm>
            <a:off x="548640" y="62636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Grand View Research, Pet Monitoring Camera Market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OBJECTIVES</a:t>
            </a:r>
            <a:endParaRPr lang="en-US" sz="1000" dirty="0"/>
          </a:p>
        </p:txBody>
      </p:sp>
      <p:sp>
        <p:nvSpPr>
          <p:cNvPr id="3" name="t30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 · A WORKING VIDEO-ANALYSIS PROTOTYPE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Make the Camera Understand the Dog</a:t>
            </a:r>
            <a:endParaRPr lang="en-US" sz="4400" dirty="0"/>
          </a:p>
        </p:txBody>
      </p:sp>
      <p:sp>
        <p:nvSpPr>
          <p:cNvPr id="5" name="t31"/>
          <p:cNvSpPr txBox="1"/>
          <p:nvPr/>
        </p:nvSpPr>
        <p:spPr>
          <a:xfrm>
            <a:off x="54864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Upload an indoor video → get dog behavior, interaction type, confidence and a timeline.</a:t>
            </a:r>
            <a:endParaRPr lang="en-US" sz="1600" dirty="0"/>
          </a:p>
        </p:txBody>
      </p:sp>
      <p:sp>
        <p:nvSpPr>
          <p:cNvPr id="8" name="t34"/>
          <p:cNvSpPr txBox="1"/>
          <p:nvPr/>
        </p:nvSpPr>
        <p:spPr>
          <a:xfrm>
            <a:off x="548640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</a:t>
            </a:r>
            <a:endParaRPr lang="en-US" sz="1100" dirty="0"/>
          </a:p>
        </p:txBody>
      </p:sp>
      <p:sp>
        <p:nvSpPr>
          <p:cNvPr id="9" name="t35"/>
          <p:cNvSpPr txBox="1"/>
          <p:nvPr/>
        </p:nvSpPr>
        <p:spPr>
          <a:xfrm>
            <a:off x="548640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 Recognition</a:t>
            </a:r>
            <a:endParaRPr lang="en-US" sz="3600" dirty="0"/>
          </a:p>
        </p:txBody>
      </p:sp>
      <p:sp>
        <p:nvSpPr>
          <p:cNvPr id="10" name="t36"/>
          <p:cNvSpPr txBox="1"/>
          <p:nvPr/>
        </p:nvSpPr>
        <p:spPr>
          <a:xfrm>
            <a:off x="5486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Dog only: infer what it is doing from how its skeleton moves over time.</a:t>
            </a:r>
            <a:endParaRPr lang="en-US" sz="1400" dirty="0"/>
          </a:p>
        </p:txBody>
      </p:sp>
      <p:sp>
        <p:nvSpPr>
          <p:cNvPr id="11" name="l37"/>
          <p:cNvSpPr/>
          <p:nvPr/>
        </p:nvSpPr>
        <p:spPr>
          <a:xfrm>
            <a:off x="548640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38"/>
          <p:cNvSpPr txBox="1"/>
          <p:nvPr/>
        </p:nvSpPr>
        <p:spPr>
          <a:xfrm>
            <a:off x="548640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dog skeleton sequence T × 17 × 3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ST-GCN (LSTM baseline)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6 classes: stand/walk · sit · lie/sleep · eat/drink · play · other</a:t>
            </a:r>
            <a:endParaRPr lang="en-US" sz="1500" dirty="0"/>
          </a:p>
        </p:txBody>
      </p:sp>
      <p:sp>
        <p:nvSpPr>
          <p:cNvPr id="13" name="vrule"/>
          <p:cNvSpPr/>
          <p:nvPr/>
        </p:nvSpPr>
        <p:spPr>
          <a:xfrm>
            <a:off x="6095848" y="2880360"/>
            <a:ext cx="0" cy="301752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41"/>
          <p:cNvSpPr txBox="1"/>
          <p:nvPr/>
        </p:nvSpPr>
        <p:spPr>
          <a:xfrm>
            <a:off x="6553048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</a:t>
            </a:r>
            <a:endParaRPr lang="en-US" sz="1100" dirty="0"/>
          </a:p>
        </p:txBody>
      </p:sp>
      <p:sp>
        <p:nvSpPr>
          <p:cNvPr id="17" name="t42"/>
          <p:cNvSpPr txBox="1"/>
          <p:nvPr/>
        </p:nvSpPr>
        <p:spPr>
          <a:xfrm>
            <a:off x="6553048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3600" dirty="0"/>
          </a:p>
        </p:txBody>
      </p:sp>
      <p:sp>
        <p:nvSpPr>
          <p:cNvPr id="18" name="t43"/>
          <p:cNvSpPr txBox="1"/>
          <p:nvPr/>
        </p:nvSpPr>
        <p:spPr>
          <a:xfrm>
            <a:off x="6553048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together: motion + human–dog relation + sound.</a:t>
            </a:r>
            <a:endParaRPr lang="en-US" sz="1400" dirty="0"/>
          </a:p>
        </p:txBody>
      </p:sp>
      <p:sp>
        <p:nvSpPr>
          <p:cNvPr id="19" name="l44"/>
          <p:cNvSpPr/>
          <p:nvPr/>
        </p:nvSpPr>
        <p:spPr>
          <a:xfrm>
            <a:off x="6553048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45"/>
          <p:cNvSpPr txBox="1"/>
          <p:nvPr/>
        </p:nvSpPr>
        <p:spPr>
          <a:xfrm>
            <a:off x="6553048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human + dog skeletons + relation features (optional audio)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dual-stream ST-GCN, late fusion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4 classes: none · feeding · petting · playing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4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l4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4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Offline: dog pose AP-10K → APT-36K dogs → indoor data; human pose COCO-17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Online in 6 steps: video → detect/track → pose → skeleton graph → recognition → output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Tracking: RTMDet / YOLO + ByteTrack / BoT-SORT</a:t>
            </a:r>
            <a:endParaRPr lang="en-US" sz="1400" dirty="0"/>
          </a:p>
        </p:txBody>
      </p:sp>
      <p:pic>
        <p:nvPicPr>
          <p:cNvPr id="7" name="diagram-system-overview" descr="04-overall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5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Dual-species skeletons are the shared representation: pose estimation sees the joints, ST-GCN understands the motion.</a:t>
            </a:r>
            <a:endParaRPr lang="en-US" sz="1500" dirty="0"/>
          </a:p>
        </p:txBody>
      </p:sp>
      <p:sp>
        <p:nvSpPr>
          <p:cNvPr id="9" name="l5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5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11" name="t5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12" name="t5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Video in, JSON + timeline out</a:t>
            </a:r>
            <a:endParaRPr lang="en-US" sz="1100" dirty="0"/>
          </a:p>
        </p:txBody>
      </p:sp>
      <p:sp>
        <p:nvSpPr>
          <p:cNvPr id="13" name="l5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5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endParaRPr lang="en-US" sz="1000" dirty="0"/>
          </a:p>
        </p:txBody>
      </p:sp>
      <p:sp>
        <p:nvSpPr>
          <p:cNvPr id="15" name="t5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5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Task A behavior · Task B interaction</a:t>
            </a:r>
            <a:endParaRPr lang="en-US" sz="1100" dirty="0"/>
          </a:p>
        </p:txBody>
      </p:sp>
      <p:sp>
        <p:nvSpPr>
          <p:cNvPr id="17" name="l5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6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</a:t>
            </a:r>
            <a:endParaRPr lang="en-US" sz="1000" dirty="0"/>
          </a:p>
        </p:txBody>
      </p:sp>
      <p:sp>
        <p:nvSpPr>
          <p:cNvPr id="19" name="t6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6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 / PCK · Acc / Macro-F1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6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4" name="t6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PREPARATION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Where the Data Comes From</a:t>
            </a:r>
            <a:endParaRPr lang="en-US" sz="2800" dirty="0"/>
          </a:p>
        </p:txBody>
      </p:sp>
      <p:sp>
        <p:nvSpPr>
          <p:cNvPr id="6" name="l6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① APT-36K: official split, dog samples only, no re-labeling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② Own videos: Group ID per dog + full video, split first, then sample frames and clips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Split first, sample later: one dog or video never spans train and test</a:t>
            </a:r>
            <a:endParaRPr lang="en-US" sz="1400" dirty="0"/>
          </a:p>
        </p:txBody>
      </p:sp>
      <p:pic>
        <p:nvPicPr>
          <p:cNvPr id="8" name="diagram-data-preparation" descr="05-data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6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AP-10K is RTMPose's pretraining set, so we don't train on it again; public dog pose data comes from APT-36K.</a:t>
            </a:r>
            <a:endParaRPr lang="en-US" sz="1500" dirty="0"/>
          </a:p>
        </p:txBody>
      </p:sp>
      <p:sp>
        <p:nvSpPr>
          <p:cNvPr id="10" name="l6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7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1000" dirty="0"/>
          </a:p>
        </p:txBody>
      </p:sp>
      <p:sp>
        <p:nvSpPr>
          <p:cNvPr id="12" name="t7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7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APT-36K dogs · indoor videos</a:t>
            </a:r>
            <a:endParaRPr lang="en-US" sz="1100" dirty="0"/>
          </a:p>
        </p:txBody>
      </p:sp>
      <p:sp>
        <p:nvSpPr>
          <p:cNvPr id="14" name="l7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7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LABELS</a:t>
            </a:r>
            <a:endParaRPr lang="en-US" sz="1000" dirty="0"/>
          </a:p>
        </p:txBody>
      </p:sp>
      <p:sp>
        <p:nvSpPr>
          <p:cNvPr id="16" name="t7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300–800</a:t>
            </a:r>
            <a:endParaRPr lang="en-US" sz="2400" dirty="0"/>
          </a:p>
        </p:txBody>
      </p:sp>
      <p:sp>
        <p:nvSpPr>
          <p:cNvPr id="17" name="t7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indoor images: dog box + 17 keypoints</a:t>
            </a:r>
            <a:endParaRPr lang="en-US" sz="1100" dirty="0"/>
          </a:p>
        </p:txBody>
      </p:sp>
      <p:sp>
        <p:nvSpPr>
          <p:cNvPr id="18" name="l7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7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1000" dirty="0"/>
          </a:p>
        </p:txBody>
      </p:sp>
      <p:sp>
        <p:nvSpPr>
          <p:cNvPr id="20" name="t7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8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Keypoints · clip labels · derived features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8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POSE ADAPTATION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Training Dog Pose</a:t>
            </a:r>
            <a:endParaRPr lang="en-US" sz="2800" dirty="0"/>
          </a:p>
        </p:txBody>
      </p:sp>
      <p:sp>
        <p:nvSpPr>
          <p:cNvPr id="5" name="l8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8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P0: official AP-10K RTMPose-M, tested as-is (baseline)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P1: fine-tune on the APT-36K dog subset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P2: keep fine-tuning on indoor data with a small learning rate</a:t>
            </a:r>
            <a:endParaRPr lang="en-US" sz="1400" dirty="0"/>
          </a:p>
        </p:txBody>
      </p:sp>
      <p:pic>
        <p:nvPicPr>
          <p:cNvPr id="7" name="diagram-dog-pose-stages" descr="06-dog-pose-stages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8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One shared test set. If P1 beats P0, dog specialization helps; if P2 beats P1, indoor adaptation helps.</a:t>
            </a:r>
            <a:endParaRPr lang="en-US" sz="1500" dirty="0"/>
          </a:p>
        </p:txBody>
      </p:sp>
      <p:sp>
        <p:nvSpPr>
          <p:cNvPr id="9" name="l8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8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</a:t>
            </a:r>
            <a:endParaRPr lang="en-US" sz="1000" dirty="0"/>
          </a:p>
        </p:txBody>
      </p:sp>
      <p:sp>
        <p:nvSpPr>
          <p:cNvPr id="11" name="t8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8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P0 → P1 → P2, stage by stage</a:t>
            </a:r>
            <a:endParaRPr lang="en-US" sz="1100" dirty="0"/>
          </a:p>
        </p:txBody>
      </p:sp>
      <p:sp>
        <p:nvSpPr>
          <p:cNvPr id="13" name="l9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9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1000" dirty="0"/>
          </a:p>
        </p:txBody>
      </p:sp>
      <p:sp>
        <p:nvSpPr>
          <p:cNvPr id="15" name="t9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</a:t>
            </a:r>
            <a:endParaRPr lang="en-US" sz="3200" dirty="0"/>
          </a:p>
        </p:txBody>
      </p:sp>
      <p:sp>
        <p:nvSpPr>
          <p:cNvPr id="16" name="t9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One held-out test set for all three</a:t>
            </a:r>
            <a:endParaRPr lang="en-US" sz="1100" dirty="0"/>
          </a:p>
        </p:txBody>
      </p:sp>
      <p:sp>
        <p:nvSpPr>
          <p:cNvPr id="17" name="l9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9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POSE METRICS</a:t>
            </a:r>
            <a:endParaRPr lang="en-US" sz="1000" dirty="0"/>
          </a:p>
        </p:txBody>
      </p:sp>
      <p:sp>
        <p:nvSpPr>
          <p:cNvPr id="19" name="t9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9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COCO AP · AP@0.5 · AP@0.75 · PCK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9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00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03 · POSE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Dual-Species Skeleton Extraction</a:t>
            </a:r>
            <a:endParaRPr lang="en-US" sz="2800" dirty="0"/>
          </a:p>
        </p:txBody>
      </p:sp>
      <p:sp>
        <p:nvSpPr>
          <p:cNvPr id="6" name="l101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02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branches share one design: affine crop → CSPNeXt-M → RTMCCHead → SimCC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Only input size differs (human 256×192, dog 256×256); no shared weights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Aligned across frames by track ID, then masked, interpolated and smoothed</a:t>
            </a:r>
            <a:endParaRPr lang="en-US" sz="1400" dirty="0"/>
          </a:p>
        </p:txBody>
      </p:sp>
      <p:pic>
        <p:nvPicPr>
          <p:cNvPr id="8" name="diagram-dual-species-pose" descr="07-rtmpose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9" name="t103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RTMCCHead = 7×7 conv + FC + GAU; SimCC turns coordinate regression into classification.</a:t>
            </a:r>
            <a:endParaRPr lang="en-US" sz="1500" dirty="0"/>
          </a:p>
        </p:txBody>
      </p:sp>
      <p:sp>
        <p:nvSpPr>
          <p:cNvPr id="10" name="l104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05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2" name="t106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768</a:t>
            </a:r>
            <a:endParaRPr lang="en-US" sz="3200" dirty="0"/>
          </a:p>
        </p:txBody>
      </p:sp>
      <p:sp>
        <p:nvSpPr>
          <p:cNvPr id="13" name="t107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CSPNeXt-M output channels</a:t>
            </a:r>
            <a:endParaRPr lang="en-US" sz="1100" dirty="0"/>
          </a:p>
        </p:txBody>
      </p:sp>
      <p:sp>
        <p:nvSpPr>
          <p:cNvPr id="14" name="l108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09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KEYPOINTS</a:t>
            </a:r>
            <a:endParaRPr lang="en-US" sz="1000" dirty="0"/>
          </a:p>
        </p:txBody>
      </p:sp>
      <p:sp>
        <p:nvSpPr>
          <p:cNvPr id="16" name="t110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17</a:t>
            </a:r>
            <a:endParaRPr lang="en-US" sz="3200" dirty="0"/>
          </a:p>
        </p:txBody>
      </p:sp>
      <p:sp>
        <p:nvSpPr>
          <p:cNvPr id="17" name="t111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COCO · dog AP-10K</a:t>
            </a:r>
            <a:endParaRPr lang="en-US" sz="1100" dirty="0"/>
          </a:p>
        </p:txBody>
      </p:sp>
      <p:sp>
        <p:nvSpPr>
          <p:cNvPr id="18" name="l112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13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000" dirty="0"/>
          </a:p>
        </p:txBody>
      </p:sp>
      <p:sp>
        <p:nvSpPr>
          <p:cNvPr id="20" name="t114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2×T×17×3</a:t>
            </a:r>
            <a:endParaRPr lang="en-US" sz="2400" dirty="0"/>
          </a:p>
        </p:txBody>
      </p:sp>
      <p:sp>
        <p:nvSpPr>
          <p:cNvPr id="21" name="t115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2 streams · x, y, confidence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1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ST-GCN PRINCIPLE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Graph Convolution Works</a:t>
            </a:r>
            <a:endParaRPr lang="en-US" sz="2800" dirty="0"/>
          </a:p>
        </p:txBody>
      </p:sp>
      <p:sp>
        <p:nvSpPr>
          <p:cNvPr id="5" name="l11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Example: human right elbow and dog left elbow with their 1-hop neighbors (D = 1)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Uni-labeling: 1 group; distance: root / 1-hop, 2 groups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Spatial configuration: root, centripetal, centrifugal by distance to the center of gravity, 3 groups</a:t>
            </a:r>
            <a:endParaRPr lang="en-US" sz="1400" dirty="0"/>
          </a:p>
        </p:txBody>
      </p:sp>
      <p:pic>
        <p:nvPicPr>
          <p:cNvPr id="7" name="diagram-stgcn-partition" descr="08-partitio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8" name="t12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Both networks use spatial configuration partitioning: one adjacency matrix per group, A₀, A₁, A₂.</a:t>
            </a:r>
            <a:endParaRPr lang="en-US" sz="1500" dirty="0"/>
          </a:p>
        </p:txBody>
      </p:sp>
      <p:sp>
        <p:nvSpPr>
          <p:cNvPr id="9" name="l12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2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11" name="t12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12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Uni-label · distance · spatial</a:t>
            </a:r>
            <a:endParaRPr lang="en-US" sz="1100" dirty="0"/>
          </a:p>
        </p:txBody>
      </p:sp>
      <p:sp>
        <p:nvSpPr>
          <p:cNvPr id="13" name="l12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2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</a:t>
            </a:r>
            <a:endParaRPr lang="en-US" sz="1000" dirty="0"/>
          </a:p>
        </p:txBody>
      </p:sp>
      <p:sp>
        <p:nvSpPr>
          <p:cNvPr id="15" name="t12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 = 1</a:t>
            </a:r>
            <a:endParaRPr lang="en-US" sz="3200" dirty="0"/>
          </a:p>
        </p:txBody>
      </p:sp>
      <p:sp>
        <p:nvSpPr>
          <p:cNvPr id="16" name="t12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Root node and 1-hop neighbors</a:t>
            </a:r>
            <a:endParaRPr lang="en-US" sz="1100" dirty="0"/>
          </a:p>
        </p:txBody>
      </p:sp>
      <p:sp>
        <p:nvSpPr>
          <p:cNvPr id="17" name="l12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3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ADJACENCY</a:t>
            </a:r>
            <a:endParaRPr lang="en-US" sz="1000" dirty="0"/>
          </a:p>
        </p:txBody>
      </p:sp>
      <p:sp>
        <p:nvSpPr>
          <p:cNvPr id="19" name="t13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A₀ A₁ A₂</a:t>
            </a:r>
            <a:endParaRPr lang="en-US" sz="2400" dirty="0"/>
          </a:p>
        </p:txBody>
      </p:sp>
      <p:sp>
        <p:nvSpPr>
          <p:cNvPr id="20" name="t13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Spatial config., shared by Task A /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3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A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A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800" dirty="0"/>
          </a:p>
        </p:txBody>
      </p:sp>
      <p:sp>
        <p:nvSpPr>
          <p:cNvPr id="6" name="l13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3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Follows the original ST-GCN (Yan et al., AAAI 2018)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9 residual units in 3 stages: channels 64 → 128 → 256, time T → T/2 → T/4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Global average pooling → Linear + Softmax; baseline: LSTM</a:t>
            </a:r>
            <a:endParaRPr lang="en-US" sz="1400" dirty="0"/>
          </a:p>
        </p:txBody>
      </p:sp>
      <p:pic>
        <p:nvPicPr>
          <p:cNvPr id="8" name="diagram-task-a-stgcn" descr="09-task-a-stgc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13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Each unit: spatial graph conv (A₀–A₂), then 9×1 temporal conv, then residual add.</a:t>
            </a:r>
            <a:endParaRPr lang="en-US" sz="1500" dirty="0"/>
          </a:p>
        </p:txBody>
      </p:sp>
      <p:sp>
        <p:nvSpPr>
          <p:cNvPr id="10" name="l13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4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UNITS</a:t>
            </a:r>
            <a:endParaRPr lang="en-US" sz="1000" dirty="0"/>
          </a:p>
        </p:txBody>
      </p:sp>
      <p:sp>
        <p:nvSpPr>
          <p:cNvPr id="12" name="t14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9</a:t>
            </a:r>
            <a:endParaRPr lang="en-US" sz="3200" dirty="0"/>
          </a:p>
        </p:txBody>
      </p:sp>
      <p:sp>
        <p:nvSpPr>
          <p:cNvPr id="13" name="t14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stages × 3 units</a:t>
            </a:r>
            <a:endParaRPr lang="en-US" sz="1100" dirty="0"/>
          </a:p>
        </p:txBody>
      </p:sp>
      <p:sp>
        <p:nvSpPr>
          <p:cNvPr id="14" name="l14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4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000" dirty="0"/>
          </a:p>
        </p:txBody>
      </p:sp>
      <p:sp>
        <p:nvSpPr>
          <p:cNvPr id="16" name="t14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256-D</a:t>
            </a:r>
            <a:endParaRPr lang="en-US" sz="3200" dirty="0"/>
          </a:p>
        </p:txBody>
      </p:sp>
      <p:sp>
        <p:nvSpPr>
          <p:cNvPr id="17" name="t14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After global average pooling</a:t>
            </a:r>
            <a:endParaRPr lang="en-US" sz="1100" dirty="0"/>
          </a:p>
        </p:txBody>
      </p:sp>
      <p:sp>
        <p:nvSpPr>
          <p:cNvPr id="18" name="l14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4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20" name="t14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21" name="t15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Stand · sit · lie · eat · play · other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5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B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B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5" name="l15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5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skeletons each go through an ST-GCN → f_h and f_d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Plus relation features f_r (distance, velocity, orientation) and optional audio (YAMNet / MERT)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Concat + MLP at the end: late fusion</a:t>
            </a:r>
            <a:endParaRPr lang="en-US" sz="1400" dirty="0"/>
          </a:p>
        </p:txBody>
      </p:sp>
      <p:pic>
        <p:nvPicPr>
          <p:cNvPr id="7" name="diagram-task-b-dual-stream" descr="10-task-b-dual-stream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15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Late fusion keeps audio optional: with no or poor sound, the skeletons alone still give a prediction.</a:t>
            </a:r>
            <a:endParaRPr lang="en-US" sz="1500" dirty="0"/>
          </a:p>
        </p:txBody>
      </p:sp>
      <p:sp>
        <p:nvSpPr>
          <p:cNvPr id="9" name="l15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5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STREAMS</a:t>
            </a:r>
            <a:endParaRPr lang="en-US" sz="1000" dirty="0"/>
          </a:p>
        </p:txBody>
      </p:sp>
      <p:sp>
        <p:nvSpPr>
          <p:cNvPr id="11" name="t15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15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+ dog, one ST-GCN each</a:t>
            </a:r>
            <a:endParaRPr lang="en-US" sz="1100" dirty="0"/>
          </a:p>
        </p:txBody>
      </p:sp>
      <p:sp>
        <p:nvSpPr>
          <p:cNvPr id="13" name="l16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6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</a:t>
            </a:r>
            <a:endParaRPr lang="en-US" sz="1000" dirty="0"/>
          </a:p>
        </p:txBody>
      </p:sp>
      <p:sp>
        <p:nvSpPr>
          <p:cNvPr id="15" name="t16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16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Distance · velocity · orientation</a:t>
            </a:r>
            <a:endParaRPr lang="en-US" sz="1100" dirty="0"/>
          </a:p>
        </p:txBody>
      </p:sp>
      <p:sp>
        <p:nvSpPr>
          <p:cNvPr id="17" name="l16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6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19" name="t16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16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None · feeding · petting · play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EVALUATION</a:t>
            </a:r>
            <a:endParaRPr lang="en-US" sz="1000" dirty="0"/>
          </a:p>
        </p:txBody>
      </p:sp>
      <p:sp>
        <p:nvSpPr>
          <p:cNvPr id="3" name="t16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 PLAN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We Prove Each Step Works</a:t>
            </a:r>
            <a:endParaRPr lang="en-US" sz="4400" dirty="0"/>
          </a:p>
        </p:txBody>
      </p:sp>
      <p:sp>
        <p:nvSpPr>
          <p:cNvPr id="5" name="r170"/>
          <p:cNvSpPr/>
          <p:nvPr/>
        </p:nvSpPr>
        <p:spPr>
          <a:xfrm>
            <a:off x="548640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171"/>
          <p:cNvSpPr txBox="1"/>
          <p:nvPr/>
        </p:nvSpPr>
        <p:spPr>
          <a:xfrm>
            <a:off x="77724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POSE</a:t>
            </a:r>
            <a:endParaRPr lang="en-US" sz="1000" dirty="0"/>
          </a:p>
        </p:txBody>
      </p:sp>
      <p:sp>
        <p:nvSpPr>
          <p:cNvPr id="7" name="t172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Pose</a:t>
            </a:r>
            <a:endParaRPr lang="en-US" sz="2400" dirty="0"/>
          </a:p>
        </p:txBody>
      </p:sp>
      <p:sp>
        <p:nvSpPr>
          <p:cNvPr id="8" name="t173"/>
          <p:cNvSpPr txBox="1"/>
          <p:nvPr/>
        </p:nvSpPr>
        <p:spPr>
          <a:xfrm>
            <a:off x="77724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COCO AP · AP@0.5 · AP@0.75 · PCK</a:t>
            </a:r>
            <a:endParaRPr lang="en-US" sz="1200" dirty="0"/>
          </a:p>
        </p:txBody>
      </p:sp>
      <p:sp>
        <p:nvSpPr>
          <p:cNvPr id="9" name="t174"/>
          <p:cNvSpPr txBox="1"/>
          <p:nvPr/>
        </p:nvSpPr>
        <p:spPr>
          <a:xfrm>
            <a:off x="777240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P0 / P1 / P2 on the same test set, reported for head, forelimbs and hindlimbs.</a:t>
            </a:r>
            <a:endParaRPr lang="en-US" sz="1300" dirty="0"/>
          </a:p>
        </p:txBody>
      </p:sp>
      <p:sp>
        <p:nvSpPr>
          <p:cNvPr id="10" name="r175"/>
          <p:cNvSpPr/>
          <p:nvPr/>
        </p:nvSpPr>
        <p:spPr>
          <a:xfrm>
            <a:off x="3364992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176"/>
          <p:cNvSpPr txBox="1"/>
          <p:nvPr/>
        </p:nvSpPr>
        <p:spPr>
          <a:xfrm>
            <a:off x="3593592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TASK A</a:t>
            </a:r>
            <a:endParaRPr lang="en-US" sz="1000" dirty="0"/>
          </a:p>
        </p:txBody>
      </p:sp>
      <p:sp>
        <p:nvSpPr>
          <p:cNvPr id="12" name="t177"/>
          <p:cNvSpPr txBox="1"/>
          <p:nvPr/>
        </p:nvSpPr>
        <p:spPr>
          <a:xfrm>
            <a:off x="3593592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400" dirty="0"/>
          </a:p>
        </p:txBody>
      </p:sp>
      <p:sp>
        <p:nvSpPr>
          <p:cNvPr id="13" name="t178"/>
          <p:cNvSpPr txBox="1"/>
          <p:nvPr/>
        </p:nvSpPr>
        <p:spPr>
          <a:xfrm>
            <a:off x="359359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Accuracy · Macro-F1 · confusion matrix</a:t>
            </a:r>
            <a:endParaRPr lang="en-US" sz="1200" dirty="0"/>
          </a:p>
        </p:txBody>
      </p:sp>
      <p:sp>
        <p:nvSpPr>
          <p:cNvPr id="14" name="t179"/>
          <p:cNvSpPr txBox="1"/>
          <p:nvPr/>
        </p:nvSpPr>
        <p:spPr>
          <a:xfrm>
            <a:off x="3593592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LSTM vs ST-GCN; ablate confidence, missing-joint handling, skeleton augmentation.</a:t>
            </a:r>
            <a:endParaRPr lang="en-US" sz="1300" dirty="0"/>
          </a:p>
        </p:txBody>
      </p:sp>
      <p:sp>
        <p:nvSpPr>
          <p:cNvPr id="15" name="r180"/>
          <p:cNvSpPr/>
          <p:nvPr/>
        </p:nvSpPr>
        <p:spPr>
          <a:xfrm>
            <a:off x="6181344" y="2514600"/>
            <a:ext cx="2560320" cy="2697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181"/>
          <p:cNvSpPr txBox="1"/>
          <p:nvPr/>
        </p:nvSpPr>
        <p:spPr>
          <a:xfrm>
            <a:off x="6409944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TASK B</a:t>
            </a:r>
            <a:endParaRPr lang="en-US" sz="1000" dirty="0"/>
          </a:p>
        </p:txBody>
      </p:sp>
      <p:sp>
        <p:nvSpPr>
          <p:cNvPr id="17" name="t182"/>
          <p:cNvSpPr txBox="1"/>
          <p:nvPr/>
        </p:nvSpPr>
        <p:spPr>
          <a:xfrm>
            <a:off x="6409944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400" dirty="0"/>
          </a:p>
        </p:txBody>
      </p:sp>
      <p:sp>
        <p:nvSpPr>
          <p:cNvPr id="18" name="t183"/>
          <p:cNvSpPr txBox="1"/>
          <p:nvPr/>
        </p:nvSpPr>
        <p:spPr>
          <a:xfrm>
            <a:off x="6409944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Same metrics + ablations</a:t>
            </a:r>
            <a:endParaRPr lang="en-US" sz="1200" dirty="0"/>
          </a:p>
        </p:txBody>
      </p:sp>
      <p:sp>
        <p:nvSpPr>
          <p:cNvPr id="19" name="t184"/>
          <p:cNvSpPr txBox="1"/>
          <p:nvPr/>
        </p:nvSpPr>
        <p:spPr>
          <a:xfrm>
            <a:off x="6409944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Single vs dual stream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relation features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audio</a:t>
            </a:r>
            <a:endParaRPr lang="en-US" sz="1300" dirty="0"/>
          </a:p>
        </p:txBody>
      </p:sp>
      <p:sp>
        <p:nvSpPr>
          <p:cNvPr id="20" name="r185"/>
          <p:cNvSpPr/>
          <p:nvPr/>
        </p:nvSpPr>
        <p:spPr>
          <a:xfrm>
            <a:off x="8997696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186"/>
          <p:cNvSpPr txBox="1"/>
          <p:nvPr/>
        </p:nvSpPr>
        <p:spPr>
          <a:xfrm>
            <a:off x="9226296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SPLIT</a:t>
            </a:r>
            <a:endParaRPr lang="en-US" sz="1000" dirty="0"/>
          </a:p>
        </p:txBody>
      </p:sp>
      <p:sp>
        <p:nvSpPr>
          <p:cNvPr id="22" name="t187"/>
          <p:cNvSpPr txBox="1"/>
          <p:nvPr/>
        </p:nvSpPr>
        <p:spPr>
          <a:xfrm>
            <a:off x="9226296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Robustness</a:t>
            </a:r>
            <a:endParaRPr lang="en-US" sz="2400" dirty="0"/>
          </a:p>
        </p:txBody>
      </p:sp>
      <p:sp>
        <p:nvSpPr>
          <p:cNvPr id="23" name="t188"/>
          <p:cNvSpPr txBox="1"/>
          <p:nvPr/>
        </p:nvSpPr>
        <p:spPr>
          <a:xfrm>
            <a:off x="9226296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Unseen dogs and scenes</a:t>
            </a:r>
            <a:endParaRPr lang="en-US" sz="1200" dirty="0"/>
          </a:p>
        </p:txBody>
      </p:sp>
      <p:sp>
        <p:nvSpPr>
          <p:cNvPr id="24" name="t189"/>
          <p:cNvSpPr txBox="1"/>
          <p:nvPr/>
        </p:nvSpPr>
        <p:spPr>
          <a:xfrm>
            <a:off x="9226296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Split by dog + full video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Occlusion, missing joints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Multi-subject, no audio</a:t>
            </a:r>
            <a:endParaRPr lang="en-US" sz="1300" dirty="0"/>
          </a:p>
        </p:txBody>
      </p:sp>
      <p:sp>
        <p:nvSpPr>
          <p:cNvPr id="25" name="l190"/>
          <p:cNvSpPr/>
          <p:nvPr/>
        </p:nvSpPr>
        <p:spPr>
          <a:xfrm>
            <a:off x="548640" y="5669280"/>
            <a:ext cx="1109441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191"/>
          <p:cNvSpPr txBox="1"/>
          <p:nvPr/>
        </p:nvSpPr>
        <p:spPr>
          <a:xfrm>
            <a:off x="548640" y="58338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</a:t>
            </a:r>
            <a:endParaRPr lang="en-US" sz="1100" dirty="0"/>
          </a:p>
        </p:txBody>
      </p:sp>
      <p:sp>
        <p:nvSpPr>
          <p:cNvPr id="27" name="t192"/>
          <p:cNvSpPr txBox="1"/>
          <p:nvPr/>
        </p:nvSpPr>
        <p:spPr>
          <a:xfrm>
            <a:off x="1554480" y="58338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Val set for model selection only; test set used once at the end, the same one for every comparison.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193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194"/>
          <p:cNvSpPr txBox="1"/>
          <p:nvPr/>
        </p:nvSpPr>
        <p:spPr>
          <a:xfrm>
            <a:off x="548640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000" dirty="0"/>
          </a:p>
        </p:txBody>
      </p:sp>
      <p:sp>
        <p:nvSpPr>
          <p:cNvPr id="4" name="t195"/>
          <p:cNvSpPr txBox="1"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5" name="t196"/>
          <p:cNvSpPr txBox="1"/>
          <p:nvPr/>
        </p:nvSpPr>
        <p:spPr>
          <a:xfrm>
            <a:off x="54864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Q</a:t>
            </a:r>
            <a:r>
              <a:rPr lang="en-US" sz="11000" i="1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&amp;</a:t>
            </a: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</a:t>
            </a:r>
            <a:endParaRPr lang="en-US" sz="11000" dirty="0"/>
          </a:p>
        </p:txBody>
      </p:sp>
      <p:sp>
        <p:nvSpPr>
          <p:cNvPr id="7" name="l198"/>
          <p:cNvSpPr/>
          <p:nvPr/>
        </p:nvSpPr>
        <p:spPr>
          <a:xfrm>
            <a:off x="548640" y="5989320"/>
            <a:ext cx="4998568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199"/>
          <p:cNvSpPr txBox="1"/>
          <p:nvPr/>
        </p:nvSpPr>
        <p:spPr>
          <a:xfrm>
            <a:off x="548640" y="6126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 · ZHAO JIAYI · SUN WENJING</a:t>
            </a:r>
            <a:endParaRPr lang="en-US" sz="1000" dirty="0"/>
          </a:p>
        </p:txBody>
      </p:sp>
      <p:sp>
        <p:nvSpPr>
          <p:cNvPr id="9" name="t200"/>
          <p:cNvSpPr txBox="1"/>
          <p:nvPr/>
        </p:nvSpPr>
        <p:spPr>
          <a:xfrm>
            <a:off x="6644488" y="292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10" name="l201"/>
          <p:cNvSpPr/>
          <p:nvPr/>
        </p:nvSpPr>
        <p:spPr>
          <a:xfrm>
            <a:off x="6644488" y="173736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202"/>
          <p:cNvSpPr txBox="1"/>
          <p:nvPr/>
        </p:nvSpPr>
        <p:spPr>
          <a:xfrm>
            <a:off x="6644488" y="190195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203"/>
          <p:cNvSpPr txBox="1"/>
          <p:nvPr/>
        </p:nvSpPr>
        <p:spPr>
          <a:xfrm>
            <a:off x="7604608" y="192024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Skeletons link everything</a:t>
            </a:r>
            <a:endParaRPr lang="en-US" sz="2000" dirty="0"/>
          </a:p>
        </p:txBody>
      </p:sp>
      <p:sp>
        <p:nvSpPr>
          <p:cNvPr id="13" name="t204"/>
          <p:cNvSpPr txBox="1"/>
          <p:nvPr/>
        </p:nvSpPr>
        <p:spPr>
          <a:xfrm>
            <a:off x="7604608" y="235915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Pose estimation sees joints; ST-GCN understands motion over time.</a:t>
            </a:r>
            <a:endParaRPr lang="en-US" sz="1300" dirty="0"/>
          </a:p>
        </p:txBody>
      </p:sp>
      <p:sp>
        <p:nvSpPr>
          <p:cNvPr id="14" name="l205"/>
          <p:cNvSpPr/>
          <p:nvPr/>
        </p:nvSpPr>
        <p:spPr>
          <a:xfrm>
            <a:off x="6644488" y="297180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206"/>
          <p:cNvSpPr txBox="1"/>
          <p:nvPr/>
        </p:nvSpPr>
        <p:spPr>
          <a:xfrm>
            <a:off x="6644488" y="313639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207"/>
          <p:cNvSpPr txBox="1"/>
          <p:nvPr/>
        </p:nvSpPr>
        <p:spPr>
          <a:xfrm>
            <a:off x="7604608" y="3154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Every step is testable</a:t>
            </a:r>
            <a:endParaRPr lang="en-US" sz="2000" dirty="0"/>
          </a:p>
        </p:txBody>
      </p:sp>
      <p:sp>
        <p:nvSpPr>
          <p:cNvPr id="17" name="t208"/>
          <p:cNvSpPr txBox="1"/>
          <p:nvPr/>
        </p:nvSpPr>
        <p:spPr>
          <a:xfrm>
            <a:off x="7604608" y="359359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P0 → P1 → P2 and ablations answer "does it help?" one by one.</a:t>
            </a:r>
            <a:endParaRPr lang="en-US" sz="1300" dirty="0"/>
          </a:p>
        </p:txBody>
      </p:sp>
      <p:sp>
        <p:nvSpPr>
          <p:cNvPr id="18" name="l209"/>
          <p:cNvSpPr/>
          <p:nvPr/>
        </p:nvSpPr>
        <p:spPr>
          <a:xfrm>
            <a:off x="6644488" y="420624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210"/>
          <p:cNvSpPr txBox="1"/>
          <p:nvPr/>
        </p:nvSpPr>
        <p:spPr>
          <a:xfrm>
            <a:off x="6644488" y="437083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211"/>
          <p:cNvSpPr txBox="1"/>
          <p:nvPr/>
        </p:nvSpPr>
        <p:spPr>
          <a:xfrm>
            <a:off x="7604608" y="438912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Leak-free data split</a:t>
            </a:r>
            <a:endParaRPr lang="en-US" sz="2000" dirty="0"/>
          </a:p>
        </p:txBody>
      </p:sp>
      <p:sp>
        <p:nvSpPr>
          <p:cNvPr id="21" name="t212"/>
          <p:cNvSpPr txBox="1"/>
          <p:nvPr/>
        </p:nvSpPr>
        <p:spPr>
          <a:xfrm>
            <a:off x="7604608" y="482803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Grouped by dog and full video: we test on unseen dogs and scenes.</a:t>
            </a:r>
            <a:endParaRPr lang="en-US" sz="1300" dirty="0"/>
          </a:p>
        </p:txBody>
      </p:sp>
      <p:sp>
        <p:nvSpPr>
          <p:cNvPr id="22" name="l213"/>
          <p:cNvSpPr/>
          <p:nvPr/>
        </p:nvSpPr>
        <p:spPr>
          <a:xfrm>
            <a:off x="6644488" y="5440680"/>
            <a:ext cx="49985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214"/>
          <p:cNvSpPr txBox="1"/>
          <p:nvPr/>
        </p:nvSpPr>
        <p:spPr>
          <a:xfrm>
            <a:off x="6644488" y="612648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QUESTIONS WELCOME · 5 MIN Q&amp;A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 IKB">
  <a:themeElements>
    <a:clrScheme name="Swiss IKB">
      <a:dk1>
        <a:srgbClr val="0A0A0A"/>
      </a:dk1>
      <a:lt1>
        <a:srgbClr val="FFFFFF"/>
      </a:lt1>
      <a:dk2>
        <a:srgbClr val="525252"/>
      </a:dk2>
      <a:lt2>
        <a:srgbClr val="F0F0EE"/>
      </a:lt2>
      <a:accent1>
        <a:srgbClr val="002FA7"/>
      </a:accent1>
      <a:accent2>
        <a:srgbClr val="5B7BFF"/>
      </a:accent2>
      <a:accent3>
        <a:srgbClr val="737373"/>
      </a:accent3>
      <a:accent4>
        <a:srgbClr val="D4D4D2"/>
      </a:accent4>
      <a:accent5>
        <a:srgbClr val="E0E0E0"/>
      </a:accent5>
      <a:accent6>
        <a:srgbClr val="FAFAF8"/>
      </a:accent6>
      <a:hlink>
        <a:srgbClr val="002FA7"/>
      </a:hlink>
      <a:folHlink>
        <a:srgbClr val="5B7BFF"/>
      </a:folHlink>
    </a:clrScheme>
    <a:fontScheme name="Swiss IKB">
      <a:majorFont>
        <a:latin typeface="Microsoft YaHe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1272</Words>
  <Application>Microsoft Office PowerPoint</Application>
  <PresentationFormat>宽屏</PresentationFormat>
  <Paragraphs>218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Microsoft YaHei Light</vt:lpstr>
      <vt:lpstr>Arial</vt:lpstr>
      <vt:lpstr>Consolas</vt:lpstr>
      <vt:lpstr>Swiss IKB</vt:lpstr>
      <vt:lpstr>PowerPoint 演示文稿</vt:lpstr>
      <vt:lpstr>Pet Cameras See, but Don't Understand</vt:lpstr>
      <vt:lpstr>Make the Camera Understand the Dog</vt:lpstr>
      <vt:lpstr>System Architecture</vt:lpstr>
      <vt:lpstr>Where the Data Comes From</vt:lpstr>
      <vt:lpstr>Training Dog Pose</vt:lpstr>
      <vt:lpstr>Dual-Species Skeleton Extraction</vt:lpstr>
      <vt:lpstr>How Graph Convolution Works</vt:lpstr>
      <vt:lpstr>Task A Dog Behavior</vt:lpstr>
      <vt:lpstr>Task B Interaction</vt:lpstr>
      <vt:lpstr>How We Prove Each Step Works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Indoor Dog Behavior &amp; Human–Dog Interaction Recognition — Group 28 Proposal</dc:title>
  <dc:subject>PptxGenJS Presentation</dc:subject>
  <dc:creator>Group 28 · Zhao Jiayi · Sun Wenjing</dc:creator>
  <cp:lastModifiedBy>Sun Wenjing</cp:lastModifiedBy>
  <cp:revision>4</cp:revision>
  <dcterms:created xsi:type="dcterms:W3CDTF">2026-10-04T10:20:01Z</dcterms:created>
  <dcterms:modified xsi:type="dcterms:W3CDTF">2026-10-04T14:14:51Z</dcterms:modified>
</cp:coreProperties>
</file>